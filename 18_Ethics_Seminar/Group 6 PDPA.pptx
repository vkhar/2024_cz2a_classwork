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901F84-9E57-4F3E-A647-8D0F579B4132}">
  <a:tblStyle styleId="{63901F84-9E57-4F3E-A647-8D0F579B413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db7c441df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db7c441df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3db7c441d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3db7c441d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db7c441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db7c441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db7c441d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db7c441d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db7c441d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db7c441d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db7c441df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3db7c441df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db7c441df_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db7c441df_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3db7c441d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3db7c441d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db7c441df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3db7c441df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db7c441df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db7c441df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db7c441df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db7c441df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3db7c441d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3db7c441d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db7c441df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3db7c441df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db7c441df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3db7c441df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Personal Data Privacy Act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Shuban, Tianxiong, Yifan &amp; Aditya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solidFill>
                  <a:srgbClr val="12161B"/>
                </a:solidFill>
                <a:highlight>
                  <a:srgbClr val="FFFFFF"/>
                </a:highlight>
              </a:rPr>
              <a:t>What is data privacy and why is it necessary?</a:t>
            </a:r>
            <a:endParaRPr sz="2400"/>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62" name="Google Shape;62;p14"/>
          <p:cNvGraphicFramePr/>
          <p:nvPr/>
        </p:nvGraphicFramePr>
        <p:xfrm>
          <a:off x="952500" y="1152475"/>
          <a:ext cx="3000000" cy="3000000"/>
        </p:xfrm>
        <a:graphic>
          <a:graphicData uri="http://schemas.openxmlformats.org/drawingml/2006/table">
            <a:tbl>
              <a:tblPr>
                <a:noFill/>
                <a:tableStyleId>{63901F84-9E57-4F3E-A647-8D0F579B4132}</a:tableStyleId>
              </a:tblPr>
              <a:tblGrid>
                <a:gridCol w="1809750"/>
                <a:gridCol w="1809750"/>
                <a:gridCol w="1809750"/>
                <a:gridCol w="1809750"/>
              </a:tblGrid>
              <a:tr h="670950">
                <a:tc>
                  <a:txBody>
                    <a:bodyPr/>
                    <a:lstStyle/>
                    <a:p>
                      <a:pPr indent="0" lvl="0" marL="0" rtl="0" algn="l">
                        <a:spcBef>
                          <a:spcPts val="0"/>
                        </a:spcBef>
                        <a:spcAft>
                          <a:spcPts val="0"/>
                        </a:spcAft>
                        <a:buNone/>
                      </a:pPr>
                      <a:r>
                        <a:rPr lang="en" sz="1200">
                          <a:solidFill>
                            <a:srgbClr val="FF0000"/>
                          </a:solidFill>
                          <a:latin typeface="Comic Sans MS"/>
                          <a:ea typeface="Comic Sans MS"/>
                          <a:cs typeface="Comic Sans MS"/>
                          <a:sym typeface="Comic Sans MS"/>
                        </a:rPr>
                        <a:t>Governs the collection, use and disclosure of personal data</a:t>
                      </a:r>
                      <a:endParaRPr sz="1200">
                        <a:solidFill>
                          <a:srgbClr val="FF0000"/>
                        </a:solidFill>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lang="en" sz="1200">
                          <a:solidFill>
                            <a:srgbClr val="FF0000"/>
                          </a:solidFill>
                          <a:latin typeface="Comic Sans MS"/>
                          <a:ea typeface="Comic Sans MS"/>
                          <a:cs typeface="Comic Sans MS"/>
                          <a:sym typeface="Comic Sans MS"/>
                        </a:rPr>
                        <a:t>Ensure Privacy and security of personal information</a:t>
                      </a:r>
                      <a:endParaRPr sz="1200">
                        <a:solidFill>
                          <a:srgbClr val="FF0000"/>
                        </a:solidFill>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lang="en" sz="1200">
                          <a:solidFill>
                            <a:srgbClr val="FF0000"/>
                          </a:solidFill>
                          <a:latin typeface="Comic Sans MS"/>
                          <a:ea typeface="Comic Sans MS"/>
                          <a:cs typeface="Comic Sans MS"/>
                          <a:sym typeface="Comic Sans MS"/>
                        </a:rPr>
                        <a:t>Requirement for data to only be accessed by authorised people</a:t>
                      </a:r>
                      <a:endParaRPr sz="1200">
                        <a:solidFill>
                          <a:srgbClr val="FF0000"/>
                        </a:solidFill>
                        <a:latin typeface="Comic Sans MS"/>
                        <a:ea typeface="Comic Sans MS"/>
                        <a:cs typeface="Comic Sans MS"/>
                        <a:sym typeface="Comic Sans MS"/>
                      </a:endParaRPr>
                    </a:p>
                  </a:txBody>
                  <a:tcPr marT="91425" marB="91425" marR="91425" marL="91425"/>
                </a:tc>
                <a:tc>
                  <a:txBody>
                    <a:bodyPr/>
                    <a:lstStyle/>
                    <a:p>
                      <a:pPr indent="0" lvl="0" marL="0" rtl="0" algn="l">
                        <a:spcBef>
                          <a:spcPts val="0"/>
                        </a:spcBef>
                        <a:spcAft>
                          <a:spcPts val="0"/>
                        </a:spcAft>
                        <a:buNone/>
                      </a:pPr>
                      <a:r>
                        <a:rPr lang="en" sz="1200">
                          <a:solidFill>
                            <a:srgbClr val="FF0000"/>
                          </a:solidFill>
                          <a:latin typeface="Comic Sans MS"/>
                          <a:ea typeface="Comic Sans MS"/>
                          <a:cs typeface="Comic Sans MS"/>
                          <a:sym typeface="Comic Sans MS"/>
                        </a:rPr>
                        <a:t>Malicious actors could impersonate you</a:t>
                      </a:r>
                      <a:endParaRPr sz="1200">
                        <a:solidFill>
                          <a:srgbClr val="FF0000"/>
                        </a:solidFill>
                        <a:latin typeface="Comic Sans MS"/>
                        <a:ea typeface="Comic Sans MS"/>
                        <a:cs typeface="Comic Sans MS"/>
                        <a:sym typeface="Comic Sans MS"/>
                      </a:endParaRPr>
                    </a:p>
                  </a:txBody>
                  <a:tcPr marT="91425" marB="91425" marR="91425" marL="91425"/>
                </a:tc>
              </a:tr>
              <a:tr h="2638275">
                <a:tc>
                  <a:txBody>
                    <a:bodyPr/>
                    <a:lstStyle/>
                    <a:p>
                      <a:pPr indent="0" lvl="0" marL="0" rtl="0" algn="l">
                        <a:spcBef>
                          <a:spcPts val="0"/>
                        </a:spcBef>
                        <a:spcAft>
                          <a:spcPts val="0"/>
                        </a:spcAft>
                        <a:buNone/>
                      </a:pPr>
                      <a:r>
                        <a:rPr lang="en" sz="1200"/>
                        <a:t>The PDPA regulates how organisations collect, use, and share personal data to ensure responsible handling. This prevents misuse and ensures individuals have control over how their information is used.</a:t>
                      </a:r>
                      <a:endParaRPr sz="1200"/>
                    </a:p>
                  </a:txBody>
                  <a:tcPr marT="91425" marB="91425" marR="91425" marL="91425"/>
                </a:tc>
                <a:tc>
                  <a:txBody>
                    <a:bodyPr/>
                    <a:lstStyle/>
                    <a:p>
                      <a:pPr indent="0" lvl="0" marL="0" rtl="0" algn="l">
                        <a:spcBef>
                          <a:spcPts val="0"/>
                        </a:spcBef>
                        <a:spcAft>
                          <a:spcPts val="0"/>
                        </a:spcAft>
                        <a:buNone/>
                      </a:pPr>
                      <a:r>
                        <a:rPr lang="en" sz="1200"/>
                        <a:t>The law protects individuals’ personal details from being accessed or shared without consent. This reduces risks such as identity theft, fraud, and unauthorised tracking of personal activities.</a:t>
                      </a:r>
                      <a:endParaRPr sz="1200"/>
                    </a:p>
                  </a:txBody>
                  <a:tcPr marT="91425" marB="91425" marR="91425" marL="91425"/>
                </a:tc>
                <a:tc>
                  <a:txBody>
                    <a:bodyPr/>
                    <a:lstStyle/>
                    <a:p>
                      <a:pPr indent="0" lvl="0" marL="0" rtl="0" algn="l">
                        <a:spcBef>
                          <a:spcPts val="0"/>
                        </a:spcBef>
                        <a:spcAft>
                          <a:spcPts val="0"/>
                        </a:spcAft>
                        <a:buNone/>
                      </a:pPr>
                      <a:r>
                        <a:rPr lang="en" sz="1200"/>
                        <a:t>PDPA mandates that only authorised personnel should handle personal data to prevent leaks or breaches. Access controls and security measures help keep sensitive information protected.</a:t>
                      </a:r>
                      <a:endParaRPr sz="1200"/>
                    </a:p>
                  </a:txBody>
                  <a:tcPr marT="91425" marB="91425" marR="91425" marL="91425"/>
                </a:tc>
                <a:tc>
                  <a:txBody>
                    <a:bodyPr/>
                    <a:lstStyle/>
                    <a:p>
                      <a:pPr indent="0" lvl="0" marL="0" rtl="0" algn="l">
                        <a:spcBef>
                          <a:spcPts val="0"/>
                        </a:spcBef>
                        <a:spcAft>
                          <a:spcPts val="0"/>
                        </a:spcAft>
                        <a:buNone/>
                      </a:pPr>
                      <a:r>
                        <a:rPr lang="en" sz="1200"/>
                        <a:t>If personal data is exposed, cybercriminals can misuse it to impersonate someone, commit fraud, or steal identities. Protecting personal information is crucial to preventing such risks.</a:t>
                      </a:r>
                      <a:endParaRPr sz="1200"/>
                    </a:p>
                  </a:txBody>
                  <a:tcPr marT="91425" marB="91425" marR="91425" marL="91425"/>
                </a:tc>
              </a:tr>
            </a:tbl>
          </a:graphicData>
        </a:graphic>
      </p:graphicFrame>
      <p:sp>
        <p:nvSpPr>
          <p:cNvPr id="63" name="Google Shape;63;p14"/>
          <p:cNvSpPr txBox="1"/>
          <p:nvPr/>
        </p:nvSpPr>
        <p:spPr>
          <a:xfrm>
            <a:off x="5187625" y="5113750"/>
            <a:ext cx="397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12161B"/>
                </a:solidFill>
                <a:highlight>
                  <a:srgbClr val="FFFFFF"/>
                </a:highlight>
              </a:rPr>
              <a:t>Examples of Personal Data</a:t>
            </a:r>
            <a:endParaRPr sz="2400"/>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Any information that identifies you as an individual such as;</a:t>
            </a:r>
            <a:endParaRPr>
              <a:solidFill>
                <a:schemeClr val="dk1"/>
              </a:solidFill>
            </a:endParaRPr>
          </a:p>
          <a:p>
            <a:pPr indent="-304800" lvl="0" marL="457200" rtl="0" algn="l">
              <a:spcBef>
                <a:spcPts val="1200"/>
              </a:spcBef>
              <a:spcAft>
                <a:spcPts val="0"/>
              </a:spcAft>
              <a:buClr>
                <a:schemeClr val="dk1"/>
              </a:buClr>
              <a:buSzPts val="1200"/>
              <a:buAutoNum type="arabicPeriod"/>
            </a:pPr>
            <a:r>
              <a:rPr lang="en" sz="1200">
                <a:solidFill>
                  <a:schemeClr val="dk1"/>
                </a:solidFill>
              </a:rPr>
              <a:t>Full name</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NRIC, or passport number</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Photograph or video image of an individual</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Mobile telephone number</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Personal email address</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Thumbprint</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Name and residential address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1200"/>
              </a:spcAft>
              <a:buClr>
                <a:schemeClr val="dk1"/>
              </a:buClr>
              <a:buSzPts val="1100"/>
              <a:buFont typeface="Arial"/>
              <a:buNone/>
            </a:pPr>
            <a:r>
              <a:rPr lang="en">
                <a:solidFill>
                  <a:schemeClr val="dk1"/>
                </a:solidFill>
              </a:rPr>
              <a:t>This also information that links the individual to organisations where their personal information can be accessed</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12161B"/>
                </a:solidFill>
                <a:highlight>
                  <a:srgbClr val="FFFFFF"/>
                </a:highlight>
              </a:rPr>
              <a:t>Is there a difference between data privacy and data security?</a:t>
            </a:r>
            <a:endParaRPr sz="2400"/>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Data security focuses on safeguarding data </a:t>
            </a:r>
            <a:r>
              <a:rPr lang="en">
                <a:solidFill>
                  <a:schemeClr val="dk1"/>
                </a:solidFill>
              </a:rPr>
              <a:t>from external threats. This protects the data from corruption, theft and destruction. Hence ensuring the confidentiality, integrity and availability of the data.</a:t>
            </a:r>
            <a:endParaRPr>
              <a:solidFill>
                <a:schemeClr val="dk1"/>
              </a:solidFill>
            </a:endParaRPr>
          </a:p>
          <a:p>
            <a:pPr indent="0" lvl="0" marL="0" rtl="0" algn="l">
              <a:spcBef>
                <a:spcPts val="1200"/>
              </a:spcBef>
              <a:spcAft>
                <a:spcPts val="0"/>
              </a:spcAft>
              <a:buNone/>
            </a:pPr>
            <a:r>
              <a:rPr lang="en">
                <a:solidFill>
                  <a:schemeClr val="dk1"/>
                </a:solidFill>
              </a:rPr>
              <a:t>Data privacy deals with how that data is handled, it starts before the data is collected and till it is deleted, returned or anonymized. Its key aspects are;</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Consent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Transparency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Purpose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Data minimisation</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12161B"/>
                </a:solidFill>
                <a:highlight>
                  <a:srgbClr val="FFFFFF"/>
                </a:highlight>
              </a:rPr>
              <a:t>What is the Personal Data Protection Act (PDPA)?</a:t>
            </a:r>
            <a:r>
              <a:rPr lang="en" sz="2400">
                <a:solidFill>
                  <a:srgbClr val="ECECEC"/>
                </a:solidFill>
              </a:rPr>
              <a:t>🤔🤔🤔</a:t>
            </a:r>
            <a:r>
              <a:rPr lang="en" sz="1200">
                <a:solidFill>
                  <a:srgbClr val="ECECEC"/>
                </a:solidFill>
                <a:highlight>
                  <a:srgbClr val="101218"/>
                </a:highlight>
              </a:rPr>
              <a:t> </a:t>
            </a:r>
            <a:endParaRPr sz="2400"/>
          </a:p>
        </p:txBody>
      </p:sp>
      <p:sp>
        <p:nvSpPr>
          <p:cNvPr id="81" name="Google Shape;81;p17"/>
          <p:cNvSpPr txBox="1"/>
          <p:nvPr>
            <p:ph idx="1" type="body"/>
          </p:nvPr>
        </p:nvSpPr>
        <p:spPr>
          <a:xfrm>
            <a:off x="206725" y="114292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1"/>
                </a:solidFill>
              </a:rPr>
              <a:t>A data protection law in Singapore that takes in to account:</a:t>
            </a:r>
            <a:endParaRPr>
              <a:solidFill>
                <a:schemeClr val="dk1"/>
              </a:solidFill>
            </a:endParaRPr>
          </a:p>
          <a:p>
            <a:pPr indent="-342900" lvl="0" marL="457200" rtl="0" algn="l">
              <a:spcBef>
                <a:spcPts val="1200"/>
              </a:spcBef>
              <a:spcAft>
                <a:spcPts val="0"/>
              </a:spcAft>
              <a:buClr>
                <a:schemeClr val="dk1"/>
              </a:buClr>
              <a:buSzPts val="1800"/>
              <a:buAutoNum type="arabicParenR"/>
            </a:pPr>
            <a:r>
              <a:rPr lang="en">
                <a:solidFill>
                  <a:schemeClr val="dk1"/>
                </a:solidFill>
              </a:rPr>
              <a:t>Consent - individuals need to agree to share the data</a:t>
            </a:r>
            <a:endParaRPr>
              <a:solidFill>
                <a:schemeClr val="dk1"/>
              </a:solidFill>
            </a:endParaRPr>
          </a:p>
          <a:p>
            <a:pPr indent="-342900" lvl="0" marL="457200" rtl="0" algn="l">
              <a:spcBef>
                <a:spcPts val="0"/>
              </a:spcBef>
              <a:spcAft>
                <a:spcPts val="0"/>
              </a:spcAft>
              <a:buClr>
                <a:schemeClr val="dk1"/>
              </a:buClr>
              <a:buSzPts val="1800"/>
              <a:buAutoNum type="arabicParenR"/>
            </a:pPr>
            <a:r>
              <a:rPr lang="en">
                <a:solidFill>
                  <a:schemeClr val="dk1"/>
                </a:solidFill>
              </a:rPr>
              <a:t>Notification - individuals need to be informed why their data is being collected</a:t>
            </a:r>
            <a:endParaRPr>
              <a:solidFill>
                <a:schemeClr val="dk1"/>
              </a:solidFill>
            </a:endParaRPr>
          </a:p>
          <a:p>
            <a:pPr indent="-342900" lvl="0" marL="457200" rtl="0" algn="l">
              <a:spcBef>
                <a:spcPts val="0"/>
              </a:spcBef>
              <a:spcAft>
                <a:spcPts val="0"/>
              </a:spcAft>
              <a:buClr>
                <a:schemeClr val="dk1"/>
              </a:buClr>
              <a:buSzPts val="1800"/>
              <a:buAutoNum type="arabicParenR"/>
            </a:pPr>
            <a:r>
              <a:rPr lang="en">
                <a:solidFill>
                  <a:schemeClr val="dk1"/>
                </a:solidFill>
              </a:rPr>
              <a:t>Appropriateness - use of the data must be reasonable in the given circumstances</a:t>
            </a:r>
            <a:endParaRPr>
              <a:solidFill>
                <a:schemeClr val="dk1"/>
              </a:solidFill>
            </a:endParaRPr>
          </a:p>
          <a:p>
            <a:pPr indent="-342900" lvl="0" marL="457200" rtl="0" algn="l">
              <a:spcBef>
                <a:spcPts val="0"/>
              </a:spcBef>
              <a:spcAft>
                <a:spcPts val="0"/>
              </a:spcAft>
              <a:buClr>
                <a:schemeClr val="dk1"/>
              </a:buClr>
              <a:buSzPts val="1800"/>
              <a:buAutoNum type="arabicParenR"/>
            </a:pPr>
            <a:r>
              <a:rPr lang="en">
                <a:solidFill>
                  <a:schemeClr val="dk1"/>
                </a:solidFill>
              </a:rPr>
              <a:t>Accountability - organisations must be </a:t>
            </a:r>
            <a:r>
              <a:rPr lang="en">
                <a:solidFill>
                  <a:schemeClr val="dk1"/>
                </a:solidFill>
              </a:rPr>
              <a:t>able</a:t>
            </a:r>
            <a:r>
              <a:rPr lang="en">
                <a:solidFill>
                  <a:schemeClr val="dk1"/>
                </a:solidFill>
              </a:rPr>
              <a:t> to provide their personal data collection policies on request, as well as the contact information of the people who can answer questions regarding use,collection or disclosure of personal data.</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00"/>
              <a:t>Case Study 2a: PDPA</a:t>
            </a:r>
            <a:endParaRPr sz="2400"/>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100"/>
              </a:spcBef>
              <a:spcAft>
                <a:spcPts val="0"/>
              </a:spcAft>
              <a:buClr>
                <a:schemeClr val="dk1"/>
              </a:buClr>
              <a:buSzPts val="1100"/>
              <a:buFont typeface="Arial"/>
              <a:buNone/>
            </a:pPr>
            <a:r>
              <a:rPr lang="en">
                <a:solidFill>
                  <a:schemeClr val="dk1"/>
                </a:solidFill>
              </a:rPr>
              <a:t>A pre-school organized a school trip for interested </a:t>
            </a:r>
            <a:r>
              <a:rPr lang="en">
                <a:solidFill>
                  <a:schemeClr val="dk1"/>
                </a:solidFill>
              </a:rPr>
              <a:t>preschool</a:t>
            </a:r>
            <a:r>
              <a:rPr lang="en">
                <a:solidFill>
                  <a:schemeClr val="dk1"/>
                </a:solidFill>
              </a:rPr>
              <a:t> students and their parents. To verify that only authorized parents turned up for the school trip, the pre-school teacher collected the parent’s personal data (like identity card numbers).</a:t>
            </a:r>
            <a:endParaRPr>
              <a:solidFill>
                <a:schemeClr val="dk1"/>
              </a:solidFill>
            </a:endParaRPr>
          </a:p>
          <a:p>
            <a:pPr indent="0" lvl="0" marL="0" rtl="0" algn="l">
              <a:spcBef>
                <a:spcPts val="1100"/>
              </a:spcBef>
              <a:spcAft>
                <a:spcPts val="0"/>
              </a:spcAft>
              <a:buClr>
                <a:schemeClr val="dk1"/>
              </a:buClr>
              <a:buSzPts val="1100"/>
              <a:buFont typeface="Arial"/>
              <a:buNone/>
            </a:pPr>
            <a:r>
              <a:rPr lang="en">
                <a:solidFill>
                  <a:schemeClr val="dk1"/>
                </a:solidFill>
              </a:rPr>
              <a:t>A few days before the school trip, the teacher sent a photograph of the consolidated name list to the parent’s WhatsApp chat group to remind those who signed up about the school trip. The photograph contained a table which included the names of the students, with the contact number and identity card numbers of the parents attending.</a:t>
            </a:r>
            <a:endParaRPr>
              <a:solidFill>
                <a:schemeClr val="dk1"/>
              </a:solidFill>
            </a:endParaRPr>
          </a:p>
          <a:p>
            <a:pPr indent="0" lvl="0" marL="0" rtl="0" algn="l">
              <a:spcBef>
                <a:spcPts val="11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nvSpPr>
        <p:spPr>
          <a:xfrm>
            <a:off x="599250" y="311900"/>
            <a:ext cx="7945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12161B"/>
                </a:solidFill>
                <a:highlight>
                  <a:srgbClr val="FFFFFF"/>
                </a:highlight>
              </a:rPr>
              <a:t>Question:  </a:t>
            </a:r>
            <a:r>
              <a:rPr b="1" lang="en" sz="1800">
                <a:solidFill>
                  <a:srgbClr val="12161B"/>
                </a:solidFill>
                <a:highlight>
                  <a:srgbClr val="FFFFFF"/>
                </a:highlight>
              </a:rPr>
              <a:t>Was the Personal Data Protection Act (PDPA) breached? If yes, in what ways? If no, why?</a:t>
            </a:r>
            <a:endParaRPr b="1" sz="1800">
              <a:solidFill>
                <a:srgbClr val="12161B"/>
              </a:solidFill>
              <a:highlight>
                <a:srgbClr val="FFFFFF"/>
              </a:highlight>
            </a:endParaRPr>
          </a:p>
        </p:txBody>
      </p:sp>
      <p:sp>
        <p:nvSpPr>
          <p:cNvPr id="93" name="Google Shape;93;p19"/>
          <p:cNvSpPr txBox="1"/>
          <p:nvPr/>
        </p:nvSpPr>
        <p:spPr>
          <a:xfrm>
            <a:off x="562300" y="1132875"/>
            <a:ext cx="8101500" cy="2017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1500">
                <a:solidFill>
                  <a:schemeClr val="dk1"/>
                </a:solidFill>
              </a:rPr>
              <a:t>Yes, the PDPA was breached because the teacher shared sensitive personal data (identity card numbers and contact details) in a WhatsApp group without obtaining explicit consent from the parents. This unnecessary disclosure of personal information increases the risk of misuse, identity theft, and privacy violations.</a:t>
            </a:r>
            <a:endParaRPr sz="15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2"/>
              </a:solidFill>
            </a:endParaRPr>
          </a:p>
        </p:txBody>
      </p:sp>
      <p:sp>
        <p:nvSpPr>
          <p:cNvPr id="94" name="Google Shape;94;p19"/>
          <p:cNvSpPr txBox="1"/>
          <p:nvPr/>
        </p:nvSpPr>
        <p:spPr>
          <a:xfrm>
            <a:off x="599250" y="2820050"/>
            <a:ext cx="7945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12161B"/>
                </a:solidFill>
                <a:highlight>
                  <a:srgbClr val="FFFFFF"/>
                </a:highlight>
              </a:rPr>
              <a:t>Question:  </a:t>
            </a:r>
            <a:r>
              <a:rPr b="1" lang="en" sz="1800">
                <a:solidFill>
                  <a:srgbClr val="12161B"/>
                </a:solidFill>
                <a:highlight>
                  <a:srgbClr val="FFFFFF"/>
                </a:highlight>
              </a:rPr>
              <a:t>Give examples of the personal data obtained by the teacher.</a:t>
            </a:r>
            <a:endParaRPr b="1" sz="1800">
              <a:solidFill>
                <a:srgbClr val="12161B"/>
              </a:solidFill>
              <a:highlight>
                <a:srgbClr val="FFFFFF"/>
              </a:highlight>
            </a:endParaRPr>
          </a:p>
        </p:txBody>
      </p:sp>
      <p:sp>
        <p:nvSpPr>
          <p:cNvPr id="95" name="Google Shape;95;p19"/>
          <p:cNvSpPr txBox="1"/>
          <p:nvPr/>
        </p:nvSpPr>
        <p:spPr>
          <a:xfrm>
            <a:off x="562300" y="3391200"/>
            <a:ext cx="8101500" cy="1752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1500">
                <a:solidFill>
                  <a:schemeClr val="dk1"/>
                </a:solidFill>
              </a:rPr>
              <a:t>The teacher collected personal data, including parents' identity card (IC) numbers, names, and contact numbers. These details are considered sensitive under the PDPA and require secure handling to prevent unauthorised access or misuse.</a:t>
            </a:r>
            <a:endParaRPr sz="15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nvSpPr>
        <p:spPr>
          <a:xfrm>
            <a:off x="599250" y="311900"/>
            <a:ext cx="7945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12161B"/>
                </a:solidFill>
                <a:highlight>
                  <a:srgbClr val="FFFFFF"/>
                </a:highlight>
              </a:rPr>
              <a:t>Question: </a:t>
            </a:r>
            <a:r>
              <a:rPr b="1" lang="en" sz="1800">
                <a:solidFill>
                  <a:srgbClr val="12161B"/>
                </a:solidFill>
                <a:highlight>
                  <a:srgbClr val="FFFFFF"/>
                </a:highlight>
              </a:rPr>
              <a:t>What precautions can the teacher take to prevent a similar incident from happening? </a:t>
            </a:r>
            <a:endParaRPr b="1" sz="1800">
              <a:solidFill>
                <a:srgbClr val="12161B"/>
              </a:solidFill>
              <a:highlight>
                <a:srgbClr val="FFFFFF"/>
              </a:highlight>
            </a:endParaRPr>
          </a:p>
        </p:txBody>
      </p:sp>
      <p:sp>
        <p:nvSpPr>
          <p:cNvPr id="101" name="Google Shape;101;p20"/>
          <p:cNvSpPr txBox="1"/>
          <p:nvPr/>
        </p:nvSpPr>
        <p:spPr>
          <a:xfrm>
            <a:off x="562300" y="1132875"/>
            <a:ext cx="8101500" cy="243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 sz="1500">
                <a:solidFill>
                  <a:schemeClr val="dk1"/>
                </a:solidFill>
              </a:rPr>
              <a:t>The teacher should avoid sharing personal data on unsecured platforms like WhatsApp and instead use password-protected documents or secured communication channels. Additionally, only essential details should be shared, and identity card numbers should be redacted or anonymised when possible.</a:t>
            </a:r>
            <a:endParaRPr sz="1500">
              <a:solidFill>
                <a:schemeClr val="dk1"/>
              </a:solidFill>
            </a:endParaRPr>
          </a:p>
          <a:p>
            <a:pPr indent="0" lvl="0" marL="0" rtl="0" algn="just">
              <a:lnSpc>
                <a:spcPct val="115000"/>
              </a:lnSpc>
              <a:spcBef>
                <a:spcPts val="1200"/>
              </a:spcBef>
              <a:spcAft>
                <a:spcPts val="0"/>
              </a:spcAft>
              <a:buNone/>
            </a:pPr>
            <a:r>
              <a:t/>
            </a:r>
            <a:endParaRPr sz="15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2"/>
              </a:solidFill>
            </a:endParaRPr>
          </a:p>
        </p:txBody>
      </p:sp>
      <p:sp>
        <p:nvSpPr>
          <p:cNvPr id="102" name="Google Shape;102;p20"/>
          <p:cNvSpPr txBox="1"/>
          <p:nvPr/>
        </p:nvSpPr>
        <p:spPr>
          <a:xfrm>
            <a:off x="599250" y="2820050"/>
            <a:ext cx="7945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12161B"/>
                </a:solidFill>
                <a:highlight>
                  <a:srgbClr val="FFFFFF"/>
                </a:highlight>
              </a:rPr>
              <a:t>Question:  </a:t>
            </a:r>
            <a:r>
              <a:rPr b="1" lang="en" sz="1800">
                <a:solidFill>
                  <a:srgbClr val="12161B"/>
                </a:solidFill>
                <a:highlight>
                  <a:srgbClr val="FFFFFF"/>
                </a:highlight>
              </a:rPr>
              <a:t>What should the teacher do to the personal data obtained after the school trip?</a:t>
            </a:r>
            <a:r>
              <a:rPr b="1" lang="en" sz="1800">
                <a:solidFill>
                  <a:srgbClr val="12161B"/>
                </a:solidFill>
              </a:rPr>
              <a:t> </a:t>
            </a:r>
            <a:endParaRPr b="1" sz="1800">
              <a:solidFill>
                <a:srgbClr val="12161B"/>
              </a:solidFill>
              <a:highlight>
                <a:srgbClr val="FFFFFF"/>
              </a:highlight>
            </a:endParaRPr>
          </a:p>
        </p:txBody>
      </p:sp>
      <p:sp>
        <p:nvSpPr>
          <p:cNvPr id="103" name="Google Shape;103;p20"/>
          <p:cNvSpPr txBox="1"/>
          <p:nvPr/>
        </p:nvSpPr>
        <p:spPr>
          <a:xfrm>
            <a:off x="562300" y="3652450"/>
            <a:ext cx="8101500" cy="1752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 sz="1500">
                <a:solidFill>
                  <a:schemeClr val="dk1"/>
                </a:solidFill>
              </a:rPr>
              <a:t>After the school trip, the teacher should securely dispose of or delete the collected personal data if it is no longer needed. If retention is necessary, it should be stored securely with restricted access, following PDPA guidelines on data protection and disposal.</a:t>
            </a:r>
            <a:endParaRPr sz="15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Internet Identity</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Clr>
                <a:schemeClr val="dk1"/>
              </a:buClr>
              <a:buSzPts val="2400"/>
              <a:buAutoNum type="arabicParenR"/>
            </a:pPr>
            <a:r>
              <a:rPr b="1" lang="en" sz="2400">
                <a:solidFill>
                  <a:schemeClr val="dk1"/>
                </a:solidFill>
              </a:rPr>
              <a:t>What is internet identity?</a:t>
            </a:r>
            <a:endParaRPr b="1" sz="2400">
              <a:solidFill>
                <a:schemeClr val="dk1"/>
              </a:solidFill>
            </a:endParaRPr>
          </a:p>
          <a:p>
            <a:pPr indent="-330200" lvl="1" marL="914400" rtl="0" algn="l">
              <a:spcBef>
                <a:spcPts val="0"/>
              </a:spcBef>
              <a:spcAft>
                <a:spcPts val="0"/>
              </a:spcAft>
              <a:buClr>
                <a:schemeClr val="dk1"/>
              </a:buClr>
              <a:buSzPts val="1600"/>
              <a:buAutoNum type="alphaLcParenR"/>
            </a:pPr>
            <a:r>
              <a:rPr lang="en" sz="1600">
                <a:solidFill>
                  <a:schemeClr val="dk1"/>
                </a:solidFill>
              </a:rPr>
              <a:t>Your digital presence and personal data shared online.</a:t>
            </a:r>
            <a:endParaRPr sz="1600">
              <a:solidFill>
                <a:schemeClr val="dk1"/>
              </a:solidFill>
            </a:endParaRPr>
          </a:p>
          <a:p>
            <a:pPr indent="-330200" lvl="1" marL="914400" rtl="0" algn="l">
              <a:spcBef>
                <a:spcPts val="0"/>
              </a:spcBef>
              <a:spcAft>
                <a:spcPts val="0"/>
              </a:spcAft>
              <a:buClr>
                <a:schemeClr val="dk1"/>
              </a:buClr>
              <a:buSzPts val="1600"/>
              <a:buAutoNum type="alphaLcParenR"/>
            </a:pPr>
            <a:r>
              <a:rPr lang="en" sz="1600">
                <a:solidFill>
                  <a:schemeClr val="dk1"/>
                </a:solidFill>
              </a:rPr>
              <a:t>Includes IP addresses, browsing history, cookies, and login credentials.</a:t>
            </a:r>
            <a:endParaRPr sz="1600">
              <a:solidFill>
                <a:schemeClr val="dk1"/>
              </a:solidFill>
            </a:endParaRPr>
          </a:p>
          <a:p>
            <a:pPr indent="0" lvl="0" marL="914400" rtl="0" algn="l">
              <a:spcBef>
                <a:spcPts val="1200"/>
              </a:spcBef>
              <a:spcAft>
                <a:spcPts val="0"/>
              </a:spcAft>
              <a:buNone/>
            </a:pPr>
            <a:r>
              <a:t/>
            </a:r>
            <a:endParaRPr sz="1100">
              <a:solidFill>
                <a:schemeClr val="dk1"/>
              </a:solidFill>
            </a:endParaRPr>
          </a:p>
          <a:p>
            <a:pPr indent="-387350" lvl="0" marL="457200" rtl="0" algn="l">
              <a:spcBef>
                <a:spcPts val="1200"/>
              </a:spcBef>
              <a:spcAft>
                <a:spcPts val="0"/>
              </a:spcAft>
              <a:buClr>
                <a:schemeClr val="dk1"/>
              </a:buClr>
              <a:buSzPts val="2500"/>
              <a:buAutoNum type="arabicParenR"/>
            </a:pPr>
            <a:r>
              <a:rPr b="1" lang="en" sz="2500">
                <a:solidFill>
                  <a:schemeClr val="dk1"/>
                </a:solidFill>
              </a:rPr>
              <a:t>How is your identity revealed online?</a:t>
            </a:r>
            <a:endParaRPr b="1" sz="2500">
              <a:solidFill>
                <a:schemeClr val="dk1"/>
              </a:solidFill>
            </a:endParaRPr>
          </a:p>
          <a:p>
            <a:pPr indent="-330200" lvl="1" marL="914400" rtl="0" algn="l">
              <a:spcBef>
                <a:spcPts val="0"/>
              </a:spcBef>
              <a:spcAft>
                <a:spcPts val="0"/>
              </a:spcAft>
              <a:buClr>
                <a:schemeClr val="dk1"/>
              </a:buClr>
              <a:buSzPts val="1600"/>
              <a:buAutoNum type="alphaLcParenR"/>
            </a:pPr>
            <a:r>
              <a:rPr lang="en" sz="1600">
                <a:solidFill>
                  <a:schemeClr val="dk1"/>
                </a:solidFill>
              </a:rPr>
              <a:t>Social media profiles</a:t>
            </a:r>
            <a:endParaRPr sz="1600">
              <a:solidFill>
                <a:schemeClr val="dk1"/>
              </a:solidFill>
            </a:endParaRPr>
          </a:p>
          <a:p>
            <a:pPr indent="-330200" lvl="1" marL="914400" rtl="0" algn="l">
              <a:spcBef>
                <a:spcPts val="0"/>
              </a:spcBef>
              <a:spcAft>
                <a:spcPts val="0"/>
              </a:spcAft>
              <a:buClr>
                <a:schemeClr val="dk1"/>
              </a:buClr>
              <a:buSzPts val="1600"/>
              <a:buAutoNum type="alphaLcParenR"/>
            </a:pPr>
            <a:r>
              <a:rPr lang="en" sz="1600">
                <a:solidFill>
                  <a:schemeClr val="dk1"/>
                </a:solidFill>
              </a:rPr>
              <a:t>Online forms and subscriptions</a:t>
            </a:r>
            <a:endParaRPr sz="1600">
              <a:solidFill>
                <a:schemeClr val="dk1"/>
              </a:solidFill>
            </a:endParaRPr>
          </a:p>
          <a:p>
            <a:pPr indent="-330200" lvl="1" marL="914400" rtl="0" algn="l">
              <a:spcBef>
                <a:spcPts val="0"/>
              </a:spcBef>
              <a:spcAft>
                <a:spcPts val="0"/>
              </a:spcAft>
              <a:buClr>
                <a:schemeClr val="dk1"/>
              </a:buClr>
              <a:buSzPts val="1600"/>
              <a:buAutoNum type="alphaLcParenR"/>
            </a:pPr>
            <a:r>
              <a:rPr lang="en" sz="1600">
                <a:solidFill>
                  <a:schemeClr val="dk1"/>
                </a:solidFill>
              </a:rPr>
              <a:t>Website tracking &amp; cookies</a:t>
            </a:r>
            <a:endParaRPr sz="1600">
              <a:solidFill>
                <a:schemeClr val="dk1"/>
              </a:solidFill>
            </a:endParaRPr>
          </a:p>
          <a:p>
            <a:pPr indent="-330200" lvl="1" marL="914400" rtl="0" algn="l">
              <a:spcBef>
                <a:spcPts val="0"/>
              </a:spcBef>
              <a:spcAft>
                <a:spcPts val="0"/>
              </a:spcAft>
              <a:buClr>
                <a:schemeClr val="dk1"/>
              </a:buClr>
              <a:buSzPts val="1600"/>
              <a:buAutoNum type="alphaLcParenR"/>
            </a:pPr>
            <a:r>
              <a:rPr lang="en" sz="1600">
                <a:solidFill>
                  <a:schemeClr val="dk1"/>
                </a:solidFill>
              </a:rPr>
              <a:t>Public databases</a:t>
            </a:r>
            <a:endParaRPr sz="1600">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400"/>
              <a:t>Case Study 2b: Internet Identity</a:t>
            </a:r>
            <a:endParaRPr b="1" sz="1050">
              <a:solidFill>
                <a:srgbClr val="12161B"/>
              </a:solidFill>
            </a:endParaRPr>
          </a:p>
          <a:p>
            <a:pPr indent="0" lvl="0" marL="0" rtl="0" algn="l">
              <a:spcBef>
                <a:spcPts val="0"/>
              </a:spcBef>
              <a:spcAft>
                <a:spcPts val="0"/>
              </a:spcAft>
              <a:buSzPts val="990"/>
              <a:buNone/>
            </a:pPr>
            <a:r>
              <a:t/>
            </a:r>
            <a:endParaRPr sz="2400"/>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100"/>
              </a:spcBef>
              <a:spcAft>
                <a:spcPts val="0"/>
              </a:spcAft>
              <a:buClr>
                <a:schemeClr val="dk1"/>
              </a:buClr>
              <a:buSzPts val="1100"/>
              <a:buFont typeface="Arial"/>
              <a:buNone/>
            </a:pPr>
            <a:r>
              <a:rPr lang="en">
                <a:solidFill>
                  <a:srgbClr val="12161B"/>
                </a:solidFill>
              </a:rPr>
              <a:t>When you are surfing and browsing the web, how is your identity revealed to the web site/applications ?</a:t>
            </a:r>
            <a:endParaRPr>
              <a:solidFill>
                <a:srgbClr val="12161B"/>
              </a:solidFill>
            </a:endParaRPr>
          </a:p>
          <a:p>
            <a:pPr indent="0" lvl="0" marL="0" rtl="0" algn="l">
              <a:spcBef>
                <a:spcPts val="1100"/>
              </a:spcBef>
              <a:spcAft>
                <a:spcPts val="0"/>
              </a:spcAft>
              <a:buClr>
                <a:schemeClr val="dk1"/>
              </a:buClr>
              <a:buSzPts val="1100"/>
              <a:buFont typeface="Arial"/>
              <a:buNone/>
            </a:pPr>
            <a:r>
              <a:rPr lang="en">
                <a:solidFill>
                  <a:srgbClr val="12161B"/>
                </a:solidFill>
              </a:rPr>
              <a:t>·    	Is there a breach in Personal Data Privacy ?</a:t>
            </a:r>
            <a:endParaRPr>
              <a:solidFill>
                <a:srgbClr val="12161B"/>
              </a:solidFill>
            </a:endParaRPr>
          </a:p>
          <a:p>
            <a:pPr indent="0" lvl="0" marL="0" rtl="0" algn="l">
              <a:spcBef>
                <a:spcPts val="1100"/>
              </a:spcBef>
              <a:spcAft>
                <a:spcPts val="0"/>
              </a:spcAft>
              <a:buClr>
                <a:schemeClr val="dk1"/>
              </a:buClr>
              <a:buSzPts val="1100"/>
              <a:buFont typeface="Arial"/>
              <a:buNone/>
            </a:pPr>
            <a:r>
              <a:rPr lang="en">
                <a:solidFill>
                  <a:srgbClr val="12161B"/>
                </a:solidFill>
              </a:rPr>
              <a:t>·    	How do you prevent or avoid this ?</a:t>
            </a:r>
            <a:endParaRPr/>
          </a:p>
          <a:p>
            <a:pPr indent="0" lvl="0" marL="0" rtl="0" algn="l">
              <a:spcBef>
                <a:spcPts val="11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nvSpPr>
        <p:spPr>
          <a:xfrm>
            <a:off x="1666200" y="311900"/>
            <a:ext cx="58116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12161B"/>
                </a:solidFill>
                <a:highlight>
                  <a:srgbClr val="FFFFFF"/>
                </a:highlight>
              </a:rPr>
              <a:t>Question:  How Your Identity is Revealed When Browsing the Web? </a:t>
            </a:r>
            <a:endParaRPr sz="2400">
              <a:solidFill>
                <a:srgbClr val="12161B"/>
              </a:solidFill>
              <a:highlight>
                <a:srgbClr val="FFFFFF"/>
              </a:highlight>
            </a:endParaRPr>
          </a:p>
        </p:txBody>
      </p:sp>
      <p:sp>
        <p:nvSpPr>
          <p:cNvPr id="121" name="Google Shape;121;p23"/>
          <p:cNvSpPr txBox="1"/>
          <p:nvPr/>
        </p:nvSpPr>
        <p:spPr>
          <a:xfrm>
            <a:off x="521250" y="1370775"/>
            <a:ext cx="8101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Answer: </a:t>
            </a:r>
            <a:r>
              <a:rPr lang="en">
                <a:solidFill>
                  <a:schemeClr val="dk1"/>
                </a:solidFill>
              </a:rPr>
              <a:t>When you visit websites or use applications, various data points about you are automatically collected. This includes your </a:t>
            </a:r>
            <a:endParaRPr>
              <a:solidFill>
                <a:schemeClr val="dk1"/>
              </a:solidFill>
            </a:endParaRPr>
          </a:p>
          <a:p>
            <a:pPr indent="0" lvl="0" marL="0" rtl="0" algn="l">
              <a:spcBef>
                <a:spcPts val="0"/>
              </a:spcBef>
              <a:spcAft>
                <a:spcPts val="0"/>
              </a:spcAft>
              <a:buNone/>
            </a:pPr>
            <a:r>
              <a:t/>
            </a:r>
            <a:endParaRPr b="1">
              <a:solidFill>
                <a:schemeClr val="dk1"/>
              </a:solidFill>
            </a:endParaRPr>
          </a:p>
          <a:p>
            <a:pPr indent="-317500" lvl="0" marL="457200" rtl="0" algn="l">
              <a:spcBef>
                <a:spcPts val="0"/>
              </a:spcBef>
              <a:spcAft>
                <a:spcPts val="0"/>
              </a:spcAft>
              <a:buClr>
                <a:schemeClr val="dk1"/>
              </a:buClr>
              <a:buSzPts val="1400"/>
              <a:buAutoNum type="arabicParenR"/>
            </a:pPr>
            <a:r>
              <a:rPr b="1" lang="en">
                <a:solidFill>
                  <a:schemeClr val="dk1"/>
                </a:solidFill>
              </a:rPr>
              <a:t>IP address</a:t>
            </a:r>
            <a:endParaRPr>
              <a:solidFill>
                <a:schemeClr val="dk1"/>
              </a:solidFill>
            </a:endParaRPr>
          </a:p>
          <a:p>
            <a:pPr indent="-317500" lvl="0" marL="457200" rtl="0" algn="l">
              <a:spcBef>
                <a:spcPts val="0"/>
              </a:spcBef>
              <a:spcAft>
                <a:spcPts val="0"/>
              </a:spcAft>
              <a:buClr>
                <a:schemeClr val="dk1"/>
              </a:buClr>
              <a:buSzPts val="1400"/>
              <a:buAutoNum type="arabicParenR"/>
            </a:pPr>
            <a:r>
              <a:rPr b="1" lang="en">
                <a:solidFill>
                  <a:schemeClr val="dk1"/>
                </a:solidFill>
              </a:rPr>
              <a:t>Device information</a:t>
            </a:r>
            <a:endParaRPr>
              <a:solidFill>
                <a:schemeClr val="dk1"/>
              </a:solidFill>
            </a:endParaRPr>
          </a:p>
          <a:p>
            <a:pPr indent="-317500" lvl="0" marL="457200" rtl="0" algn="l">
              <a:spcBef>
                <a:spcPts val="0"/>
              </a:spcBef>
              <a:spcAft>
                <a:spcPts val="0"/>
              </a:spcAft>
              <a:buClr>
                <a:schemeClr val="dk1"/>
              </a:buClr>
              <a:buSzPts val="1400"/>
              <a:buAutoNum type="arabicParenR"/>
            </a:pPr>
            <a:r>
              <a:rPr b="1" lang="en">
                <a:solidFill>
                  <a:schemeClr val="dk1"/>
                </a:solidFill>
              </a:rPr>
              <a:t>Location</a:t>
            </a:r>
            <a:endParaRPr>
              <a:solidFill>
                <a:schemeClr val="dk1"/>
              </a:solidFill>
            </a:endParaRPr>
          </a:p>
          <a:p>
            <a:pPr indent="-317500" lvl="0" marL="457200" rtl="0" algn="l">
              <a:spcBef>
                <a:spcPts val="0"/>
              </a:spcBef>
              <a:spcAft>
                <a:spcPts val="0"/>
              </a:spcAft>
              <a:buClr>
                <a:schemeClr val="dk1"/>
              </a:buClr>
              <a:buSzPts val="1400"/>
              <a:buAutoNum type="arabicParenR"/>
            </a:pPr>
            <a:r>
              <a:rPr b="1" lang="en">
                <a:solidFill>
                  <a:schemeClr val="dk1"/>
                </a:solidFill>
              </a:rPr>
              <a:t>Browsing history</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that track your online behaviour. Some websites may also request personal details like email addresses or social media logins, further revealing your identity. </a:t>
            </a:r>
            <a:r>
              <a:rPr lang="en">
                <a:solidFill>
                  <a:schemeClr val="dk1"/>
                </a:solidFill>
              </a:rPr>
              <a:t>This data can be used for personalised advertising, analytics, or even sold to third parties without your explicit approval.</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nvSpPr>
        <p:spPr>
          <a:xfrm>
            <a:off x="599250" y="311900"/>
            <a:ext cx="7945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12161B"/>
                </a:solidFill>
                <a:highlight>
                  <a:srgbClr val="FFFFFF"/>
                </a:highlight>
              </a:rPr>
              <a:t>Question:  Is there a breach in Personal Data Privacy ?</a:t>
            </a:r>
            <a:endParaRPr sz="2400">
              <a:solidFill>
                <a:srgbClr val="12161B"/>
              </a:solidFill>
              <a:highlight>
                <a:srgbClr val="FFFFFF"/>
              </a:highlight>
            </a:endParaRPr>
          </a:p>
        </p:txBody>
      </p:sp>
      <p:sp>
        <p:nvSpPr>
          <p:cNvPr id="127" name="Google Shape;127;p24"/>
          <p:cNvSpPr txBox="1"/>
          <p:nvPr/>
        </p:nvSpPr>
        <p:spPr>
          <a:xfrm>
            <a:off x="521250" y="984975"/>
            <a:ext cx="8101500" cy="3943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2400">
                <a:solidFill>
                  <a:schemeClr val="dk1"/>
                </a:solidFill>
              </a:rPr>
              <a:t>Answer:</a:t>
            </a:r>
            <a:r>
              <a:rPr b="1" lang="en" sz="2400">
                <a:solidFill>
                  <a:schemeClr val="dk1"/>
                </a:solidFill>
              </a:rPr>
              <a:t> Yes</a:t>
            </a:r>
            <a:endParaRPr b="1" sz="2400">
              <a:solidFill>
                <a:schemeClr val="dk1"/>
              </a:solidFill>
            </a:endParaRPr>
          </a:p>
          <a:p>
            <a:pPr indent="0" lvl="0" marL="0" rtl="0" algn="l">
              <a:lnSpc>
                <a:spcPct val="115000"/>
              </a:lnSpc>
              <a:spcBef>
                <a:spcPts val="1200"/>
              </a:spcBef>
              <a:spcAft>
                <a:spcPts val="0"/>
              </a:spcAft>
              <a:buNone/>
            </a:pPr>
            <a:r>
              <a:rPr lang="en" sz="1100">
                <a:solidFill>
                  <a:schemeClr val="dk1"/>
                </a:solidFill>
              </a:rPr>
              <a:t>A breach in personal data privacy occurs when </a:t>
            </a:r>
            <a:r>
              <a:rPr b="1" lang="en" sz="1100">
                <a:solidFill>
                  <a:schemeClr val="dk1"/>
                </a:solidFill>
              </a:rPr>
              <a:t>your personal information is collected, used, or shared without your knowledge or consent</a:t>
            </a:r>
            <a:r>
              <a:rPr lang="en" sz="1100">
                <a:solidFill>
                  <a:schemeClr val="dk1"/>
                </a:solidFill>
              </a:rPr>
              <a:t>.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In some cases, websites may store your personal data insecurely, making it vulnerable to hacking or leaks. If a website suffers a data breach, your personal details—such as email addresses, passwords, and payment information—could be exposed to malicious actors, leading to identity theft or fraud.</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Additionally, some online platforms may misuse your data by sharing it with advertisers or data brokers without proper security measures in place. Even when you accept terms and conditions, companies may still collect more data than necessary, potentially violating your privacy rights.</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In summary, while not every website or app breaches personal data privacy, many do so in subtle ways, making it essential for users to be cautious and take steps to protect their online identity.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How do we Prevent or Avoid This???</a:t>
            </a:r>
            <a:endParaRPr/>
          </a:p>
        </p:txBody>
      </p:sp>
      <p:sp>
        <p:nvSpPr>
          <p:cNvPr id="133" name="Google Shape;133;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There </a:t>
            </a:r>
            <a:r>
              <a:rPr lang="en" sz="1300"/>
              <a:t>are multiple ways that we can do to prevent out internet identity be stolen or misused. This includes :  </a:t>
            </a:r>
            <a:endParaRPr sz="1300"/>
          </a:p>
          <a:p>
            <a:pPr indent="-311150" lvl="0" marL="457200" rtl="0" algn="l">
              <a:spcBef>
                <a:spcPts val="1200"/>
              </a:spcBef>
              <a:spcAft>
                <a:spcPts val="0"/>
              </a:spcAft>
              <a:buSzPts val="1300"/>
              <a:buAutoNum type="arabicParenR"/>
            </a:pPr>
            <a:r>
              <a:rPr lang="en" sz="1100">
                <a:solidFill>
                  <a:schemeClr val="dk1"/>
                </a:solidFill>
              </a:rPr>
              <a:t>Use a VPN to hide your IP address and encrypt your internet activity.</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311150" lvl="0" marL="457200" rtl="0" algn="l">
              <a:spcBef>
                <a:spcPts val="0"/>
              </a:spcBef>
              <a:spcAft>
                <a:spcPts val="0"/>
              </a:spcAft>
              <a:buSzPts val="1300"/>
              <a:buAutoNum type="arabicParenR"/>
            </a:pPr>
            <a:r>
              <a:rPr lang="en" sz="1100">
                <a:solidFill>
                  <a:schemeClr val="dk1"/>
                </a:solidFill>
              </a:rPr>
              <a:t>Disable third-party cookies and regularly clear your browsing history.</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311150" lvl="0" marL="457200" rtl="0" algn="l">
              <a:spcBef>
                <a:spcPts val="0"/>
              </a:spcBef>
              <a:spcAft>
                <a:spcPts val="0"/>
              </a:spcAft>
              <a:buSzPts val="1300"/>
              <a:buAutoNum type="arabicParenR"/>
            </a:pPr>
            <a:r>
              <a:rPr lang="en" sz="1100">
                <a:solidFill>
                  <a:schemeClr val="dk1"/>
                </a:solidFill>
              </a:rPr>
              <a:t>Avoid sharing personal information on unsecured websites or suspicious applications.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311150" lvl="0" marL="457200" rtl="0" algn="l">
              <a:spcBef>
                <a:spcPts val="0"/>
              </a:spcBef>
              <a:spcAft>
                <a:spcPts val="0"/>
              </a:spcAft>
              <a:buSzPts val="1300"/>
              <a:buAutoNum type="arabicParenR"/>
            </a:pPr>
            <a:r>
              <a:rPr lang="en" sz="1100">
                <a:solidFill>
                  <a:schemeClr val="dk1"/>
                </a:solidFill>
              </a:rPr>
              <a:t>Enable privacy settings on web browsers and apps to limit tracking.</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311150" lvl="0" marL="457200" rtl="0" algn="l">
              <a:spcBef>
                <a:spcPts val="0"/>
              </a:spcBef>
              <a:spcAft>
                <a:spcPts val="0"/>
              </a:spcAft>
              <a:buSzPts val="1300"/>
              <a:buAutoNum type="arabicParenR"/>
            </a:pPr>
            <a:r>
              <a:rPr lang="en" sz="1100">
                <a:solidFill>
                  <a:schemeClr val="dk1"/>
                </a:solidFill>
              </a:rPr>
              <a:t>Use strong, unique passwords and enable two-factor authentication (2FA) for accounts.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300">
                <a:solidFill>
                  <a:schemeClr val="dk1"/>
                </a:solidFill>
              </a:rPr>
              <a:t>By following these measures, you can protect your online identity and reduce the risk of data breaches.</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Conclusion</a:t>
            </a:r>
            <a:endParaRPr/>
          </a:p>
        </p:txBody>
      </p:sp>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a:t>Key Takeaways:</a:t>
            </a:r>
            <a:endParaRPr/>
          </a:p>
          <a:p>
            <a:pPr indent="0" lvl="0" marL="0" rtl="0" algn="l">
              <a:spcBef>
                <a:spcPts val="1200"/>
              </a:spcBef>
              <a:spcAft>
                <a:spcPts val="0"/>
              </a:spcAft>
              <a:buNone/>
            </a:pPr>
            <a:r>
              <a:rPr lang="en"/>
              <a:t>- PDPA protects personal data and requires responsible handling.</a:t>
            </a:r>
            <a:endParaRPr/>
          </a:p>
          <a:p>
            <a:pPr indent="0" lvl="0" marL="0" rtl="0" algn="l">
              <a:spcBef>
                <a:spcPts val="1200"/>
              </a:spcBef>
              <a:spcAft>
                <a:spcPts val="0"/>
              </a:spcAft>
              <a:buNone/>
            </a:pPr>
            <a:r>
              <a:rPr lang="en"/>
              <a:t>- Sharing personal data without consent can lead to breaches.</a:t>
            </a:r>
            <a:endParaRPr/>
          </a:p>
          <a:p>
            <a:pPr indent="0" lvl="0" marL="0" rtl="0" algn="l">
              <a:spcBef>
                <a:spcPts val="1200"/>
              </a:spcBef>
              <a:spcAft>
                <a:spcPts val="0"/>
              </a:spcAft>
              <a:buNone/>
            </a:pPr>
            <a:r>
              <a:rPr lang="en"/>
              <a:t>- Internet identity should be safeguarded to prevent privacy violations.</a:t>
            </a:r>
            <a:endParaRPr/>
          </a:p>
          <a:p>
            <a:pPr indent="0" lvl="0" marL="457200" rtl="0" algn="l">
              <a:spcBef>
                <a:spcPts val="1200"/>
              </a:spcBef>
              <a:spcAft>
                <a:spcPts val="0"/>
              </a:spcAft>
              <a:buNone/>
            </a:pPr>
            <a:r>
              <a:t/>
            </a:r>
            <a:endParaRPr/>
          </a:p>
          <a:p>
            <a:pPr indent="0" lvl="0" marL="457200" rtl="0" algn="ctr">
              <a:spcBef>
                <a:spcPts val="1200"/>
              </a:spcBef>
              <a:spcAft>
                <a:spcPts val="0"/>
              </a:spcAft>
              <a:buNone/>
            </a:pPr>
            <a:r>
              <a:rPr lang="en" sz="2200" u="sng"/>
              <a:t>Final Thought: Always be mindful of how you share and protect your personal data, both offline and online.</a:t>
            </a:r>
            <a:endParaRPr sz="2200" u="sng"/>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52725" y="2285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rgbClr val="ECECEC"/>
                </a:solidFill>
              </a:rPr>
              <a:t>🤗</a:t>
            </a:r>
            <a:r>
              <a:rPr lang="en" sz="4800"/>
              <a:t>Thank You!</a:t>
            </a:r>
            <a:r>
              <a:rPr lang="en" sz="4800">
                <a:solidFill>
                  <a:srgbClr val="ECECEC"/>
                </a:solidFill>
              </a:rPr>
              <a:t>🤗</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