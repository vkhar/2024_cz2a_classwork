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Hind Vadodar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HindVadodara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HindVadodar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dacbc1926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dacbc192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f1858de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cf1858de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dacbc192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dacbc192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dacbc192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dacbc192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dacbc192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dacbc192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dacbc192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dacbc192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dacbc192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dacbc192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cf1858de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cf1858de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cf1858de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cf1858de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cf1858d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cf1858d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cf1858de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cf1858de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cf1858dea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cf1858de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cf1858dea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cf1858de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dacbc192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dacbc192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cf1858de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cf1858de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2.jpg"/><Relationship Id="rId5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2 (Krishna, Sanam, Ziheng)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8">
                <a:solidFill>
                  <a:schemeClr val="dk1"/>
                </a:solidFill>
              </a:rPr>
              <a:t>Topic 3A: Copyright</a:t>
            </a:r>
            <a:endParaRPr sz="3508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Scheme of Work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20000" y="1081375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Intellectual Property (Krishna)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20000" y="2453950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Copyright (Krishna)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20000" y="2888275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Introduction to (</a:t>
            </a:r>
            <a:r>
              <a:rPr lang="en" sz="1800">
                <a:solidFill>
                  <a:schemeClr val="dk1"/>
                </a:solidFill>
              </a:rPr>
              <a:t>Software)</a:t>
            </a:r>
            <a:r>
              <a:rPr lang="en" sz="1800">
                <a:solidFill>
                  <a:schemeClr val="dk1"/>
                </a:solidFill>
              </a:rPr>
              <a:t> Licences (Krishna)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949575" y="1480650"/>
            <a:ext cx="6511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·        What is a copyright ?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·        What does it protect ? What does it NOT protect ?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·        How can a copyrighted work be re-use ? Examples ?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·        What are the differences between copyright, patent and trademark?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20000" y="3317838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Case Study on AI doing work (Sanam)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20000" y="4108325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Summary (Ziheng)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10425" y="4570025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Q&amp;A (All)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20000" y="3729150"/>
            <a:ext cx="766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Scenarios of the case study (Sanam)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Intellectual Property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474775" y="1169200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concept: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5" y="1574375"/>
            <a:ext cx="3065227" cy="315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475" y="1574375"/>
            <a:ext cx="2967599" cy="31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Intellectual Property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565225" y="1123975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words: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027100" y="2234525"/>
            <a:ext cx="5089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00"/>
                </a:solidFill>
              </a:rPr>
              <a:t>Creations of the mind that have value but can exist purely as data with no physical form</a:t>
            </a:r>
            <a:endParaRPr sz="200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r>
              <a:rPr lang="en"/>
              <a:t> and Licences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791300" y="1440500"/>
            <a:ext cx="2215800" cy="1831200"/>
          </a:xfrm>
          <a:prstGeom prst="homePlate">
            <a:avLst>
              <a:gd fmla="val 5000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Intellectual Property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2679150" y="1440500"/>
            <a:ext cx="2859900" cy="1831200"/>
          </a:xfrm>
          <a:prstGeom prst="chevron">
            <a:avLst>
              <a:gd fmla="val 50000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Copyright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539050" y="1440500"/>
            <a:ext cx="2694000" cy="1831200"/>
          </a:xfrm>
          <a:prstGeom prst="chevron">
            <a:avLst>
              <a:gd fmla="val 50000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1717"/>
                </a:solidFill>
              </a:rPr>
              <a:t>Licence</a:t>
            </a:r>
            <a:endParaRPr>
              <a:solidFill>
                <a:srgbClr val="171717"/>
              </a:solidFill>
            </a:endParaRPr>
          </a:p>
        </p:txBody>
      </p:sp>
      <p:cxnSp>
        <p:nvCxnSpPr>
          <p:cNvPr id="92" name="Google Shape;92;p17"/>
          <p:cNvCxnSpPr>
            <a:stCxn id="89" idx="2"/>
            <a:endCxn id="90" idx="2"/>
          </p:cNvCxnSpPr>
          <p:nvPr/>
        </p:nvCxnSpPr>
        <p:spPr>
          <a:xfrm flipH="1" rot="-5400000">
            <a:off x="2546000" y="2167100"/>
            <a:ext cx="600" cy="2209800"/>
          </a:xfrm>
          <a:prstGeom prst="curvedConnector3">
            <a:avLst>
              <a:gd fmla="val 1130625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7"/>
          <p:cNvSpPr txBox="1"/>
          <p:nvPr/>
        </p:nvSpPr>
        <p:spPr>
          <a:xfrm>
            <a:off x="339200" y="3950075"/>
            <a:ext cx="31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Declare and files legal rights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94" name="Google Shape;94;p17"/>
          <p:cNvCxnSpPr>
            <a:stCxn id="90" idx="2"/>
            <a:endCxn id="91" idx="2"/>
          </p:cNvCxnSpPr>
          <p:nvPr/>
        </p:nvCxnSpPr>
        <p:spPr>
          <a:xfrm flipH="1" rot="-5400000">
            <a:off x="5039550" y="1883450"/>
            <a:ext cx="600" cy="2777100"/>
          </a:xfrm>
          <a:prstGeom prst="curvedConnector3">
            <a:avLst>
              <a:gd fmla="val 10929583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7"/>
          <p:cNvSpPr txBox="1"/>
          <p:nvPr/>
        </p:nvSpPr>
        <p:spPr>
          <a:xfrm>
            <a:off x="4171325" y="3950075"/>
            <a:ext cx="483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Sets rules for use and distribution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97400" y="978800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concept: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Copyright and Licences</a:t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486100" y="1214425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words: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34800" y="1786800"/>
            <a:ext cx="3323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Copyright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The legal right of owners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to control the use and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distribution of their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intellectual property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4815675" y="1949200"/>
            <a:ext cx="434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Licence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Official description of activities that are authorised or forbidden by the owner of intellectual property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4940025" y="3633550"/>
            <a:ext cx="42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it’s like an instruction manual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(I’ll pick someone to give me an answer)</a:t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938275" y="1282250"/>
            <a:ext cx="651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Which</a:t>
            </a:r>
            <a:r>
              <a:rPr lang="en" sz="1800">
                <a:solidFill>
                  <a:schemeClr val="dk1"/>
                </a:solidFill>
              </a:rPr>
              <a:t> of these are subjected to copyright??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621725" y="2084850"/>
            <a:ext cx="5200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Nasi Lemak Recipe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Twinkle Twinkle Little Star (Nursery Rhyme)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>
                <a:solidFill>
                  <a:schemeClr val="dk1"/>
                </a:solidFill>
              </a:rPr>
              <a:t>Two Wheeled Bicycle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6227400" y="1648200"/>
            <a:ext cx="2916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ans: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AutoNum type="arabicPeriod"/>
            </a:pPr>
            <a:r>
              <a:rPr lang="en" sz="1800">
                <a:solidFill>
                  <a:srgbClr val="FFFF00"/>
                </a:solidFill>
              </a:rPr>
              <a:t>no</a:t>
            </a:r>
            <a:endParaRPr sz="1800"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AutoNum type="arabicPeriod"/>
            </a:pPr>
            <a:r>
              <a:rPr lang="en" sz="1800">
                <a:solidFill>
                  <a:srgbClr val="FFFF00"/>
                </a:solidFill>
              </a:rPr>
              <a:t>no</a:t>
            </a:r>
            <a:endParaRPr sz="1800"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AutoNum type="arabicPeriod"/>
            </a:pPr>
            <a:r>
              <a:rPr lang="en" sz="1800">
                <a:solidFill>
                  <a:srgbClr val="FFFF00"/>
                </a:solidFill>
              </a:rPr>
              <a:t>no</a:t>
            </a:r>
            <a:endParaRPr sz="18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Explanations for the answers to the </a:t>
            </a:r>
            <a:r>
              <a:rPr lang="en"/>
              <a:t>activity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AutoNum type="arabicPeriod"/>
            </a:pPr>
            <a:r>
              <a:rPr lang="en">
                <a:solidFill>
                  <a:srgbClr val="FFFF00"/>
                </a:solidFill>
              </a:rPr>
              <a:t>The recipe itself is not protected by copyright. It is </a:t>
            </a:r>
            <a:r>
              <a:rPr lang="en">
                <a:solidFill>
                  <a:srgbClr val="FFFF00"/>
                </a:solidFill>
              </a:rPr>
              <a:t>considered</a:t>
            </a:r>
            <a:r>
              <a:rPr lang="en">
                <a:solidFill>
                  <a:srgbClr val="FFFF00"/>
                </a:solidFill>
              </a:rPr>
              <a:t> common </a:t>
            </a:r>
            <a:r>
              <a:rPr lang="en">
                <a:solidFill>
                  <a:srgbClr val="FFFF00"/>
                </a:solidFill>
              </a:rPr>
              <a:t>knowledge</a:t>
            </a:r>
            <a:r>
              <a:rPr lang="en">
                <a:solidFill>
                  <a:srgbClr val="FFFF00"/>
                </a:solidFill>
              </a:rPr>
              <a:t> or public domain. But cookbooks or unique </a:t>
            </a:r>
            <a:r>
              <a:rPr lang="en">
                <a:solidFill>
                  <a:srgbClr val="FFFF00"/>
                </a:solidFill>
              </a:rPr>
              <a:t>illustrations</a:t>
            </a:r>
            <a:r>
              <a:rPr lang="en">
                <a:solidFill>
                  <a:srgbClr val="FFFF00"/>
                </a:solidFill>
              </a:rPr>
              <a:t> of the dish can be </a:t>
            </a:r>
            <a:r>
              <a:rPr lang="en">
                <a:solidFill>
                  <a:srgbClr val="FFFF00"/>
                </a:solidFill>
              </a:rPr>
              <a:t>copyright.</a:t>
            </a:r>
            <a:br>
              <a:rPr lang="en">
                <a:solidFill>
                  <a:srgbClr val="FFFF00"/>
                </a:solidFill>
              </a:rPr>
            </a:br>
            <a:endParaRPr>
              <a:solidFill>
                <a:srgbClr val="FFFF00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06950" y="2254375"/>
            <a:ext cx="811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2. The song comes from a poem written in 1806. Copyright lasts about the </a:t>
            </a:r>
            <a:r>
              <a:rPr lang="en" sz="1800">
                <a:solidFill>
                  <a:srgbClr val="FFFF00"/>
                </a:solidFill>
              </a:rPr>
              <a:t>author's</a:t>
            </a:r>
            <a:r>
              <a:rPr lang="en" sz="1800">
                <a:solidFill>
                  <a:srgbClr val="FFFF00"/>
                </a:solidFill>
              </a:rPr>
              <a:t> lifetime plus a set </a:t>
            </a:r>
            <a:r>
              <a:rPr lang="en" sz="1800">
                <a:solidFill>
                  <a:srgbClr val="FFFF00"/>
                </a:solidFill>
              </a:rPr>
              <a:t>number</a:t>
            </a:r>
            <a:r>
              <a:rPr lang="en" sz="1800">
                <a:solidFill>
                  <a:srgbClr val="FFFF00"/>
                </a:solidFill>
              </a:rPr>
              <a:t> of years (usually 70). The copyright of this has expired and is now </a:t>
            </a:r>
            <a:r>
              <a:rPr lang="en" sz="1800">
                <a:solidFill>
                  <a:srgbClr val="FFFF00"/>
                </a:solidFill>
              </a:rPr>
              <a:t>public domain.</a:t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542600" y="3746600"/>
            <a:ext cx="777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3. Copyright does not cover inventions, functional objects or mechanical designs, they are usually covered by </a:t>
            </a:r>
            <a:r>
              <a:rPr lang="en" sz="1800" u="sng">
                <a:solidFill>
                  <a:srgbClr val="FFFF00"/>
                </a:solidFill>
              </a:rPr>
              <a:t>patents</a:t>
            </a:r>
            <a:endParaRPr sz="1800" u="sng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patent?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813925" y="1327450"/>
            <a:ext cx="136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Copyright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CECEC"/>
                </a:solidFill>
                <a:highlight>
                  <a:srgbClr val="101218"/>
                </a:highlight>
              </a:rPr>
              <a:t>     ©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3531900" y="1372675"/>
            <a:ext cx="104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Patent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℗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6341775" y="1372675"/>
            <a:ext cx="156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Trademark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</a:t>
            </a:r>
            <a:r>
              <a:rPr lang="en" sz="2400">
                <a:solidFill>
                  <a:srgbClr val="ECECEC"/>
                </a:solidFill>
                <a:highlight>
                  <a:srgbClr val="101218"/>
                </a:highlight>
              </a:rPr>
              <a:t>™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HD wallpaper: idea light bulb, post, enlightenment, incidence ..."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925" y="2339625"/>
            <a:ext cx="1565250" cy="156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ch mechanism, gears, movement, gear, clock, mechanics ..."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5999" y="2251125"/>
            <a:ext cx="2479249" cy="165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Appl N Dark (3321980126).jpg - Wikimedia Commons" id="132" name="Google Shape;132;p21"/>
          <p:cNvPicPr preferRelativeResize="0"/>
          <p:nvPr/>
        </p:nvPicPr>
        <p:blipFill rotWithShape="1">
          <a:blip r:embed="rId5">
            <a:alphaModFix/>
          </a:blip>
          <a:srcRect b="31340" l="37001" r="41727" t="34146"/>
          <a:stretch/>
        </p:blipFill>
        <p:spPr>
          <a:xfrm>
            <a:off x="6341775" y="2339627"/>
            <a:ext cx="1447383" cy="156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8534825" y="44474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311700" y="910975"/>
            <a:ext cx="12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content: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</a:t>
            </a:r>
            <a:r>
              <a:rPr lang="en"/>
              <a:t>patent</a:t>
            </a: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361750" y="1017725"/>
            <a:ext cx="133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words: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214775" y="1892675"/>
            <a:ext cx="2509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legal right of owners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control the use and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distribution of their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intellectual property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210450" y="1892675"/>
            <a:ext cx="234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 patent can help you to protect your new product, process or technical improvement to existing technology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6266100" y="1971825"/>
            <a:ext cx="2566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 trademark can help you differentiate your products and services from others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Works generated by AI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8323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Problem</a:t>
            </a:r>
            <a:r>
              <a:rPr lang="en" sz="2500"/>
              <a:t>: When an AI </a:t>
            </a:r>
            <a:r>
              <a:rPr lang="en" sz="2500"/>
              <a:t>program</a:t>
            </a:r>
            <a:r>
              <a:rPr lang="en" sz="2500"/>
              <a:t> creates a piece of work, who is the copyright owner?</a:t>
            </a:r>
            <a:endParaRPr sz="2900"/>
          </a:p>
        </p:txBody>
      </p:sp>
      <p:sp>
        <p:nvSpPr>
          <p:cNvPr id="150" name="Google Shape;150;p23"/>
          <p:cNvSpPr txBox="1"/>
          <p:nvPr/>
        </p:nvSpPr>
        <p:spPr>
          <a:xfrm>
            <a:off x="311700" y="2571775"/>
            <a:ext cx="85206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accent6"/>
                </a:solidFill>
              </a:rPr>
              <a:t>Answer</a:t>
            </a:r>
            <a:r>
              <a:rPr lang="en" sz="2500">
                <a:solidFill>
                  <a:schemeClr val="lt2"/>
                </a:solidFill>
              </a:rPr>
              <a:t>: It depends on the way the work is generated (who contributed to the creation? How was the work created?)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1: The work is entirely generated by AI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According to the U.S. Copyright Office, </a:t>
            </a:r>
            <a:r>
              <a:rPr lang="en">
                <a:solidFill>
                  <a:schemeClr val="accent6"/>
                </a:solidFill>
              </a:rPr>
              <a:t>purely AI-generated</a:t>
            </a:r>
            <a:r>
              <a:rPr lang="en"/>
              <a:t> work </a:t>
            </a:r>
            <a:r>
              <a:rPr lang="en">
                <a:solidFill>
                  <a:schemeClr val="accent6"/>
                </a:solidFill>
              </a:rPr>
              <a:t>without human involvement</a:t>
            </a:r>
            <a:r>
              <a:rPr lang="en"/>
              <a:t> cannot be copyrighted.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“Authorship” is a term that involves </a:t>
            </a:r>
            <a:r>
              <a:rPr lang="en">
                <a:solidFill>
                  <a:schemeClr val="accent6"/>
                </a:solidFill>
              </a:rPr>
              <a:t>human creation</a:t>
            </a:r>
            <a:r>
              <a:rPr lang="en"/>
              <a:t>, however the </a:t>
            </a:r>
            <a:r>
              <a:rPr lang="en"/>
              <a:t>author</a:t>
            </a:r>
            <a:r>
              <a:rPr lang="en"/>
              <a:t> of this work is no human, so no one qualifies to be the author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2: A human specifies his prompt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510325"/>
            <a:ext cx="8520600" cy="30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Char char="-"/>
            </a:pPr>
            <a:r>
              <a:rPr lang="en" sz="1600">
                <a:solidFill>
                  <a:srgbClr val="D1D5DB"/>
                </a:solidFill>
                <a:highlight>
                  <a:srgbClr val="171717"/>
                </a:highlight>
              </a:rPr>
              <a:t>The U.S. Copyright Office explicitly states that works created by </a:t>
            </a:r>
            <a:r>
              <a:rPr lang="en" sz="1600">
                <a:solidFill>
                  <a:schemeClr val="accent6"/>
                </a:solidFill>
                <a:highlight>
                  <a:srgbClr val="171717"/>
                </a:highlight>
              </a:rPr>
              <a:t>non-human entities</a:t>
            </a:r>
            <a:r>
              <a:rPr lang="en" sz="1600">
                <a:solidFill>
                  <a:srgbClr val="D1D5DB"/>
                </a:solidFill>
                <a:highlight>
                  <a:srgbClr val="171717"/>
                </a:highlight>
              </a:rPr>
              <a:t> (e.g., animals, machines, or AI) are not eligible for copyright</a:t>
            </a:r>
            <a:endParaRPr sz="1600">
              <a:solidFill>
                <a:srgbClr val="D1D5DB"/>
              </a:solidFill>
              <a:highlight>
                <a:srgbClr val="171717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1D5DB"/>
              </a:solidFill>
              <a:highlight>
                <a:srgbClr val="171717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Char char="-"/>
            </a:pPr>
            <a:r>
              <a:rPr lang="en" sz="1600">
                <a:solidFill>
                  <a:srgbClr val="D1D5DB"/>
                </a:solidFill>
                <a:highlight>
                  <a:srgbClr val="171717"/>
                </a:highlight>
              </a:rPr>
              <a:t>If a </a:t>
            </a:r>
            <a:r>
              <a:rPr lang="en" sz="1600">
                <a:solidFill>
                  <a:schemeClr val="accent6"/>
                </a:solidFill>
                <a:highlight>
                  <a:srgbClr val="171717"/>
                </a:highlight>
              </a:rPr>
              <a:t>human influences the shape of the output</a:t>
            </a:r>
            <a:r>
              <a:rPr lang="en" sz="1600">
                <a:solidFill>
                  <a:srgbClr val="D1D5DB"/>
                </a:solidFill>
                <a:highlight>
                  <a:srgbClr val="171717"/>
                </a:highlight>
              </a:rPr>
              <a:t> reflecting original creative expression, the human is an author</a:t>
            </a:r>
            <a:endParaRPr sz="1600">
              <a:solidFill>
                <a:srgbClr val="D1D5DB"/>
              </a:solidFill>
              <a:highlight>
                <a:srgbClr val="171717"/>
              </a:highlight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311700" y="1017725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accent6"/>
                </a:solidFill>
              </a:rPr>
              <a:t>They may simply claim ownership of the generated work. Why?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90"/>
              <a:t>What have we gone through?</a:t>
            </a:r>
            <a:endParaRPr sz="3890"/>
          </a:p>
          <a:p>
            <a:pPr indent="-34593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3890"/>
              <a:t>Intellectual propert</a:t>
            </a:r>
            <a:r>
              <a:rPr lang="en" sz="3890"/>
              <a:t>y (Krishna)</a:t>
            </a:r>
            <a:endParaRPr sz="3890"/>
          </a:p>
          <a:p>
            <a:pPr indent="-34593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3890"/>
              <a:t>Copyright</a:t>
            </a:r>
            <a:r>
              <a:rPr lang="en" sz="3890"/>
              <a:t> (Krishna)</a:t>
            </a:r>
            <a:endParaRPr sz="389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890"/>
              <a:t>(I will elaborate more on the parts on what does Copyright protect)</a:t>
            </a:r>
            <a:endParaRPr sz="3890"/>
          </a:p>
          <a:p>
            <a:pPr indent="-34593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3890"/>
              <a:t>Case </a:t>
            </a:r>
            <a:r>
              <a:rPr lang="en" sz="3890"/>
              <a:t>study</a:t>
            </a:r>
            <a:r>
              <a:rPr lang="en" sz="3890"/>
              <a:t> on work done by AI (Sanam)</a:t>
            </a:r>
            <a:endParaRPr sz="3890"/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ct val="100000"/>
              <a:buChar char="-"/>
            </a:pPr>
            <a:r>
              <a:t/>
            </a:r>
            <a:endParaRPr sz="2500">
              <a:solidFill>
                <a:srgbClr val="171717"/>
              </a:solidFill>
            </a:endParaRPr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ct val="100000"/>
              <a:buChar char="-"/>
            </a:pPr>
            <a:r>
              <a:t/>
            </a:r>
            <a:endParaRPr sz="2500">
              <a:solidFill>
                <a:srgbClr val="171717"/>
              </a:solidFill>
            </a:endParaRPr>
          </a:p>
          <a:p>
            <a:pPr indent="-304006" lvl="0" marL="457200" rtl="0" algn="l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ct val="100000"/>
              <a:buChar char="-"/>
            </a:pPr>
            <a:r>
              <a:rPr lang="en" sz="2500">
                <a:solidFill>
                  <a:srgbClr val="171717"/>
                </a:solidFill>
              </a:rPr>
              <a:t>Case</a:t>
            </a:r>
            <a:endParaRPr sz="2500">
              <a:solidFill>
                <a:srgbClr val="17171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rgbClr val="17171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330000" y="1948525"/>
            <a:ext cx="15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20"/>
              <a:t>Q &amp; A</a:t>
            </a:r>
            <a:endParaRPr sz="38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247775"/>
            <a:ext cx="8520600" cy="43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accent6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accent6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accent6"/>
              </a:solidFill>
              <a:latin typeface="Hind Vadodara"/>
              <a:ea typeface="Hind Vadodara"/>
              <a:cs typeface="Hind Vadodara"/>
              <a:sym typeface="Hind Vadodara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800">
                <a:solidFill>
                  <a:schemeClr val="accent6"/>
                </a:solidFill>
                <a:latin typeface="Hind Vadodara"/>
                <a:ea typeface="Hind Vadodara"/>
                <a:cs typeface="Hind Vadodara"/>
                <a:sym typeface="Hind Vadodara"/>
              </a:rPr>
              <a:t>Thank You</a:t>
            </a:r>
            <a:endParaRPr b="1" sz="4800">
              <a:solidFill>
                <a:schemeClr val="accent6"/>
              </a:solidFill>
              <a:latin typeface="Hind Vadodara"/>
              <a:ea typeface="Hind Vadodara"/>
              <a:cs typeface="Hind Vadodara"/>
              <a:sym typeface="Hind Vadoda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