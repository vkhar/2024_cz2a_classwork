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y="6858000" cx="9144000"/>
  <p:notesSz cx="6858000" cy="9144000"/>
  <p:embeddedFontLst>
    <p:embeddedFont>
      <p:font typeface="Constantia"/>
      <p:regular r:id="rId47"/>
      <p:bold r:id="rId48"/>
      <p:italic r:id="rId49"/>
      <p:boldItalic r:id="rId50"/>
    </p:embeddedFont>
    <p:embeddedFont>
      <p:font typeface="Red Hat Display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jdlRkmgXHwt7HvdjEU15uw00gU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04DD31-C838-4D02-9379-6F1DF09AE4C2}">
  <a:tblStyle styleId="{3F04DD31-C838-4D02-9379-6F1DF09AE4C2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 b="off" i="off"/>
      <a:tcStyle>
        <a:fill>
          <a:solidFill>
            <a:srgbClr val="CA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4EA"/>
          </a:solidFill>
        </a:fill>
      </a:tcStyle>
    </a:band1V>
    <a:band2V>
      <a:tcTxStyle b="off" i="off"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B09DFD93-8279-4496-A1F7-696946C48545}" styleName="Table_1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 b="off" i="off"/>
    </a:neCell>
    <a:nwCell>
      <a:tcTxStyle b="off" i="off"/>
    </a:nwCell>
  </a:tblStyle>
  <a:tblStyle styleId="{C2DF91D5-C219-4DDE-BB16-4D2BC001E2DD}" styleName="Table_2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FF8"/>
          </a:solidFill>
        </a:fill>
      </a:tcStyle>
    </a:wholeTbl>
    <a:band1H>
      <a:tcTxStyle b="off" i="off"/>
      <a:tcStyle>
        <a:fill>
          <a:solidFill>
            <a:srgbClr val="CADEF1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EF1"/>
          </a:solidFill>
        </a:fill>
      </a:tcStyle>
    </a:band1V>
    <a:band2V>
      <a:tcTxStyle b="off" i="off"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  <a:tblStyle styleId="{09022F8C-F172-4872-825A-E92CF139EEE7}" styleName="Table_3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Constantia-bold.fntdata"/><Relationship Id="rId47" Type="http://schemas.openxmlformats.org/officeDocument/2006/relationships/font" Target="fonts/Constantia-regular.fntdata"/><Relationship Id="rId49" Type="http://schemas.openxmlformats.org/officeDocument/2006/relationships/font" Target="fonts/Constantia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edHatDisplay-regular.fntdata"/><Relationship Id="rId50" Type="http://schemas.openxmlformats.org/officeDocument/2006/relationships/font" Target="fonts/Constantia-boldItalic.fntdata"/><Relationship Id="rId53" Type="http://schemas.openxmlformats.org/officeDocument/2006/relationships/font" Target="fonts/RedHatDisplay-italic.fntdata"/><Relationship Id="rId52" Type="http://schemas.openxmlformats.org/officeDocument/2006/relationships/font" Target="fonts/RedHatDisplay-bold.fntdata"/><Relationship Id="rId11" Type="http://schemas.openxmlformats.org/officeDocument/2006/relationships/slide" Target="slides/slide4.xml"/><Relationship Id="rId55" Type="http://customschemas.google.com/relationships/presentationmetadata" Target="metadata"/><Relationship Id="rId10" Type="http://schemas.openxmlformats.org/officeDocument/2006/relationships/slide" Target="slides/slide3.xml"/><Relationship Id="rId54" Type="http://schemas.openxmlformats.org/officeDocument/2006/relationships/font" Target="fonts/RedHatDisplay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4" name="Google Shape;404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3" name="Google Shape;513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0" name="Google Shape;52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1" name="Google Shape;521;p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30" name="Google Shape;530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2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2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7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7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iagram or Organization Chart" type="dgm">
  <p:cSld name="DIAGRAM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4"/>
          <p:cNvSpPr txBox="1"/>
          <p:nvPr>
            <p:ph type="title"/>
          </p:nvPr>
        </p:nvSpPr>
        <p:spPr>
          <a:xfrm>
            <a:off x="457200" y="-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4"/>
          <p:cNvSpPr/>
          <p:nvPr>
            <p:ph idx="2" type="dgm"/>
          </p:nvPr>
        </p:nvSpPr>
        <p:spPr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49" name="Google Shape;49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8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58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1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1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6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9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59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59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0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1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1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61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2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8" name="Google Shape;98;p62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9" name="Google Shape;99;p62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2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2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62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62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137"/>
                </a:srgbClr>
              </a:gs>
              <a:gs pos="100000">
                <a:srgbClr val="00E9F7">
                  <a:alpha val="53333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6" name="Google Shape;106;p62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8235"/>
                </a:srgbClr>
              </a:gs>
              <a:gs pos="80000">
                <a:srgbClr val="0099E4">
                  <a:alpha val="43137"/>
                </a:srgbClr>
              </a:gs>
              <a:gs pos="100000">
                <a:srgbClr val="0099E4">
                  <a:alpha val="43137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63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4"/>
          <p:cNvSpPr txBox="1"/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64"/>
          <p:cNvSpPr txBox="1"/>
          <p:nvPr>
            <p:ph idx="1" type="body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3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0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137"/>
                </a:srgbClr>
              </a:gs>
              <a:gs pos="100000">
                <a:srgbClr val="00E9F7">
                  <a:alpha val="53333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" name="Google Shape;11;p50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8235"/>
                </a:srgbClr>
              </a:gs>
              <a:gs pos="80000">
                <a:srgbClr val="0099E4">
                  <a:alpha val="43137"/>
                </a:srgbClr>
              </a:gs>
              <a:gs pos="100000">
                <a:srgbClr val="0099E4">
                  <a:alpha val="43137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" name="Google Shape;12;p5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5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4" name="Google Shape;14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5" name="Google Shape;15;p5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6" name="Google Shape;16;p5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50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8" name="Google Shape;18;p50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" name="Google Shape;19;p50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9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137"/>
                </a:srgbClr>
              </a:gs>
              <a:gs pos="100000">
                <a:srgbClr val="00E9F7">
                  <a:alpha val="53333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4" name="Google Shape;34;p49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8235"/>
                </a:srgbClr>
              </a:gs>
              <a:gs pos="80000">
                <a:srgbClr val="0099E4">
                  <a:alpha val="43137"/>
                </a:srgbClr>
              </a:gs>
              <a:gs pos="100000">
                <a:srgbClr val="0099E4">
                  <a:alpha val="43137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5" name="Google Shape;35;p4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7" name="Google Shape;37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8" name="Google Shape;38;p4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9" name="Google Shape;39;p4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0" name="Google Shape;40;p49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41" name="Google Shape;41;p49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2" name="Google Shape;42;p49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1.jpg"/><Relationship Id="rId5" Type="http://schemas.openxmlformats.org/officeDocument/2006/relationships/image" Target="../media/image6.jpg"/><Relationship Id="rId6" Type="http://schemas.openxmlformats.org/officeDocument/2006/relationships/image" Target="../media/image24.jp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4.jpg"/><Relationship Id="rId5" Type="http://schemas.openxmlformats.org/officeDocument/2006/relationships/image" Target="../media/image8.jpg"/><Relationship Id="rId6" Type="http://schemas.openxmlformats.org/officeDocument/2006/relationships/image" Target="../media/image9.png"/><Relationship Id="rId7" Type="http://schemas.openxmlformats.org/officeDocument/2006/relationships/image" Target="../media/image2.jpg"/><Relationship Id="rId8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Relationship Id="rId4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ct val="100000"/>
              <a:buFont typeface="Calibri"/>
              <a:buNone/>
            </a:pPr>
            <a: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  <a:t>Database Management Systems</a:t>
            </a:r>
            <a:br>
              <a:rPr lang="en-US">
                <a:latin typeface="Red Hat Display"/>
                <a:ea typeface="Red Hat Display"/>
                <a:cs typeface="Red Hat Display"/>
                <a:sym typeface="Red Hat Display"/>
              </a:rPr>
            </a:b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Database</a:t>
            </a:r>
            <a:endParaRPr/>
          </a:p>
        </p:txBody>
      </p:sp>
      <p:sp>
        <p:nvSpPr>
          <p:cNvPr id="131" name="Google Shape;131;p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An organized collection of data in persistent storage.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Relational Data Model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ERD -&gt; Entities, Relationships, Cardinality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Normalisations -&gt; Relations(Tables), Attributes, Primary/Foreign Keys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Goals of Normalisation</a:t>
            </a:r>
            <a:endParaRPr/>
          </a:p>
          <a:p>
            <a:pPr indent="-246887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Avoid redundancy, </a:t>
            </a:r>
            <a:endParaRPr/>
          </a:p>
          <a:p>
            <a:pPr indent="-246887" lvl="2" marL="91440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Maintain consistency and accuracy of data</a:t>
            </a:r>
            <a:endParaRPr/>
          </a:p>
          <a:p>
            <a:pPr indent="0" lvl="2" marL="667513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1470"/>
              <a:buNone/>
            </a:pPr>
            <a:r>
              <a:rPr lang="en-US"/>
              <a:t>	- Avoid anomalies from insert/delete, update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32" name="Google Shape;132;p2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Database Application</a:t>
            </a:r>
            <a:endParaRPr/>
          </a:p>
        </p:txBody>
      </p:sp>
      <p:sp>
        <p:nvSpPr>
          <p:cNvPr id="139" name="Google Shape;139;p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A program for entering and retrieving information from a database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Examples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Banking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Education	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Air-ticket booking website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My address book</a:t>
            </a:r>
            <a:endParaRPr/>
          </a:p>
        </p:txBody>
      </p:sp>
      <p:sp>
        <p:nvSpPr>
          <p:cNvPr id="140" name="Google Shape;140;p3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MPj03167760000[1]" id="141" name="Google Shape;14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8024" y="2967810"/>
            <a:ext cx="36576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Pj03417160000[1]" id="142" name="Google Shape;14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8038" y="2967810"/>
            <a:ext cx="36576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Pj04005520000[1]" id="143" name="Google Shape;14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8038" y="2987144"/>
            <a:ext cx="3657600" cy="2471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Pj02850690000[1]" id="144" name="Google Shape;14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8024" y="2967810"/>
            <a:ext cx="3657600" cy="2408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30390" y="2996952"/>
            <a:ext cx="3612896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 txBox="1"/>
          <p:nvPr>
            <p:ph type="title"/>
          </p:nvPr>
        </p:nvSpPr>
        <p:spPr>
          <a:xfrm>
            <a:off x="457200" y="704088"/>
            <a:ext cx="8435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Database Management Systems (DBMS)</a:t>
            </a:r>
            <a:endParaRPr sz="4000"/>
          </a:p>
        </p:txBody>
      </p:sp>
      <p:sp>
        <p:nvSpPr>
          <p:cNvPr id="152" name="Google Shape;152;p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Software for the implementation and management of databases</a:t>
            </a:r>
            <a:endParaRPr/>
          </a:p>
          <a:p>
            <a:pPr indent="-11734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oracle" id="154" name="Google Shape;1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5445" y="3743077"/>
            <a:ext cx="1760538" cy="217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ysql" id="155" name="Google Shape;15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4004" y="2996952"/>
            <a:ext cx="117475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saccess" id="156" name="Google Shape;15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9390" y="4647686"/>
            <a:ext cx="1189038" cy="145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ybase" id="157" name="Google Shape;15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29102" y="4904860"/>
            <a:ext cx="1589088" cy="4683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powerofthought.files.wordpress.com/2008/12/sql_server_2005.jpg" id="158" name="Google Shape;15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79390" y="3003302"/>
            <a:ext cx="1162050" cy="147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dcszjin\Desktop\imgres.jpg" id="159" name="Google Shape;159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90618" y="4879460"/>
            <a:ext cx="1816371" cy="858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 txBox="1"/>
          <p:nvPr>
            <p:ph type="title"/>
          </p:nvPr>
        </p:nvSpPr>
        <p:spPr>
          <a:xfrm>
            <a:off x="457200" y="704088"/>
            <a:ext cx="8435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Database, Database Application </a:t>
            </a:r>
            <a:br>
              <a:rPr lang="en-US" sz="4000"/>
            </a:br>
            <a:r>
              <a:rPr lang="en-US" sz="4000"/>
              <a:t>and DBMS</a:t>
            </a:r>
            <a:endParaRPr sz="4000"/>
          </a:p>
        </p:txBody>
      </p:sp>
      <p:sp>
        <p:nvSpPr>
          <p:cNvPr id="166" name="Google Shape;166;p5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025543" y="3216932"/>
            <a:ext cx="1872208" cy="1224136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Database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880765" y="3131675"/>
            <a:ext cx="2304256" cy="954107"/>
          </a:xfrm>
          <a:prstGeom prst="rect">
            <a:avLst/>
          </a:prstGeom>
          <a:noFill/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Database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5"/>
          <p:cNvCxnSpPr/>
          <p:nvPr/>
        </p:nvCxnSpPr>
        <p:spPr>
          <a:xfrm>
            <a:off x="3185021" y="3520172"/>
            <a:ext cx="2107059" cy="0"/>
          </a:xfrm>
          <a:prstGeom prst="straightConnector1">
            <a:avLst/>
          </a:prstGeom>
          <a:noFill/>
          <a:ln cap="flat" cmpd="sng" w="28575">
            <a:solidFill>
              <a:srgbClr val="0751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5"/>
          <p:cNvSpPr txBox="1"/>
          <p:nvPr/>
        </p:nvSpPr>
        <p:spPr>
          <a:xfrm>
            <a:off x="3257029" y="2996952"/>
            <a:ext cx="19630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Commands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5"/>
          <p:cNvCxnSpPr/>
          <p:nvPr/>
        </p:nvCxnSpPr>
        <p:spPr>
          <a:xfrm>
            <a:off x="3185021" y="3704723"/>
            <a:ext cx="2107059" cy="0"/>
          </a:xfrm>
          <a:prstGeom prst="straightConnector1">
            <a:avLst/>
          </a:prstGeom>
          <a:noFill/>
          <a:ln cap="flat" cmpd="sng" w="28575">
            <a:solidFill>
              <a:srgbClr val="07519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72" name="Google Shape;172;p5"/>
          <p:cNvSpPr txBox="1"/>
          <p:nvPr/>
        </p:nvSpPr>
        <p:spPr>
          <a:xfrm>
            <a:off x="3707904" y="3704724"/>
            <a:ext cx="1271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Data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364087" y="2498653"/>
            <a:ext cx="3195121" cy="2660695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5292080" y="2498653"/>
            <a:ext cx="37030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Database Management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>
            <p:ph type="title"/>
          </p:nvPr>
        </p:nvSpPr>
        <p:spPr>
          <a:xfrm>
            <a:off x="457200" y="197768"/>
            <a:ext cx="886732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What are the features of a Database Management System?</a:t>
            </a:r>
            <a:endParaRPr/>
          </a:p>
        </p:txBody>
      </p:sp>
      <p:sp>
        <p:nvSpPr>
          <p:cNvPr id="181" name="Google Shape;181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82" name="Google Shape;182;p6"/>
          <p:cNvGrpSpPr/>
          <p:nvPr/>
        </p:nvGrpSpPr>
        <p:grpSpPr>
          <a:xfrm>
            <a:off x="1740221" y="1470324"/>
            <a:ext cx="5360989" cy="5153799"/>
            <a:chOff x="1283021" y="22284"/>
            <a:chExt cx="5360989" cy="5153799"/>
          </a:xfrm>
        </p:grpSpPr>
        <p:sp>
          <p:nvSpPr>
            <p:cNvPr id="183" name="Google Shape;183;p6"/>
            <p:cNvSpPr/>
            <p:nvPr/>
          </p:nvSpPr>
          <p:spPr>
            <a:xfrm>
              <a:off x="3239794" y="2029379"/>
              <a:ext cx="1338373" cy="1338373"/>
            </a:xfrm>
            <a:prstGeom prst="ellipse">
              <a:avLst/>
            </a:prstGeom>
            <a:solidFill>
              <a:srgbClr val="C4E2F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6"/>
            <p:cNvSpPr txBox="1"/>
            <p:nvPr/>
          </p:nvSpPr>
          <p:spPr>
            <a:xfrm>
              <a:off x="3435794" y="2225379"/>
              <a:ext cx="946373" cy="946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225" lIns="15225" spcFirstLastPara="1" rIns="15225" wrap="square" tIns="152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1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DBMS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 rot="-5400000">
              <a:off x="3574619" y="1679823"/>
              <a:ext cx="668721" cy="3039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857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6"/>
            <p:cNvSpPr txBox="1"/>
            <p:nvPr/>
          </p:nvSpPr>
          <p:spPr>
            <a:xfrm rot="-5400000">
              <a:off x="3892262" y="1678300"/>
              <a:ext cx="33436" cy="33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nstant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3239794" y="22284"/>
              <a:ext cx="1338373" cy="1338373"/>
            </a:xfrm>
            <a:prstGeom prst="ellipse">
              <a:avLst/>
            </a:prstGeom>
            <a:solidFill>
              <a:srgbClr val="C4E2F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6"/>
            <p:cNvSpPr txBox="1"/>
            <p:nvPr/>
          </p:nvSpPr>
          <p:spPr>
            <a:xfrm>
              <a:off x="3435794" y="218284"/>
              <a:ext cx="946373" cy="946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Persistent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6"/>
            <p:cNvSpPr/>
            <p:nvPr/>
          </p:nvSpPr>
          <p:spPr>
            <a:xfrm rot="-2314286">
              <a:off x="4359224" y="2057669"/>
              <a:ext cx="668721" cy="3039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857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6"/>
            <p:cNvSpPr txBox="1"/>
            <p:nvPr/>
          </p:nvSpPr>
          <p:spPr>
            <a:xfrm rot="-2314286">
              <a:off x="4676867" y="2056146"/>
              <a:ext cx="33436" cy="33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nstant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4809004" y="777976"/>
              <a:ext cx="1338373" cy="1338373"/>
            </a:xfrm>
            <a:prstGeom prst="ellipse">
              <a:avLst/>
            </a:prstGeom>
            <a:solidFill>
              <a:srgbClr val="C4E2FC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"/>
            <p:cNvSpPr txBox="1"/>
            <p:nvPr/>
          </p:nvSpPr>
          <p:spPr>
            <a:xfrm>
              <a:off x="5005004" y="973976"/>
              <a:ext cx="946373" cy="946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Dictionary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6"/>
            <p:cNvSpPr/>
            <p:nvPr/>
          </p:nvSpPr>
          <p:spPr>
            <a:xfrm rot="771429">
              <a:off x="4554291" y="2895272"/>
              <a:ext cx="566176" cy="3039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857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6"/>
            <p:cNvSpPr txBox="1"/>
            <p:nvPr/>
          </p:nvSpPr>
          <p:spPr>
            <a:xfrm rot="771429">
              <a:off x="4823225" y="2896313"/>
              <a:ext cx="28308" cy="28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nstant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5087496" y="2473611"/>
              <a:ext cx="1556514" cy="1343151"/>
            </a:xfrm>
            <a:prstGeom prst="ellipse">
              <a:avLst/>
            </a:prstGeom>
            <a:solidFill>
              <a:srgbClr val="C4E2F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5315442" y="2670311"/>
              <a:ext cx="1100622" cy="949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Manipulation Language (DML)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6"/>
            <p:cNvSpPr/>
            <p:nvPr/>
          </p:nvSpPr>
          <p:spPr>
            <a:xfrm rot="3857143">
              <a:off x="4016816" y="3576755"/>
              <a:ext cx="644790" cy="3039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857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6"/>
            <p:cNvSpPr txBox="1"/>
            <p:nvPr/>
          </p:nvSpPr>
          <p:spPr>
            <a:xfrm rot="3857143">
              <a:off x="4323092" y="3575831"/>
              <a:ext cx="32239" cy="32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nstant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3943028" y="3837710"/>
              <a:ext cx="1673595" cy="1338373"/>
            </a:xfrm>
            <a:prstGeom prst="ellipse">
              <a:avLst/>
            </a:prstGeom>
            <a:solidFill>
              <a:srgbClr val="C4E2FC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"/>
            <p:cNvSpPr txBox="1"/>
            <p:nvPr/>
          </p:nvSpPr>
          <p:spPr>
            <a:xfrm>
              <a:off x="4188120" y="4033710"/>
              <a:ext cx="1183411" cy="946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Definition Language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DDL)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6"/>
            <p:cNvSpPr/>
            <p:nvPr/>
          </p:nvSpPr>
          <p:spPr>
            <a:xfrm rot="6942857">
              <a:off x="3139196" y="3587536"/>
              <a:ext cx="668721" cy="3039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857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6"/>
            <p:cNvSpPr txBox="1"/>
            <p:nvPr/>
          </p:nvSpPr>
          <p:spPr>
            <a:xfrm rot="-3857143">
              <a:off x="3456839" y="3586013"/>
              <a:ext cx="33436" cy="33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nstant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2368948" y="3837710"/>
              <a:ext cx="1338373" cy="1338373"/>
            </a:xfrm>
            <a:prstGeom prst="ellipse">
              <a:avLst/>
            </a:prstGeom>
            <a:solidFill>
              <a:srgbClr val="C4E2FC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6"/>
            <p:cNvSpPr txBox="1"/>
            <p:nvPr/>
          </p:nvSpPr>
          <p:spPr>
            <a:xfrm>
              <a:off x="2564948" y="4033710"/>
              <a:ext cx="946373" cy="946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Integrity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6"/>
            <p:cNvSpPr/>
            <p:nvPr/>
          </p:nvSpPr>
          <p:spPr>
            <a:xfrm rot="10028571">
              <a:off x="2596233" y="2906681"/>
              <a:ext cx="668721" cy="3039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857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6"/>
            <p:cNvSpPr txBox="1"/>
            <p:nvPr/>
          </p:nvSpPr>
          <p:spPr>
            <a:xfrm rot="-771429">
              <a:off x="2913876" y="2905158"/>
              <a:ext cx="33436" cy="33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nstant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1283021" y="2476000"/>
              <a:ext cx="1338373" cy="1338373"/>
            </a:xfrm>
            <a:prstGeom prst="ellipse">
              <a:avLst/>
            </a:prstGeom>
            <a:solidFill>
              <a:srgbClr val="C4E2FC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6"/>
            <p:cNvSpPr txBox="1"/>
            <p:nvPr/>
          </p:nvSpPr>
          <p:spPr>
            <a:xfrm>
              <a:off x="1479021" y="2672000"/>
              <a:ext cx="946373" cy="946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Concurrent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6"/>
            <p:cNvSpPr/>
            <p:nvPr/>
          </p:nvSpPr>
          <p:spPr>
            <a:xfrm rot="-8485714">
              <a:off x="2790014" y="2057669"/>
              <a:ext cx="668721" cy="3039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25400">
              <a:solidFill>
                <a:srgbClr val="0857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6"/>
            <p:cNvSpPr txBox="1"/>
            <p:nvPr/>
          </p:nvSpPr>
          <p:spPr>
            <a:xfrm rot="2314286">
              <a:off x="3107657" y="2056146"/>
              <a:ext cx="33436" cy="334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nstantia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1670584" y="777976"/>
              <a:ext cx="1338373" cy="1338373"/>
            </a:xfrm>
            <a:prstGeom prst="ellipse">
              <a:avLst/>
            </a:prstGeom>
            <a:solidFill>
              <a:srgbClr val="C4E2FC"/>
            </a:solidFill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6"/>
            <p:cNvSpPr txBox="1"/>
            <p:nvPr/>
          </p:nvSpPr>
          <p:spPr>
            <a:xfrm>
              <a:off x="1866584" y="973976"/>
              <a:ext cx="946373" cy="946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Security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onstantia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Data Dictionary</a:t>
            </a:r>
            <a:endParaRPr/>
          </a:p>
        </p:txBody>
      </p:sp>
      <p:sp>
        <p:nvSpPr>
          <p:cNvPr id="219" name="Google Shape;219;p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Meta-Data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 descriptions of tables, relationships and all design information such as indexing.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indexes are data structures created for fast retrieval.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the rules about data integrity including validation rules for all attributes.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Referential Integrity</a:t>
            </a:r>
            <a:endParaRPr/>
          </a:p>
        </p:txBody>
      </p:sp>
      <p:sp>
        <p:nvSpPr>
          <p:cNvPr id="226" name="Google Shape;226;p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Referential Integrity using FOREIGN KEY and PRIMARY KEY  constraints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Cannot insert a record in Student table until the referenced Teacher record is created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Cannot delete/update a Teacher record until all the records in Student table that references it are deleted</a:t>
            </a:r>
            <a:endParaRPr/>
          </a:p>
        </p:txBody>
      </p:sp>
      <p:sp>
        <p:nvSpPr>
          <p:cNvPr id="227" name="Google Shape;227;p9"/>
          <p:cNvSpPr txBox="1"/>
          <p:nvPr>
            <p:ph idx="4294967295" type="sldNum"/>
          </p:nvPr>
        </p:nvSpPr>
        <p:spPr>
          <a:xfrm>
            <a:off x="7924800" y="5871231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28" name="Google Shape;228;p9"/>
          <p:cNvGraphicFramePr/>
          <p:nvPr/>
        </p:nvGraphicFramePr>
        <p:xfrm>
          <a:off x="580275" y="32129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{3F04DD31-C838-4D02-9379-6F1DF09AE4C2}</a:tableStyleId>
              </a:tblPr>
              <a:tblGrid>
                <a:gridCol w="1200125"/>
                <a:gridCol w="816100"/>
                <a:gridCol w="1584175"/>
              </a:tblGrid>
              <a:tr h="25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StudentID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PM (FK)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52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TeacherID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29" name="Google Shape;229;p9"/>
          <p:cNvGraphicFramePr/>
          <p:nvPr/>
        </p:nvGraphicFramePr>
        <p:xfrm>
          <a:off x="4817685" y="3189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{B09DFD93-8279-4496-A1F7-696946C48545}</a:tableStyleId>
              </a:tblPr>
              <a:tblGrid>
                <a:gridCol w="1247600"/>
                <a:gridCol w="1560700"/>
                <a:gridCol w="1090475"/>
              </a:tblGrid>
              <a:tr h="22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ID (PK)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TeacherName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8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nstantia"/>
                        <a:buNone/>
                      </a:pPr>
                      <a:r>
                        <a:rPr lang="en-US" sz="1400" u="none" cap="none" strike="noStrike"/>
                        <a:t>TeacherID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30" name="Google Shape;230;p9"/>
          <p:cNvCxnSpPr/>
          <p:nvPr/>
        </p:nvCxnSpPr>
        <p:spPr>
          <a:xfrm>
            <a:off x="3928647" y="3645024"/>
            <a:ext cx="972108" cy="0"/>
          </a:xfrm>
          <a:prstGeom prst="straightConnector1">
            <a:avLst/>
          </a:prstGeom>
          <a:noFill/>
          <a:ln cap="flat" cmpd="sng" w="28575">
            <a:solidFill>
              <a:srgbClr val="0751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" name="Google Shape;231;p9"/>
          <p:cNvSpPr txBox="1"/>
          <p:nvPr/>
        </p:nvSpPr>
        <p:spPr>
          <a:xfrm>
            <a:off x="580275" y="2820499"/>
            <a:ext cx="97334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Student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 txBox="1"/>
          <p:nvPr/>
        </p:nvSpPr>
        <p:spPr>
          <a:xfrm>
            <a:off x="4817685" y="2786531"/>
            <a:ext cx="1217355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Teacher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Data Integrity</a:t>
            </a:r>
            <a:endParaRPr/>
          </a:p>
        </p:txBody>
      </p:sp>
      <p:sp>
        <p:nvSpPr>
          <p:cNvPr id="238" name="Google Shape;238;p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Enforces rules known as database constraints to ensure the </a:t>
            </a:r>
            <a:r>
              <a:rPr b="1" lang="en-US"/>
              <a:t>accuracy</a:t>
            </a:r>
            <a:r>
              <a:rPr lang="en-US"/>
              <a:t> and </a:t>
            </a:r>
            <a:r>
              <a:rPr b="1" lang="en-US"/>
              <a:t>consistency</a:t>
            </a:r>
            <a:r>
              <a:rPr lang="en-US"/>
              <a:t> of the data.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Constraints Rules: NOT NULL, UNIQUE, CHECK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Example :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CHECK(Price &gt; 0)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CHECK(length(Name) &lt; 20 )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9" name="Google Shape;239;p8"/>
          <p:cNvSpPr txBox="1"/>
          <p:nvPr>
            <p:ph idx="4294967295" type="sldNum"/>
          </p:nvPr>
        </p:nvSpPr>
        <p:spPr>
          <a:xfrm>
            <a:off x="7924800" y="5871231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Concurrent Access</a:t>
            </a:r>
            <a:endParaRPr/>
          </a:p>
        </p:txBody>
      </p:sp>
      <p:sp>
        <p:nvSpPr>
          <p:cNvPr id="245" name="Google Shape;245;p10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2195736" y="2060848"/>
            <a:ext cx="1224136" cy="864096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User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788024" y="2060848"/>
            <a:ext cx="1224136" cy="864096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User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3213579" y="3112892"/>
            <a:ext cx="1872208" cy="1200329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381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Web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547664" y="4626006"/>
            <a:ext cx="5688632" cy="1899338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aphicFrame>
        <p:nvGraphicFramePr>
          <p:cNvPr id="250" name="Google Shape;250;p10"/>
          <p:cNvGraphicFramePr/>
          <p:nvPr/>
        </p:nvGraphicFramePr>
        <p:xfrm>
          <a:off x="3000164" y="5055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{C2DF91D5-C219-4DDE-BB16-4D2BC001E2DD}</a:tableStyleId>
              </a:tblPr>
              <a:tblGrid>
                <a:gridCol w="799975"/>
                <a:gridCol w="799975"/>
                <a:gridCol w="799975"/>
              </a:tblGrid>
              <a:tr h="17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ProdID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Desc.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Price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PJ82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Bag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67.90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51" name="Google Shape;251;p10"/>
          <p:cNvSpPr txBox="1"/>
          <p:nvPr/>
        </p:nvSpPr>
        <p:spPr>
          <a:xfrm>
            <a:off x="1523378" y="4256674"/>
            <a:ext cx="8210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DBMS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10"/>
          <p:cNvCxnSpPr/>
          <p:nvPr/>
        </p:nvCxnSpPr>
        <p:spPr>
          <a:xfrm flipH="1">
            <a:off x="4932040" y="2922876"/>
            <a:ext cx="318998" cy="4320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" name="Google Shape;253;p10"/>
          <p:cNvCxnSpPr>
            <a:stCxn id="246" idx="5"/>
          </p:cNvCxnSpPr>
          <p:nvPr/>
        </p:nvCxnSpPr>
        <p:spPr>
          <a:xfrm>
            <a:off x="3240601" y="2798400"/>
            <a:ext cx="323400" cy="470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4" name="Google Shape;254;p10"/>
          <p:cNvSpPr/>
          <p:nvPr/>
        </p:nvSpPr>
        <p:spPr>
          <a:xfrm>
            <a:off x="4391980" y="3429000"/>
            <a:ext cx="540060" cy="76314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402244" y="3409662"/>
            <a:ext cx="540060" cy="76314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256" name="Google Shape;256;p10"/>
          <p:cNvCxnSpPr/>
          <p:nvPr/>
        </p:nvCxnSpPr>
        <p:spPr>
          <a:xfrm>
            <a:off x="4586706" y="4139502"/>
            <a:ext cx="0" cy="1181074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7" name="Google Shape;257;p10"/>
          <p:cNvSpPr txBox="1"/>
          <p:nvPr/>
        </p:nvSpPr>
        <p:spPr>
          <a:xfrm>
            <a:off x="5310456" y="3159868"/>
            <a:ext cx="327438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con.execute(“UPDATE Products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SET Price = 70 WHERE ProdID=PJ82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207805" y="2983125"/>
            <a:ext cx="298269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con.execute(“UPDATE Products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SET Price = 50 WHERE ProdID=PJ82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2699792" y="5320576"/>
            <a:ext cx="2880320" cy="42998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2195736" y="5055160"/>
            <a:ext cx="459095" cy="42998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261" name="Google Shape;261;p10"/>
          <p:cNvCxnSpPr>
            <a:endCxn id="260" idx="1"/>
          </p:cNvCxnSpPr>
          <p:nvPr/>
        </p:nvCxnSpPr>
        <p:spPr>
          <a:xfrm>
            <a:off x="1028769" y="4172829"/>
            <a:ext cx="1234200" cy="9453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Data Security</a:t>
            </a:r>
            <a:endParaRPr/>
          </a:p>
        </p:txBody>
      </p:sp>
      <p:sp>
        <p:nvSpPr>
          <p:cNvPr id="267" name="Google Shape;267;p1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Access Control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WHO can access WHAT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Backup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Full (weekly)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Differential, backup only changes since last full (daily)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Purpose : for  recovery when data is lost or corrupted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Archive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Purpose: for space management and long term retention. Original may be deleted.</a:t>
            </a:r>
            <a:endParaRPr/>
          </a:p>
        </p:txBody>
      </p:sp>
      <p:sp>
        <p:nvSpPr>
          <p:cNvPr id="268" name="Google Shape;268;p11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SQL (Structured Query Language)</a:t>
            </a:r>
            <a:endParaRPr/>
          </a:p>
        </p:txBody>
      </p:sp>
      <p:sp>
        <p:nvSpPr>
          <p:cNvPr id="275" name="Google Shape;275;p1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A computer language aim to store, manipulate, and retrieve data in (relational) databases</a:t>
            </a:r>
            <a:endParaRPr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The de facto standard in traditional database applications and DBMS</a:t>
            </a:r>
            <a:endParaRPr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SQL (Structured Query Language)</a:t>
            </a:r>
            <a:endParaRPr/>
          </a:p>
        </p:txBody>
      </p:sp>
      <p:sp>
        <p:nvSpPr>
          <p:cNvPr id="282" name="Google Shape;282;p13"/>
          <p:cNvSpPr txBox="1"/>
          <p:nvPr>
            <p:ph idx="1" type="body"/>
          </p:nvPr>
        </p:nvSpPr>
        <p:spPr>
          <a:xfrm>
            <a:off x="457200" y="1935480"/>
            <a:ext cx="8229600" cy="4589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Char char="⚫"/>
            </a:pPr>
            <a:r>
              <a:rPr b="1" lang="en-US"/>
              <a:t>Data Definition Language (DDL)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i="1" lang="en-US"/>
              <a:t>Creating, altering and deleting tables and other database objects</a:t>
            </a:r>
            <a:endParaRPr/>
          </a:p>
          <a:p>
            <a:pPr indent="-127063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 i="1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b="1" lang="en-US"/>
              <a:t> Data Manipulation Language (DML)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i="1" lang="en-US"/>
              <a:t>Inserting, updating and deleting rows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i="1" lang="en-US"/>
              <a:t>Querying tables</a:t>
            </a:r>
            <a:endParaRPr/>
          </a:p>
          <a:p>
            <a:pPr indent="-127063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 i="1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b="1" lang="en-US"/>
              <a:t>Database Control language (DCL)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i="1" lang="en-US"/>
              <a:t>Controlling access to the database</a:t>
            </a:r>
            <a:endParaRPr/>
          </a:p>
          <a:p>
            <a:pPr indent="-127063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 i="1"/>
          </a:p>
          <a:p>
            <a:pPr indent="-274320" lvl="0" marL="27432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SzPct val="95000"/>
              <a:buChar char="⚫"/>
            </a:pPr>
            <a:r>
              <a:rPr b="1" lang="en-US"/>
              <a:t>Transaction Control Language (TCL)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85000"/>
              <a:buChar char="⚫"/>
            </a:pPr>
            <a:r>
              <a:rPr i="1" lang="en-US"/>
              <a:t>Dealing with transactions within a database.</a:t>
            </a:r>
            <a:endParaRPr/>
          </a:p>
          <a:p>
            <a:pPr indent="-127063" lvl="1" marL="64008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8" name="Google Shape;2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114" y="908720"/>
            <a:ext cx="7979423" cy="518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4" name="Google Shape;2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621" y="980728"/>
            <a:ext cx="7778760" cy="4896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</a:pPr>
            <a:r>
              <a:rPr lang="en-US"/>
              <a:t>SQL</a:t>
            </a:r>
            <a:endParaRPr/>
          </a:p>
        </p:txBody>
      </p:sp>
      <p:sp>
        <p:nvSpPr>
          <p:cNvPr id="301" name="Google Shape;301;p16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"/>
              <a:buNone/>
            </a:pPr>
            <a:r>
              <a:rPr lang="en-US"/>
              <a:t>Data Definition Language (DDL)</a:t>
            </a:r>
            <a:endParaRPr/>
          </a:p>
        </p:txBody>
      </p:sp>
      <p:sp>
        <p:nvSpPr>
          <p:cNvPr id="302" name="Google Shape;302;p1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 txBox="1"/>
          <p:nvPr>
            <p:ph type="title"/>
          </p:nvPr>
        </p:nvSpPr>
        <p:spPr>
          <a:xfrm>
            <a:off x="478525" y="21641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PRIMARY KEY constraint</a:t>
            </a:r>
            <a:endParaRPr/>
          </a:p>
        </p:txBody>
      </p:sp>
      <p:sp>
        <p:nvSpPr>
          <p:cNvPr id="309" name="Google Shape;309;p22"/>
          <p:cNvSpPr txBox="1"/>
          <p:nvPr>
            <p:ph idx="2" type="body"/>
          </p:nvPr>
        </p:nvSpPr>
        <p:spPr>
          <a:xfrm>
            <a:off x="115059" y="3627801"/>
            <a:ext cx="4038600" cy="782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Noto Sans Symbols"/>
              <a:buChar char="▪"/>
            </a:pPr>
            <a:r>
              <a:rPr lang="en-US"/>
              <a:t>Multi-attribute PK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22"/>
          <p:cNvSpPr/>
          <p:nvPr/>
        </p:nvSpPr>
        <p:spPr>
          <a:xfrm>
            <a:off x="-31709" y="1629776"/>
            <a:ext cx="5040560" cy="1799223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book 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title TEXT,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publisher INTEGER,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ID INTEGER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5081154" y="1629815"/>
            <a:ext cx="3979878" cy="2240436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book 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title TEXT,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publisher TEXT,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ID INTEGER,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 (ID)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0" y="4484142"/>
            <a:ext cx="6772940" cy="1872208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book 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title TEXT,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publisher INTEGER,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ID INTEGER,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 (title, publisher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4721837" y="2288368"/>
            <a:ext cx="6463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6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40000"/>
              <a:buNone/>
            </a:pPr>
            <a:r>
              <a:rPr lang="en-US"/>
              <a:t>Foreign key (Referential integrity) Constraint</a:t>
            </a:r>
            <a:endParaRPr/>
          </a:p>
        </p:txBody>
      </p:sp>
      <p:sp>
        <p:nvSpPr>
          <p:cNvPr id="320" name="Google Shape;320;p65"/>
          <p:cNvSpPr txBox="1"/>
          <p:nvPr/>
        </p:nvSpPr>
        <p:spPr>
          <a:xfrm>
            <a:off x="-1" y="2074223"/>
            <a:ext cx="9431079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Loan 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ID	INTEGER NOT NULL,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BorrowerID	INTEGER NOT NULL,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BookID	INTEGER NOT NULL,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"Date Borrowed"	TEXT,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FOREIGN KEY(BorrowerID) REFERENCES Borrower (ID),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FOREIGN KEY(BookID) REFERENCES Book (ID)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DROP</a:t>
            </a:r>
            <a:endParaRPr/>
          </a:p>
        </p:txBody>
      </p:sp>
      <p:sp>
        <p:nvSpPr>
          <p:cNvPr id="326" name="Google Shape;326;p2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en-US" sz="2400"/>
              <a:t>To remove a table (and all the data in it).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</p:txBody>
      </p:sp>
      <p:sp>
        <p:nvSpPr>
          <p:cNvPr id="327" name="Google Shape;327;p23"/>
          <p:cNvSpPr/>
          <p:nvPr/>
        </p:nvSpPr>
        <p:spPr>
          <a:xfrm>
            <a:off x="496812" y="2492896"/>
            <a:ext cx="3139084" cy="360040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DROP TABLE Book;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r>
              <a:rPr lang="en-US"/>
              <a:t>Conditional CREATE/Drop</a:t>
            </a:r>
            <a:endParaRPr/>
          </a:p>
        </p:txBody>
      </p:sp>
      <p:sp>
        <p:nvSpPr>
          <p:cNvPr id="333" name="Google Shape;333;p36"/>
          <p:cNvSpPr/>
          <p:nvPr/>
        </p:nvSpPr>
        <p:spPr>
          <a:xfrm>
            <a:off x="457200" y="1935480"/>
            <a:ext cx="5040560" cy="1799223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IF NOT EXISTS Book (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0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title TEXT,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0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publisherID INTEGER,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0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ID INTEGER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0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6"/>
          <p:cNvSpPr txBox="1"/>
          <p:nvPr>
            <p:ph idx="1" type="body"/>
          </p:nvPr>
        </p:nvSpPr>
        <p:spPr>
          <a:xfrm>
            <a:off x="457200" y="4082902"/>
            <a:ext cx="5135526" cy="928011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DROP TABLE IF EXISTS Book;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</a:pPr>
            <a:r>
              <a:rPr lang="en-US"/>
              <a:t>SQL</a:t>
            </a:r>
            <a:endParaRPr/>
          </a:p>
        </p:txBody>
      </p:sp>
      <p:sp>
        <p:nvSpPr>
          <p:cNvPr id="341" name="Google Shape;341;p24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"/>
              <a:buNone/>
            </a:pPr>
            <a:r>
              <a:rPr lang="en-US"/>
              <a:t>Data Manipulation Language (DML)</a:t>
            </a:r>
            <a:endParaRPr/>
          </a:p>
        </p:txBody>
      </p:sp>
      <p:sp>
        <p:nvSpPr>
          <p:cNvPr id="342" name="Google Shape;342;p2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8" name="Google Shape;3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401" y="1052736"/>
            <a:ext cx="8491944" cy="482453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/>
          <p:nvPr/>
        </p:nvSpPr>
        <p:spPr>
          <a:xfrm>
            <a:off x="395536" y="4581128"/>
            <a:ext cx="8208912" cy="10081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INSERT syntax</a:t>
            </a:r>
            <a:endParaRPr/>
          </a:p>
        </p:txBody>
      </p:sp>
      <p:sp>
        <p:nvSpPr>
          <p:cNvPr id="355" name="Google Shape;355;p26"/>
          <p:cNvSpPr txBox="1"/>
          <p:nvPr>
            <p:ph idx="1" type="body"/>
          </p:nvPr>
        </p:nvSpPr>
        <p:spPr>
          <a:xfrm>
            <a:off x="170688" y="1935480"/>
            <a:ext cx="90477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Noto Sans Symbols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INSERT INTO table_name(column1_name, column2_name, ...) VALUES(column1_value, column2_value, ...); </a:t>
            </a:r>
            <a:endParaRPr/>
          </a:p>
          <a:p>
            <a:pPr indent="-3003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Noto Sans Symbols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0035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Noto Sans Symbols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▪"/>
            </a:pPr>
            <a:r>
              <a:rPr lang="en-US"/>
              <a:t>Another form where all the table attributes’ values must be provided</a:t>
            </a:r>
            <a:endParaRPr/>
          </a:p>
        </p:txBody>
      </p:sp>
      <p:sp>
        <p:nvSpPr>
          <p:cNvPr id="356" name="Google Shape;356;p26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26"/>
          <p:cNvSpPr/>
          <p:nvPr/>
        </p:nvSpPr>
        <p:spPr>
          <a:xfrm>
            <a:off x="170688" y="3258488"/>
            <a:ext cx="8973312" cy="365125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Book (Title, Damaged) VALUES ("Python101",0)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170688" y="5035300"/>
            <a:ext cx="8973312" cy="365125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Book VALUES (99, "Python101",NULL, 1)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 txBox="1"/>
          <p:nvPr>
            <p:ph type="title"/>
          </p:nvPr>
        </p:nvSpPr>
        <p:spPr>
          <a:xfrm>
            <a:off x="457200" y="261901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UPDATE syntax</a:t>
            </a:r>
            <a:endParaRPr/>
          </a:p>
        </p:txBody>
      </p:sp>
      <p:sp>
        <p:nvSpPr>
          <p:cNvPr id="364" name="Google Shape;364;p27"/>
          <p:cNvSpPr txBox="1"/>
          <p:nvPr>
            <p:ph idx="1" type="body"/>
          </p:nvPr>
        </p:nvSpPr>
        <p:spPr>
          <a:xfrm>
            <a:off x="457200" y="1935480"/>
            <a:ext cx="86868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365" name="Google Shape;365;p27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6" name="Google Shape;366;p27"/>
          <p:cNvSpPr/>
          <p:nvPr/>
        </p:nvSpPr>
        <p:spPr>
          <a:xfrm>
            <a:off x="438400" y="1403297"/>
            <a:ext cx="7283100" cy="16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UPDATE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table_name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 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column1_name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column1_expression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column2_name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column2_expression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...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0" i="1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where_expression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426" y="3148110"/>
            <a:ext cx="4857750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7"/>
          <p:cNvSpPr/>
          <p:nvPr/>
        </p:nvSpPr>
        <p:spPr>
          <a:xfrm>
            <a:off x="5314950" y="3218071"/>
            <a:ext cx="3577530" cy="1430868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UPDATE Borrower SET </a:t>
            </a:r>
            <a:r>
              <a:rPr b="1" i="1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Contact = 98764326 </a:t>
            </a:r>
            <a:endParaRPr b="1" i="0" sz="2000" u="none" cap="none" strike="noStrike">
              <a:solidFill>
                <a:srgbClr val="29293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82880" lvl="0" marL="1828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1" i="1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ID=2</a:t>
            </a: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2000" u="none" cap="none" strike="noStrike">
              <a:solidFill>
                <a:srgbClr val="29293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382000" y="4016672"/>
            <a:ext cx="4920374" cy="36004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id="370" name="Google Shape;37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000" y="4833937"/>
            <a:ext cx="4857750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7"/>
          <p:cNvSpPr/>
          <p:nvPr/>
        </p:nvSpPr>
        <p:spPr>
          <a:xfrm>
            <a:off x="5288528" y="4864962"/>
            <a:ext cx="3577530" cy="1430868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UPDATE Borrower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2880" lvl="0" marL="18288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SET </a:t>
            </a:r>
            <a:r>
              <a:rPr b="1" i="1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FirstName = FirstName || ID </a:t>
            </a: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382000" y="5343996"/>
            <a:ext cx="4906528" cy="1194916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73" name="Google Shape;373;p27"/>
          <p:cNvSpPr txBox="1"/>
          <p:nvPr/>
        </p:nvSpPr>
        <p:spPr>
          <a:xfrm>
            <a:off x="5544602" y="6352143"/>
            <a:ext cx="31182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CONCATENATE OPERATOR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27"/>
          <p:cNvCxnSpPr/>
          <p:nvPr/>
        </p:nvCxnSpPr>
        <p:spPr>
          <a:xfrm flipH="1" rot="10800000">
            <a:off x="6876256" y="5830460"/>
            <a:ext cx="360040" cy="627444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5" name="Google Shape;375;p27"/>
          <p:cNvSpPr/>
          <p:nvPr/>
        </p:nvSpPr>
        <p:spPr>
          <a:xfrm>
            <a:off x="4040372" y="4016672"/>
            <a:ext cx="1023058" cy="36004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7"/>
          <p:cNvSpPr/>
          <p:nvPr/>
        </p:nvSpPr>
        <p:spPr>
          <a:xfrm>
            <a:off x="1396175" y="5443713"/>
            <a:ext cx="1023058" cy="90843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DELETE</a:t>
            </a:r>
            <a:endParaRPr/>
          </a:p>
        </p:txBody>
      </p:sp>
      <p:sp>
        <p:nvSpPr>
          <p:cNvPr id="382" name="Google Shape;382;p2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en-US" sz="2400"/>
              <a:t>To remove all data in a table.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rPr lang="en-US" sz="2400"/>
              <a:t>To remove selected data in a table.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</p:txBody>
      </p:sp>
      <p:sp>
        <p:nvSpPr>
          <p:cNvPr id="383" name="Google Shape;383;p28"/>
          <p:cNvSpPr/>
          <p:nvPr/>
        </p:nvSpPr>
        <p:spPr>
          <a:xfrm>
            <a:off x="496811" y="2492896"/>
            <a:ext cx="4734407" cy="360040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Book;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496812" y="3770000"/>
            <a:ext cx="3355108" cy="955144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Book WHERE damaged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4211960" y="3770000"/>
            <a:ext cx="3600400" cy="955144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-182880" lvl="0" marL="182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</a:t>
            </a:r>
            <a:r>
              <a:rPr b="1" i="1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table_name</a:t>
            </a: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 WHERE </a:t>
            </a:r>
            <a:r>
              <a:rPr b="1" i="1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rgbClr val="292934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8"/>
          <p:cNvSpPr txBox="1"/>
          <p:nvPr/>
        </p:nvSpPr>
        <p:spPr>
          <a:xfrm>
            <a:off x="4932040" y="4725144"/>
            <a:ext cx="252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8"/>
          <p:cNvSpPr txBox="1"/>
          <p:nvPr/>
        </p:nvSpPr>
        <p:spPr>
          <a:xfrm>
            <a:off x="971600" y="4725144"/>
            <a:ext cx="252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Sample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SELECT</a:t>
            </a:r>
            <a:endParaRPr/>
          </a:p>
        </p:txBody>
      </p:sp>
      <p:sp>
        <p:nvSpPr>
          <p:cNvPr id="393" name="Google Shape;393;p2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en-US" sz="2800"/>
              <a:t>To return all data in a table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rPr lang="en-US" sz="2800"/>
              <a:t>To return selected columns in a table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533400" y="2616696"/>
            <a:ext cx="3956248" cy="308248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Borrower;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4583608" y="2617192"/>
            <a:ext cx="4330824" cy="307752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table_name;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5328084" y="2924944"/>
            <a:ext cx="252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1403648" y="2959844"/>
            <a:ext cx="252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Sample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9"/>
          <p:cNvSpPr/>
          <p:nvPr/>
        </p:nvSpPr>
        <p:spPr>
          <a:xfrm>
            <a:off x="229568" y="4081336"/>
            <a:ext cx="4260080" cy="931840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FirstName, Contact </a:t>
            </a:r>
            <a:b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Borrower;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4583608" y="4081832"/>
            <a:ext cx="4330824" cy="931344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col_name1,col_name2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…,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col_nameN</a:t>
            </a:r>
            <a:endParaRPr b="1" i="1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table_name;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5488880" y="5076168"/>
            <a:ext cx="252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1403648" y="5076168"/>
            <a:ext cx="252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Sample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0"/>
          <p:cNvSpPr txBox="1"/>
          <p:nvPr>
            <p:ph type="title"/>
          </p:nvPr>
        </p:nvSpPr>
        <p:spPr>
          <a:xfrm>
            <a:off x="457200" y="22515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SELECT</a:t>
            </a:r>
            <a:endParaRPr/>
          </a:p>
        </p:txBody>
      </p:sp>
      <p:sp>
        <p:nvSpPr>
          <p:cNvPr id="407" name="Google Shape;407;p30"/>
          <p:cNvSpPr txBox="1"/>
          <p:nvPr>
            <p:ph idx="1" type="body"/>
          </p:nvPr>
        </p:nvSpPr>
        <p:spPr>
          <a:xfrm>
            <a:off x="335136" y="1368152"/>
            <a:ext cx="8579296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en-US" sz="2800"/>
              <a:t>To return certain rows in a table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Using a wildcard %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335136" y="1964669"/>
            <a:ext cx="3956248" cy="956320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PublisherID =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0"/>
          <p:cNvSpPr/>
          <p:nvPr/>
        </p:nvSpPr>
        <p:spPr>
          <a:xfrm>
            <a:off x="4583608" y="2617192"/>
            <a:ext cx="4330824" cy="901072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table_name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</a:t>
            </a:r>
            <a:r>
              <a:rPr b="1" i="1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0"/>
          <p:cNvSpPr txBox="1"/>
          <p:nvPr/>
        </p:nvSpPr>
        <p:spPr>
          <a:xfrm>
            <a:off x="5488880" y="3563724"/>
            <a:ext cx="252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(Simplified) 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0"/>
          <p:cNvSpPr txBox="1"/>
          <p:nvPr/>
        </p:nvSpPr>
        <p:spPr>
          <a:xfrm>
            <a:off x="1249952" y="4513267"/>
            <a:ext cx="25202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Sample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467496" y="5675752"/>
            <a:ext cx="5641380" cy="956320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Title LIKE "H2%"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335136" y="3151507"/>
            <a:ext cx="3956248" cy="1377817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Book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WHERE PublisherID = 4 AND Damaged = 0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1"/>
          <p:cNvSpPr txBox="1"/>
          <p:nvPr>
            <p:ph type="title"/>
          </p:nvPr>
        </p:nvSpPr>
        <p:spPr>
          <a:xfrm>
            <a:off x="457200" y="26064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SELECT</a:t>
            </a:r>
            <a:endParaRPr/>
          </a:p>
        </p:txBody>
      </p:sp>
      <p:sp>
        <p:nvSpPr>
          <p:cNvPr id="419" name="Google Shape;419;p31"/>
          <p:cNvSpPr txBox="1"/>
          <p:nvPr>
            <p:ph idx="1" type="body"/>
          </p:nvPr>
        </p:nvSpPr>
        <p:spPr>
          <a:xfrm>
            <a:off x="457200" y="1935480"/>
            <a:ext cx="8579296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420" name="Google Shape;42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756" y="1419672"/>
            <a:ext cx="8392487" cy="2380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866" y="3800500"/>
            <a:ext cx="8376377" cy="100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5058222"/>
            <a:ext cx="8053033" cy="146712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1"/>
          <p:cNvSpPr txBox="1"/>
          <p:nvPr/>
        </p:nvSpPr>
        <p:spPr>
          <a:xfrm>
            <a:off x="5479522" y="5950495"/>
            <a:ext cx="3502882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PublisherID = NULL</a:t>
            </a:r>
            <a:endParaRPr b="0" i="0" sz="2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Noto Sans Symbols"/>
              <a:buChar char="▪"/>
            </a:pPr>
            <a:r>
              <a:rPr lang="en-US"/>
              <a:t>List the loan records in ascending order of the date Borrowed.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430" name="Google Shape;430;p3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Sorting Results</a:t>
            </a:r>
            <a:endParaRPr/>
          </a:p>
        </p:txBody>
      </p:sp>
      <p:sp>
        <p:nvSpPr>
          <p:cNvPr id="431" name="Google Shape;431;p32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p32"/>
          <p:cNvSpPr/>
          <p:nvPr/>
        </p:nvSpPr>
        <p:spPr>
          <a:xfrm>
            <a:off x="804042" y="3180827"/>
            <a:ext cx="4980070" cy="953122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loan </a:t>
            </a:r>
            <a:b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ORDER BY "Date Borrowed" ASC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804042" y="4752713"/>
            <a:ext cx="4980070" cy="953122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loan </a:t>
            </a:r>
            <a:b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ORDER BY "Date Borrowed" DESC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List the first 3 books.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440" name="Google Shape;440;p4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Limiting Results</a:t>
            </a:r>
            <a:endParaRPr/>
          </a:p>
        </p:txBody>
      </p:sp>
      <p:sp>
        <p:nvSpPr>
          <p:cNvPr id="441" name="Google Shape;441;p46"/>
          <p:cNvSpPr txBox="1"/>
          <p:nvPr>
            <p:ph idx="4294967295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rPr>
              <a:t>‹#›</a:t>
            </a:fld>
            <a:endParaRPr sz="1200">
              <a:solidFill>
                <a:srgbClr val="035C75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2" name="Google Shape;442;p46"/>
          <p:cNvSpPr/>
          <p:nvPr/>
        </p:nvSpPr>
        <p:spPr>
          <a:xfrm>
            <a:off x="804043" y="2564904"/>
            <a:ext cx="3767958" cy="643318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book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LIMIT 3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3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</a:pPr>
            <a:r>
              <a:rPr lang="en-US"/>
              <a:t>SQL</a:t>
            </a:r>
            <a:endParaRPr/>
          </a:p>
        </p:txBody>
      </p:sp>
      <p:sp>
        <p:nvSpPr>
          <p:cNvPr id="449" name="Google Shape;449;p33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90"/>
              <a:buNone/>
            </a:pPr>
            <a:r>
              <a:rPr lang="en-US"/>
              <a:t>Advance Data Manipulation Language (DDL)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Font typeface="Arial"/>
              <a:buChar char="•"/>
            </a:pPr>
            <a:r>
              <a:rPr lang="en-US"/>
              <a:t>Multi-table SELECT</a:t>
            </a:r>
            <a:endParaRPr/>
          </a:p>
          <a:p>
            <a:pPr indent="-210184" lvl="0" marL="3429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50" name="Google Shape;450;p3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Multi-table SELECT Statements</a:t>
            </a:r>
            <a:endParaRPr/>
          </a:p>
        </p:txBody>
      </p:sp>
      <p:sp>
        <p:nvSpPr>
          <p:cNvPr id="457" name="Google Shape;457;p34"/>
          <p:cNvSpPr txBox="1"/>
          <p:nvPr>
            <p:ph idx="1" type="body"/>
          </p:nvPr>
        </p:nvSpPr>
        <p:spPr>
          <a:xfrm>
            <a:off x="457200" y="1935480"/>
            <a:ext cx="8229600" cy="6564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Font typeface="Noto Sans Symbols"/>
              <a:buChar char="▪"/>
            </a:pPr>
            <a:r>
              <a:rPr lang="en-US"/>
              <a:t>Find the titles of all the books and their publisher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i="1"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i="1"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i="1"/>
          </a:p>
        </p:txBody>
      </p:sp>
      <p:sp>
        <p:nvSpPr>
          <p:cNvPr id="458" name="Google Shape;458;p34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9" name="Google Shape;4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3716" y="3391496"/>
            <a:ext cx="5445098" cy="2934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059" y="3391496"/>
            <a:ext cx="1992867" cy="2826043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4"/>
          <p:cNvSpPr txBox="1"/>
          <p:nvPr/>
        </p:nvSpPr>
        <p:spPr>
          <a:xfrm>
            <a:off x="1860697" y="2791672"/>
            <a:ext cx="82747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4"/>
          <p:cNvSpPr txBox="1"/>
          <p:nvPr/>
        </p:nvSpPr>
        <p:spPr>
          <a:xfrm>
            <a:off x="6552682" y="2743857"/>
            <a:ext cx="13532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Publisher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5"/>
          <p:cNvSpPr txBox="1"/>
          <p:nvPr>
            <p:ph type="title"/>
          </p:nvPr>
        </p:nvSpPr>
        <p:spPr>
          <a:xfrm>
            <a:off x="457200" y="344573"/>
            <a:ext cx="312597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Inner Join</a:t>
            </a:r>
            <a:endParaRPr/>
          </a:p>
        </p:txBody>
      </p:sp>
      <p:sp>
        <p:nvSpPr>
          <p:cNvPr id="469" name="Google Shape;469;p35"/>
          <p:cNvSpPr txBox="1"/>
          <p:nvPr>
            <p:ph idx="4294967295" type="sldNum"/>
          </p:nvPr>
        </p:nvSpPr>
        <p:spPr>
          <a:xfrm>
            <a:off x="7924800" y="6356349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0" name="Google Shape;470;p35"/>
          <p:cNvSpPr/>
          <p:nvPr/>
        </p:nvSpPr>
        <p:spPr>
          <a:xfrm>
            <a:off x="137700" y="2021354"/>
            <a:ext cx="3445472" cy="1467600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INNER JOIN Publisher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1" name="Google Shape;471;p35"/>
          <p:cNvSpPr/>
          <p:nvPr/>
        </p:nvSpPr>
        <p:spPr>
          <a:xfrm>
            <a:off x="172278" y="3646336"/>
            <a:ext cx="8839200" cy="1467600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INNER JOIN Publisher ON Book.PublisherID = Publisher.ID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2" name="Google Shape;472;p35"/>
          <p:cNvSpPr/>
          <p:nvPr/>
        </p:nvSpPr>
        <p:spPr>
          <a:xfrm>
            <a:off x="172278" y="5288787"/>
            <a:ext cx="8839200" cy="1467600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Book.Title, Publisher.Name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FROM 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INNER JOIN Publisher ON Book.PublisherID = Publisher.ID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3" name="Google Shape;473;p35"/>
          <p:cNvSpPr txBox="1"/>
          <p:nvPr/>
        </p:nvSpPr>
        <p:spPr>
          <a:xfrm>
            <a:off x="3965945" y="726668"/>
            <a:ext cx="458263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Inner join select only records from Table A and Table B which meet the join condition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Left Outer Join</a:t>
            </a:r>
            <a:endParaRPr/>
          </a:p>
        </p:txBody>
      </p:sp>
      <p:pic>
        <p:nvPicPr>
          <p:cNvPr id="479" name="Google Shape;47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1762112"/>
            <a:ext cx="3918631" cy="2376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578" y="2148524"/>
            <a:ext cx="4847630" cy="1790601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2"/>
          <p:cNvSpPr txBox="1"/>
          <p:nvPr/>
        </p:nvSpPr>
        <p:spPr>
          <a:xfrm>
            <a:off x="1626783" y="6244692"/>
            <a:ext cx="2041450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Book (Table 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2"/>
          <p:cNvSpPr txBox="1"/>
          <p:nvPr/>
        </p:nvSpPr>
        <p:spPr>
          <a:xfrm>
            <a:off x="5990643" y="6244692"/>
            <a:ext cx="2340698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Publisher (Table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3" name="Google Shape;483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994" y="4209324"/>
            <a:ext cx="4848033" cy="1872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83416" y="4160312"/>
            <a:ext cx="244792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Joinsq	</a:t>
            </a:r>
            <a:endParaRPr/>
          </a:p>
        </p:txBody>
      </p:sp>
      <p:pic>
        <p:nvPicPr>
          <p:cNvPr id="490" name="Google Shape;4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161" y="1988840"/>
            <a:ext cx="3542484" cy="1944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161" y="4293096"/>
            <a:ext cx="3554731" cy="2304256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4"/>
          <p:cNvSpPr txBox="1"/>
          <p:nvPr/>
        </p:nvSpPr>
        <p:spPr>
          <a:xfrm>
            <a:off x="4869712" y="2934586"/>
            <a:ext cx="192873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INNER JOIN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4"/>
          <p:cNvSpPr txBox="1"/>
          <p:nvPr/>
        </p:nvSpPr>
        <p:spPr>
          <a:xfrm>
            <a:off x="4869712" y="5010913"/>
            <a:ext cx="28841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 OUTER JOIN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5"/>
          <p:cNvSpPr txBox="1"/>
          <p:nvPr>
            <p:ph type="title"/>
          </p:nvPr>
        </p:nvSpPr>
        <p:spPr>
          <a:xfrm>
            <a:off x="457200" y="24688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Aggregate Queries: COUNT</a:t>
            </a:r>
            <a:endParaRPr/>
          </a:p>
        </p:txBody>
      </p:sp>
      <p:sp>
        <p:nvSpPr>
          <p:cNvPr id="500" name="Google Shape;500;p45"/>
          <p:cNvSpPr txBox="1"/>
          <p:nvPr>
            <p:ph idx="1" type="body"/>
          </p:nvPr>
        </p:nvSpPr>
        <p:spPr>
          <a:xfrm>
            <a:off x="457200" y="1432620"/>
            <a:ext cx="8229600" cy="4351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2702"/>
              <a:buFont typeface="Noto Sans Symbols"/>
              <a:buChar char="▪"/>
            </a:pPr>
            <a:r>
              <a:rPr lang="en-US"/>
              <a:t>Find the total number of books.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2702"/>
              <a:buFont typeface="Constantia"/>
              <a:buNone/>
            </a:pPr>
            <a:r>
              <a:t/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ct val="102702"/>
              <a:buFont typeface="Constantia"/>
              <a:buNone/>
            </a:pPr>
            <a:r>
              <a:t/>
            </a:r>
            <a:endParaRPr sz="2000"/>
          </a:p>
          <a:p>
            <a:pPr indent="-128143" lvl="1" marL="64008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ct val="91891"/>
              <a:buNone/>
            </a:pPr>
            <a:r>
              <a:t/>
            </a:r>
            <a:endParaRPr sz="2200"/>
          </a:p>
          <a:p>
            <a:pPr indent="-128143" lvl="1" marL="64008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ct val="91891"/>
              <a:buNone/>
            </a:pPr>
            <a:r>
              <a:t/>
            </a:r>
            <a:endParaRPr sz="2200"/>
          </a:p>
          <a:p>
            <a:pPr indent="-128143" lvl="1" marL="64008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ct val="91891"/>
              <a:buNone/>
            </a:pPr>
            <a:r>
              <a:t/>
            </a:r>
            <a:endParaRPr sz="2200"/>
          </a:p>
          <a:p>
            <a:pPr indent="-45720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102702"/>
              <a:buFont typeface="Noto Sans Symbols"/>
              <a:buChar char="▪"/>
            </a:pPr>
            <a:r>
              <a:rPr lang="en-US"/>
              <a:t>Aggregate queries use aggregate functions to combine results over entire tables columns or a particular column</a:t>
            </a:r>
            <a:endParaRPr/>
          </a:p>
          <a:p>
            <a:pPr indent="-342900" lvl="1" marL="736092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ct val="91891"/>
              <a:buFont typeface="Noto Sans Symbols"/>
              <a:buChar char="▪"/>
            </a:pPr>
            <a:r>
              <a:rPr lang="en-US" sz="2200"/>
              <a:t>Example: 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COUNT(), SUM(), MAX(), MIN(), AVG()</a:t>
            </a:r>
            <a:endParaRPr/>
          </a:p>
          <a:p>
            <a:pPr indent="-160145" lvl="0" marL="278892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ct val="84234"/>
              <a:buFont typeface="Noto Sans Symbols"/>
              <a:buNone/>
            </a:pPr>
            <a:r>
              <a:t/>
            </a:r>
            <a:endParaRPr sz="2400"/>
          </a:p>
          <a:p>
            <a:pPr indent="-274320" lvl="0" marL="2743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702"/>
              <a:buFont typeface="Constantia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2702"/>
              <a:buFont typeface="Courier New"/>
              <a:buNone/>
            </a:pPr>
            <a:r>
              <a:rPr lang="en-US" sz="18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117475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ct val="102702"/>
              <a:buNone/>
            </a:pPr>
            <a:r>
              <a:t/>
            </a:r>
            <a:endParaRPr/>
          </a:p>
        </p:txBody>
      </p:sp>
      <p:sp>
        <p:nvSpPr>
          <p:cNvPr id="501" name="Google Shape;501;p45"/>
          <p:cNvSpPr txBox="1"/>
          <p:nvPr>
            <p:ph idx="4294967295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rPr>
              <a:t>‹#›</a:t>
            </a:fld>
            <a:endParaRPr sz="1200">
              <a:solidFill>
                <a:srgbClr val="035C75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502" name="Google Shape;502;p45"/>
          <p:cNvSpPr/>
          <p:nvPr/>
        </p:nvSpPr>
        <p:spPr>
          <a:xfrm>
            <a:off x="974491" y="1909785"/>
            <a:ext cx="4572000" cy="312420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COUNT(*)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FROM book;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3" name="Google Shape;503;p45"/>
          <p:cNvGraphicFramePr/>
          <p:nvPr/>
        </p:nvGraphicFramePr>
        <p:xfrm>
          <a:off x="993502" y="2353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{09022F8C-F172-4872-825A-E92CF139EEE7}</a:tableStyleId>
              </a:tblPr>
              <a:tblGrid>
                <a:gridCol w="1391700"/>
              </a:tblGrid>
              <a:tr h="25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lt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COUNT(*)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chemeClr val="dk1"/>
                    </a:solidFill>
                  </a:tcPr>
                </a:tc>
              </a:tr>
              <a:tr h="25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pic>
        <p:nvPicPr>
          <p:cNvPr id="504" name="Google Shape;50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5698" y="1432620"/>
            <a:ext cx="3493599" cy="194862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5704904" y="1658767"/>
            <a:ext cx="3335185" cy="1722671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5"/>
          <p:cNvSpPr/>
          <p:nvPr/>
        </p:nvSpPr>
        <p:spPr>
          <a:xfrm>
            <a:off x="974491" y="4639341"/>
            <a:ext cx="4572000" cy="659892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SELECT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MAX(ID) As "Last ID"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FROM book;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9017" y="4590291"/>
            <a:ext cx="3493599" cy="1948621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/>
          <p:nvPr/>
        </p:nvSpPr>
        <p:spPr>
          <a:xfrm>
            <a:off x="5704904" y="4816241"/>
            <a:ext cx="358878" cy="1722671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9" name="Google Shape;509;p45"/>
          <p:cNvGraphicFramePr/>
          <p:nvPr/>
        </p:nvGraphicFramePr>
        <p:xfrm>
          <a:off x="1067930" y="56656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{09022F8C-F172-4872-825A-E92CF139EEE7}</a:tableStyleId>
              </a:tblPr>
              <a:tblGrid>
                <a:gridCol w="1391700"/>
              </a:tblGrid>
              <a:tr h="25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lt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Last ID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chemeClr val="dk1"/>
                    </a:solidFill>
                  </a:tcPr>
                </a:tc>
              </a:tr>
              <a:tr h="258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Aggregate Queries: Grouping</a:t>
            </a:r>
            <a:endParaRPr/>
          </a:p>
        </p:txBody>
      </p:sp>
      <p:sp>
        <p:nvSpPr>
          <p:cNvPr id="516" name="Google Shape;516;p47"/>
          <p:cNvSpPr txBox="1"/>
          <p:nvPr>
            <p:ph idx="1" type="body"/>
          </p:nvPr>
        </p:nvSpPr>
        <p:spPr>
          <a:xfrm>
            <a:off x="457200" y="1935480"/>
            <a:ext cx="5338936" cy="492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▪"/>
            </a:pPr>
            <a:r>
              <a:rPr lang="en-US" sz="2800"/>
              <a:t>Find the number of books borrowed by each student.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Font typeface="Noto Sans Symbols"/>
              <a:buChar char="▪"/>
            </a:pPr>
            <a:r>
              <a:rPr lang="en-US" sz="2800"/>
              <a:t>The GROUP BY clause creates groups before applying the aggregation. function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t/>
            </a:r>
            <a:endParaRPr sz="1800"/>
          </a:p>
        </p:txBody>
      </p:sp>
      <p:sp>
        <p:nvSpPr>
          <p:cNvPr id="517" name="Google Shape;517;p47"/>
          <p:cNvSpPr/>
          <p:nvPr/>
        </p:nvSpPr>
        <p:spPr>
          <a:xfrm>
            <a:off x="827583" y="3029339"/>
            <a:ext cx="7072407" cy="1298111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BorrowerID, COUNT(*)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Loan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GROUP BY BorrowerID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Aggregate Queries: Condition</a:t>
            </a:r>
            <a:endParaRPr/>
          </a:p>
        </p:txBody>
      </p:sp>
      <p:sp>
        <p:nvSpPr>
          <p:cNvPr id="524" name="Google Shape;524;p48"/>
          <p:cNvSpPr txBox="1"/>
          <p:nvPr>
            <p:ph idx="1" type="body"/>
          </p:nvPr>
        </p:nvSpPr>
        <p:spPr>
          <a:xfrm>
            <a:off x="457200" y="1935480"/>
            <a:ext cx="8229600" cy="4589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▪"/>
            </a:pPr>
            <a:r>
              <a:rPr lang="en-US" sz="2800"/>
              <a:t>Find the name of students who borrowed more than one book.</a:t>
            </a:r>
            <a:endParaRPr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457200" lvl="0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Font typeface="Noto Sans Symbols"/>
              <a:buChar char="▪"/>
            </a:pPr>
            <a:r>
              <a:rPr lang="en-US" sz="2800"/>
              <a:t>The HAVING clause specifies conditions on groups.</a:t>
            </a:r>
            <a:endParaRPr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274320" lvl="0" marL="2743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5" name="Google Shape;525;p48"/>
          <p:cNvSpPr txBox="1"/>
          <p:nvPr>
            <p:ph idx="4294967295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rPr>
              <a:t>‹#›</a:t>
            </a:fld>
            <a:endParaRPr sz="1200">
              <a:solidFill>
                <a:srgbClr val="035C75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526" name="Google Shape;526;p48"/>
          <p:cNvSpPr/>
          <p:nvPr/>
        </p:nvSpPr>
        <p:spPr>
          <a:xfrm>
            <a:off x="805418" y="2973112"/>
            <a:ext cx="8229600" cy="2037801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Borrower.FirstName, COUNT(*) AS NumBorrowed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Loan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INNER JOIN Borrower ON Loan.BorrowerID = Borrower.ID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GROUP BY BorrowerID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HAVING NumBorrowed &gt; 1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Using Outer Joins</a:t>
            </a:r>
            <a:endParaRPr/>
          </a:p>
        </p:txBody>
      </p:sp>
      <p:sp>
        <p:nvSpPr>
          <p:cNvPr id="533" name="Google Shape;533;p17"/>
          <p:cNvSpPr txBox="1"/>
          <p:nvPr>
            <p:ph idx="1" type="body"/>
          </p:nvPr>
        </p:nvSpPr>
        <p:spPr>
          <a:xfrm>
            <a:off x="457200" y="1935480"/>
            <a:ext cx="8229600" cy="4589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▪"/>
            </a:pPr>
            <a:r>
              <a:rPr lang="en-US" sz="2800"/>
              <a:t>Find the name of students who did not borrow any books</a:t>
            </a:r>
            <a:endParaRPr sz="2800"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105410" lvl="0" marL="27432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None/>
            </a:pPr>
            <a:r>
              <a:t/>
            </a:r>
            <a:endParaRPr sz="2800"/>
          </a:p>
          <a:p>
            <a:pPr indent="-274320" lvl="0" marL="2743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Font typeface="Constantia"/>
              <a:buNone/>
            </a:pPr>
            <a:r>
              <a:t/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4" name="Google Shape;534;p17"/>
          <p:cNvSpPr txBox="1"/>
          <p:nvPr>
            <p:ph idx="4294967295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rPr>
              <a:t>‹#›</a:t>
            </a:fld>
            <a:endParaRPr sz="1200">
              <a:solidFill>
                <a:srgbClr val="035C75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805418" y="2973112"/>
            <a:ext cx="8229600" cy="2037801"/>
          </a:xfrm>
          <a:prstGeom prst="rect">
            <a:avLst/>
          </a:prstGeom>
          <a:solidFill>
            <a:srgbClr val="FFFFCC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08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SELECT Borrower.FirstName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Borrower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LEFT OUTER JOIN Loan ON Borrower.ID = Loan.BorrowerID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WHERE Loan.BookID is Null</a:t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2015-06-23T07:47:34Z</dcterms:created>
  <dc:creator>Zhao Jin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fb06199-574a-4a73-a110-6e35d3b9f147_Enabled">
    <vt:lpwstr>true</vt:lpwstr>
  </property>
  <property fmtid="{D5CDD505-2E9C-101B-9397-08002B2CF9AE}" pid="3" name="MSIP_Label_5fb06199-574a-4a73-a110-6e35d3b9f147_SetDate">
    <vt:lpwstr>2024-07-02T00:50:03Z</vt:lpwstr>
  </property>
  <property fmtid="{D5CDD505-2E9C-101B-9397-08002B2CF9AE}" pid="4" name="MSIP_Label_5fb06199-574a-4a73-a110-6e35d3b9f147_Method">
    <vt:lpwstr>Privileged</vt:lpwstr>
  </property>
  <property fmtid="{D5CDD505-2E9C-101B-9397-08002B2CF9AE}" pid="5" name="MSIP_Label_5fb06199-574a-4a73-a110-6e35d3b9f147_Name">
    <vt:lpwstr>OFFICIAL (OPEN)</vt:lpwstr>
  </property>
  <property fmtid="{D5CDD505-2E9C-101B-9397-08002B2CF9AE}" pid="6" name="MSIP_Label_5fb06199-574a-4a73-a110-6e35d3b9f147_SiteId">
    <vt:lpwstr>6590cdd4-8337-4198-bacc-47645c4a4d4d</vt:lpwstr>
  </property>
  <property fmtid="{D5CDD505-2E9C-101B-9397-08002B2CF9AE}" pid="7" name="MSIP_Label_5fb06199-574a-4a73-a110-6e35d3b9f147_ActionId">
    <vt:lpwstr>a8fbdfca-b5fc-4943-a2c1-236d0cbc3fe3</vt:lpwstr>
  </property>
  <property fmtid="{D5CDD505-2E9C-101B-9397-08002B2CF9AE}" pid="8" name="MSIP_Label_5fb06199-574a-4a73-a110-6e35d3b9f147_ContentBits">
    <vt:lpwstr>0</vt:lpwstr>
  </property>
</Properties>
</file>