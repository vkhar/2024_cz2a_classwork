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9.bin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0.bin"/>
  <Override ContentType="application/vnd.openxmlformats-officedocument.oleObject" PartName="/ppt/embeddings/oleObject1.bin"/>
  <Override ContentType="application/vnd.openxmlformats-officedocument.oleObject" PartName="/ppt/embeddings/oleObject8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Tahoma"/>
      <p:regular r:id="rId22"/>
      <p:bold r:id="rId23"/>
    </p:embeddedFont>
    <p:embeddedFont>
      <p:font typeface="Arial Black"/>
      <p:regular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hGaBFrnsGVe+yZEZ2/dNQcT8r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339463-E79F-485F-BF29-65AE2DB63460}">
  <a:tblStyle styleId="{0C339463-E79F-485F-BF29-65AE2DB6346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Tahoma-regular.fntdata"/><Relationship Id="rId21" Type="http://schemas.openxmlformats.org/officeDocument/2006/relationships/slide" Target="slides/slide15.xml"/><Relationship Id="rId24" Type="http://schemas.openxmlformats.org/officeDocument/2006/relationships/font" Target="fonts/ArialBlack-regular.fntdata"/><Relationship Id="rId23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9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9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SG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SG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SG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SG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/>
              <a:t>Shared Bus Topology can be implemented by a Hub or a Wireless Access Point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/>
              <a:t>Collision Domain is created in a shared media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SG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ontent" type="fourObj">
  <p:cSld name="FOUR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541867" y="152400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609600" y="1371600"/>
            <a:ext cx="10905067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9pPr>
          </a:lstStyle>
          <a:p/>
        </p:txBody>
      </p:sp>
      <p:sp>
        <p:nvSpPr>
          <p:cNvPr id="109" name="Google Shape;109;p31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1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2"/>
          <p:cNvSpPr txBox="1"/>
          <p:nvPr>
            <p:ph type="title"/>
          </p:nvPr>
        </p:nvSpPr>
        <p:spPr>
          <a:xfrm>
            <a:off x="541867" y="152400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2"/>
          <p:cNvSpPr txBox="1"/>
          <p:nvPr>
            <p:ph idx="1" type="body"/>
          </p:nvPr>
        </p:nvSpPr>
        <p:spPr>
          <a:xfrm>
            <a:off x="609600" y="1371600"/>
            <a:ext cx="5350933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ahoma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ahoma"/>
              <a:buChar char="—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9pPr>
          </a:lstStyle>
          <a:p/>
        </p:txBody>
      </p:sp>
      <p:sp>
        <p:nvSpPr>
          <p:cNvPr id="115" name="Google Shape;115;p32"/>
          <p:cNvSpPr txBox="1"/>
          <p:nvPr>
            <p:ph idx="2" type="body"/>
          </p:nvPr>
        </p:nvSpPr>
        <p:spPr>
          <a:xfrm>
            <a:off x="6163734" y="1371600"/>
            <a:ext cx="5350933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ahoma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ahoma"/>
              <a:buChar char="—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9pPr>
          </a:lstStyle>
          <a:p/>
        </p:txBody>
      </p:sp>
      <p:sp>
        <p:nvSpPr>
          <p:cNvPr id="116" name="Google Shape;116;p32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2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ahoma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9pPr>
          </a:lstStyle>
          <a:p/>
        </p:txBody>
      </p:sp>
      <p:sp>
        <p:nvSpPr>
          <p:cNvPr id="122" name="Google Shape;122;p3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ahoma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—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9pPr>
          </a:lstStyle>
          <a:p/>
        </p:txBody>
      </p:sp>
      <p:sp>
        <p:nvSpPr>
          <p:cNvPr id="123" name="Google Shape;123;p3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ahoma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b="1" sz="1600"/>
            </a:lvl9pPr>
          </a:lstStyle>
          <a:p/>
        </p:txBody>
      </p:sp>
      <p:sp>
        <p:nvSpPr>
          <p:cNvPr id="124" name="Google Shape;124;p3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ahoma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—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Tahoma"/>
              <a:buChar char="•"/>
              <a:defRPr sz="1600"/>
            </a:lvl9pPr>
          </a:lstStyle>
          <a:p/>
        </p:txBody>
      </p:sp>
      <p:sp>
        <p:nvSpPr>
          <p:cNvPr id="125" name="Google Shape;125;p33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3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4"/>
          <p:cNvSpPr txBox="1"/>
          <p:nvPr>
            <p:ph type="title"/>
          </p:nvPr>
        </p:nvSpPr>
        <p:spPr>
          <a:xfrm>
            <a:off x="541867" y="152400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Tahoma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ahoma"/>
              <a:buChar char="—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ahoma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  <a:defRPr sz="2000"/>
            </a:lvl9pPr>
          </a:lstStyle>
          <a:p/>
        </p:txBody>
      </p:sp>
      <p:sp>
        <p:nvSpPr>
          <p:cNvPr id="140" name="Google Shape;140;p36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ahoma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Tahoma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9pPr>
          </a:lstStyle>
          <a:p/>
        </p:txBody>
      </p:sp>
      <p:sp>
        <p:nvSpPr>
          <p:cNvPr id="141" name="Google Shape;141;p36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ahoma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Tahoma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ahoma"/>
              <a:buNone/>
              <a:defRPr sz="900"/>
            </a:lvl9pPr>
          </a:lstStyle>
          <a:p/>
        </p:txBody>
      </p:sp>
      <p:sp>
        <p:nvSpPr>
          <p:cNvPr id="148" name="Google Shape;148;p37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8"/>
          <p:cNvSpPr txBox="1"/>
          <p:nvPr>
            <p:ph type="title"/>
          </p:nvPr>
        </p:nvSpPr>
        <p:spPr>
          <a:xfrm>
            <a:off x="541867" y="152400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1" type="body"/>
          </p:nvPr>
        </p:nvSpPr>
        <p:spPr>
          <a:xfrm rot="5400000">
            <a:off x="3718984" y="-1737783"/>
            <a:ext cx="4686300" cy="10905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垂直排列标题与文本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 txBox="1"/>
          <p:nvPr>
            <p:ph type="title"/>
          </p:nvPr>
        </p:nvSpPr>
        <p:spPr>
          <a:xfrm rot="5400000">
            <a:off x="7190317" y="1733550"/>
            <a:ext cx="5905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9"/>
          <p:cNvSpPr txBox="1"/>
          <p:nvPr>
            <p:ph idx="1" type="body"/>
          </p:nvPr>
        </p:nvSpPr>
        <p:spPr>
          <a:xfrm rot="5400000">
            <a:off x="1602317" y="-908050"/>
            <a:ext cx="5905500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39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9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9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541867" y="152400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609600" y="1371600"/>
            <a:ext cx="10905067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ahoma"/>
              <a:buChar char="•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ahoma"/>
              <a:buChar char="—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ahoma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ahoma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ahoma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ahoma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ahoma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575733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4165600" y="622935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  <p:cxnSp>
        <p:nvCxnSpPr>
          <p:cNvPr id="99" name="Google Shape;99;p20"/>
          <p:cNvCxnSpPr/>
          <p:nvPr/>
        </p:nvCxnSpPr>
        <p:spPr>
          <a:xfrm>
            <a:off x="609600" y="1295400"/>
            <a:ext cx="10871200" cy="0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8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6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8.png"/><Relationship Id="rId7" Type="http://schemas.openxmlformats.org/officeDocument/2006/relationships/oleObject" Target="../embeddings/oleObject5.bin"/><Relationship Id="rId8" Type="http://schemas.openxmlformats.org/officeDocument/2006/relationships/oleObject" Target="../embeddings/oleObject5.bin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10.bin"/><Relationship Id="rId10" Type="http://schemas.openxmlformats.org/officeDocument/2006/relationships/oleObject" Target="../embeddings/oleObject9.bin"/><Relationship Id="rId12" Type="http://schemas.openxmlformats.org/officeDocument/2006/relationships/oleObject" Target="../embeddings/oleObject10.bin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9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8.png"/><Relationship Id="rId7" Type="http://schemas.openxmlformats.org/officeDocument/2006/relationships/oleObject" Target="../embeddings/oleObject8.bin"/><Relationship Id="rId8" Type="http://schemas.openxmlformats.org/officeDocument/2006/relationships/oleObject" Target="../embeddings/oleObject8.bin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Bit Rate vs Baud (Signal) Rate vs Bandwidth</a:t>
            </a:r>
            <a:endParaRPr/>
          </a:p>
        </p:txBody>
      </p:sp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838200" y="1825625"/>
            <a:ext cx="7814187" cy="3503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SG"/>
              <a:t>How do you measure the speed of a communication link 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SG"/>
              <a:t>km/s 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9" name="Google Shape;169;p1"/>
          <p:cNvSpPr txBox="1"/>
          <p:nvPr/>
        </p:nvSpPr>
        <p:spPr>
          <a:xfrm>
            <a:off x="6847840" y="0"/>
            <a:ext cx="5344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SG" sz="4000" u="none" cap="none" strike="noStrike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rPr>
              <a:t>PHYSICAL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/>
          <p:nvPr/>
        </p:nvSpPr>
        <p:spPr>
          <a:xfrm>
            <a:off x="6847840" y="0"/>
            <a:ext cx="5344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SG" sz="4000" u="none" cap="none" strike="noStrike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rPr>
              <a:t>PHYSICAL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 txBox="1"/>
          <p:nvPr/>
        </p:nvSpPr>
        <p:spPr>
          <a:xfrm>
            <a:off x="929852" y="245415"/>
            <a:ext cx="65010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order to send 1 BIT of data, a signal must have 2 level, eg +2V,0V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2"/>
          <p:cNvCxnSpPr/>
          <p:nvPr/>
        </p:nvCxnSpPr>
        <p:spPr>
          <a:xfrm>
            <a:off x="929852" y="2363239"/>
            <a:ext cx="764387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8" name="Google Shape;178;p2"/>
          <p:cNvSpPr/>
          <p:nvPr/>
        </p:nvSpPr>
        <p:spPr>
          <a:xfrm>
            <a:off x="922847" y="1071767"/>
            <a:ext cx="639119" cy="1291472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2"/>
          <p:cNvCxnSpPr/>
          <p:nvPr/>
        </p:nvCxnSpPr>
        <p:spPr>
          <a:xfrm rot="10800000">
            <a:off x="931409" y="614747"/>
            <a:ext cx="0" cy="174849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0" name="Google Shape;180;p2"/>
          <p:cNvSpPr txBox="1"/>
          <p:nvPr/>
        </p:nvSpPr>
        <p:spPr>
          <a:xfrm>
            <a:off x="381304" y="887101"/>
            <a:ext cx="5485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1568971" y="1071767"/>
            <a:ext cx="639119" cy="1291472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3448972" y="1048906"/>
            <a:ext cx="639119" cy="1291472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"/>
          <p:cNvSpPr txBox="1"/>
          <p:nvPr/>
        </p:nvSpPr>
        <p:spPr>
          <a:xfrm>
            <a:off x="355713" y="2132853"/>
            <a:ext cx="433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2"/>
          <p:cNvGrpSpPr/>
          <p:nvPr/>
        </p:nvGrpSpPr>
        <p:grpSpPr>
          <a:xfrm>
            <a:off x="374299" y="2967673"/>
            <a:ext cx="8199430" cy="1864677"/>
            <a:chOff x="374299" y="2967673"/>
            <a:chExt cx="8199430" cy="1864677"/>
          </a:xfrm>
        </p:grpSpPr>
        <p:cxnSp>
          <p:nvCxnSpPr>
            <p:cNvPr id="185" name="Google Shape;185;p2"/>
            <p:cNvCxnSpPr/>
            <p:nvPr/>
          </p:nvCxnSpPr>
          <p:spPr>
            <a:xfrm flipH="1" rot="10800000">
              <a:off x="922847" y="4716164"/>
              <a:ext cx="7650882" cy="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6" name="Google Shape;186;p2"/>
            <p:cNvCxnSpPr/>
            <p:nvPr/>
          </p:nvCxnSpPr>
          <p:spPr>
            <a:xfrm rot="10800000">
              <a:off x="924404" y="2967673"/>
              <a:ext cx="0" cy="174849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7" name="Google Shape;187;p2"/>
            <p:cNvSpPr txBox="1"/>
            <p:nvPr/>
          </p:nvSpPr>
          <p:spPr>
            <a:xfrm>
              <a:off x="374299" y="3240027"/>
              <a:ext cx="5485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+3V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561966" y="4223442"/>
              <a:ext cx="639119" cy="492722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2215095" y="3861108"/>
              <a:ext cx="639119" cy="863157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"/>
            <p:cNvSpPr txBox="1"/>
            <p:nvPr/>
          </p:nvSpPr>
          <p:spPr>
            <a:xfrm>
              <a:off x="475705" y="4463018"/>
              <a:ext cx="4331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 txBox="1"/>
            <p:nvPr/>
          </p:nvSpPr>
          <p:spPr>
            <a:xfrm>
              <a:off x="381304" y="3678236"/>
              <a:ext cx="5485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+2V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381304" y="4093686"/>
              <a:ext cx="5485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+1V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2861219" y="3429000"/>
              <a:ext cx="639119" cy="128911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2"/>
          <p:cNvSpPr txBox="1"/>
          <p:nvPr/>
        </p:nvSpPr>
        <p:spPr>
          <a:xfrm>
            <a:off x="3497541" y="1105343"/>
            <a:ext cx="3016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SG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"/>
          <p:cNvSpPr txBox="1"/>
          <p:nvPr/>
        </p:nvSpPr>
        <p:spPr>
          <a:xfrm>
            <a:off x="2297791" y="1126889"/>
            <a:ext cx="3016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SG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"/>
          <p:cNvSpPr txBox="1"/>
          <p:nvPr/>
        </p:nvSpPr>
        <p:spPr>
          <a:xfrm>
            <a:off x="1614829" y="1127269"/>
            <a:ext cx="3016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SG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2892302" y="1126889"/>
            <a:ext cx="3016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SG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"/>
          <p:cNvSpPr txBox="1"/>
          <p:nvPr/>
        </p:nvSpPr>
        <p:spPr>
          <a:xfrm>
            <a:off x="950471" y="1124635"/>
            <a:ext cx="3016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SG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"/>
          <p:cNvSpPr txBox="1"/>
          <p:nvPr/>
        </p:nvSpPr>
        <p:spPr>
          <a:xfrm>
            <a:off x="1029981" y="4324155"/>
            <a:ext cx="4443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"/>
          <p:cNvSpPr txBox="1"/>
          <p:nvPr/>
        </p:nvSpPr>
        <p:spPr>
          <a:xfrm>
            <a:off x="1659349" y="3910801"/>
            <a:ext cx="4443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"/>
          <p:cNvSpPr txBox="1"/>
          <p:nvPr/>
        </p:nvSpPr>
        <p:spPr>
          <a:xfrm>
            <a:off x="2312478" y="3510691"/>
            <a:ext cx="4443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"/>
          <p:cNvSpPr txBox="1"/>
          <p:nvPr/>
        </p:nvSpPr>
        <p:spPr>
          <a:xfrm>
            <a:off x="2958602" y="3110703"/>
            <a:ext cx="4443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 txBox="1"/>
          <p:nvPr/>
        </p:nvSpPr>
        <p:spPr>
          <a:xfrm>
            <a:off x="572278" y="5348488"/>
            <a:ext cx="11619721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943" l="-836" r="0" t="-105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resenting a digital signal using sine waves with fourier transform" id="204" name="Google Shape;2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9020" y="668277"/>
            <a:ext cx="25717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Bit Rate of a torch light communication link</a:t>
            </a:r>
            <a:endParaRPr/>
          </a:p>
        </p:txBody>
      </p:sp>
      <p:sp>
        <p:nvSpPr>
          <p:cNvPr id="210" name="Google Shape;210;p3"/>
          <p:cNvSpPr txBox="1"/>
          <p:nvPr>
            <p:ph idx="1" type="body"/>
          </p:nvPr>
        </p:nvSpPr>
        <p:spPr>
          <a:xfrm>
            <a:off x="838201" y="1825625"/>
            <a:ext cx="6720068" cy="350345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629" r="-814" t="-27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SG"/>
              <a:t> </a:t>
            </a:r>
            <a:endParaRPr/>
          </a:p>
        </p:txBody>
      </p:sp>
      <p:sp>
        <p:nvSpPr>
          <p:cNvPr id="211" name="Google Shape;211;p3"/>
          <p:cNvSpPr txBox="1"/>
          <p:nvPr/>
        </p:nvSpPr>
        <p:spPr>
          <a:xfrm>
            <a:off x="6847840" y="0"/>
            <a:ext cx="5344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SG" sz="4000" u="none" cap="none" strike="noStrike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rPr>
              <a:t>PHYSICAL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p3"/>
          <p:cNvGraphicFramePr/>
          <p:nvPr/>
        </p:nvGraphicFramePr>
        <p:xfrm>
          <a:off x="8345346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{0C339463-E79F-485F-BF29-65AE2DB63460}</a:tableStyleId>
              </a:tblPr>
              <a:tblGrid>
                <a:gridCol w="768425"/>
                <a:gridCol w="768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000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001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100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833C0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101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0033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"/>
          <p:cNvSpPr txBox="1"/>
          <p:nvPr>
            <p:ph idx="4294967295" type="title"/>
          </p:nvPr>
        </p:nvSpPr>
        <p:spPr>
          <a:xfrm>
            <a:off x="711200" y="34081"/>
            <a:ext cx="11480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Bandwidth</a:t>
            </a:r>
            <a:endParaRPr/>
          </a:p>
        </p:txBody>
      </p:sp>
      <p:sp>
        <p:nvSpPr>
          <p:cNvPr id="218" name="Google Shape;218;p4"/>
          <p:cNvSpPr txBox="1"/>
          <p:nvPr>
            <p:ph idx="4294967295" type="body"/>
          </p:nvPr>
        </p:nvSpPr>
        <p:spPr>
          <a:xfrm>
            <a:off x="249084" y="2220494"/>
            <a:ext cx="5084916" cy="22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1" marL="795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SG"/>
              <a:t>Maximum Capacity of a media to carry data</a:t>
            </a:r>
            <a:endParaRPr/>
          </a:p>
          <a:p>
            <a:pPr indent="-457200" lvl="1" marL="7953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SG"/>
              <a:t>dependent on the physical characteristics of the media like:</a:t>
            </a:r>
            <a:endParaRPr/>
          </a:p>
          <a:p>
            <a:pPr indent="-457200" lvl="2" marL="113347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SG"/>
              <a:t>range of frequencies</a:t>
            </a:r>
            <a:endParaRPr/>
          </a:p>
          <a:p>
            <a:pPr indent="-457200" lvl="2" marL="113347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SG"/>
              <a:t>amplitude levels</a:t>
            </a:r>
            <a:endParaRPr/>
          </a:p>
        </p:txBody>
      </p:sp>
      <p:pic>
        <p:nvPicPr>
          <p:cNvPr id="219" name="Google Shape;2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8048" y="-35369"/>
            <a:ext cx="6368130" cy="437219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"/>
          <p:cNvSpPr txBox="1"/>
          <p:nvPr/>
        </p:nvSpPr>
        <p:spPr>
          <a:xfrm>
            <a:off x="815247" y="743166"/>
            <a:ext cx="375675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definition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Physics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Data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Hz or bps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543650" y="4332210"/>
            <a:ext cx="10676400" cy="2985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54" r="0" t="-16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683" y="1071716"/>
            <a:ext cx="5521182" cy="519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 txBox="1"/>
          <p:nvPr>
            <p:ph idx="1" type="body"/>
          </p:nvPr>
        </p:nvSpPr>
        <p:spPr>
          <a:xfrm>
            <a:off x="839788" y="773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SG" sz="4000"/>
              <a:t>WIFI</a:t>
            </a:r>
            <a:endParaRPr/>
          </a:p>
        </p:txBody>
      </p:sp>
      <p:sp>
        <p:nvSpPr>
          <p:cNvPr id="228" name="Google Shape;228;p5"/>
          <p:cNvSpPr txBox="1"/>
          <p:nvPr>
            <p:ph idx="3" type="body"/>
          </p:nvPr>
        </p:nvSpPr>
        <p:spPr>
          <a:xfrm>
            <a:off x="6427839" y="8593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SG" sz="4000"/>
              <a:t>Cellular/Mobile</a:t>
            </a:r>
            <a:endParaRPr/>
          </a:p>
        </p:txBody>
      </p:sp>
      <p:pic>
        <p:nvPicPr>
          <p:cNvPr id="229" name="Google Shape;2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7839" y="2014537"/>
            <a:ext cx="5572549" cy="3108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" name="Google Shape;235;p6"/>
          <p:cNvCxnSpPr/>
          <p:nvPr/>
        </p:nvCxnSpPr>
        <p:spPr>
          <a:xfrm>
            <a:off x="648421" y="5982929"/>
            <a:ext cx="56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36" name="Google Shape;236;p6"/>
          <p:cNvGrpSpPr/>
          <p:nvPr/>
        </p:nvGrpSpPr>
        <p:grpSpPr>
          <a:xfrm>
            <a:off x="648421" y="5117128"/>
            <a:ext cx="2212019" cy="634512"/>
            <a:chOff x="39570" y="3478501"/>
            <a:chExt cx="2212019" cy="634512"/>
          </a:xfrm>
        </p:grpSpPr>
        <p:sp>
          <p:nvSpPr>
            <p:cNvPr id="237" name="Google Shape;237;p6"/>
            <p:cNvSpPr/>
            <p:nvPr/>
          </p:nvSpPr>
          <p:spPr>
            <a:xfrm>
              <a:off x="39570" y="3478501"/>
              <a:ext cx="2212018" cy="36933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LAYER 2 PAYLOAD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"/>
            <p:cNvSpPr txBox="1"/>
            <p:nvPr/>
          </p:nvSpPr>
          <p:spPr>
            <a:xfrm>
              <a:off x="39571" y="3836014"/>
              <a:ext cx="221201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1101010100011011001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6"/>
          <p:cNvSpPr txBox="1"/>
          <p:nvPr/>
        </p:nvSpPr>
        <p:spPr>
          <a:xfrm>
            <a:off x="6193355" y="4741802"/>
            <a:ext cx="230435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rPr>
              <a:t>LAYER 2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" name="Google Shape;240;p6"/>
          <p:cNvGrpSpPr/>
          <p:nvPr/>
        </p:nvGrpSpPr>
        <p:grpSpPr>
          <a:xfrm>
            <a:off x="2860439" y="4767393"/>
            <a:ext cx="3545609" cy="988286"/>
            <a:chOff x="2251588" y="3128766"/>
            <a:chExt cx="3545609" cy="988286"/>
          </a:xfrm>
        </p:grpSpPr>
        <p:sp>
          <p:nvSpPr>
            <p:cNvPr id="241" name="Google Shape;241;p6"/>
            <p:cNvSpPr/>
            <p:nvPr/>
          </p:nvSpPr>
          <p:spPr>
            <a:xfrm>
              <a:off x="2251588" y="3128766"/>
              <a:ext cx="3302512" cy="699470"/>
            </a:xfrm>
            <a:prstGeom prst="rect">
              <a:avLst/>
            </a:prstGeom>
            <a:solidFill>
              <a:srgbClr val="B3C6E7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Layer 2 Header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4095001" y="3489412"/>
              <a:ext cx="1459100" cy="369332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C0C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 txBox="1"/>
            <p:nvPr/>
          </p:nvSpPr>
          <p:spPr>
            <a:xfrm>
              <a:off x="2251588" y="3840053"/>
              <a:ext cx="35456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11001010011101010101010101010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3301967" y="3490110"/>
              <a:ext cx="793033" cy="369332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 txBox="1"/>
            <p:nvPr/>
          </p:nvSpPr>
          <p:spPr>
            <a:xfrm>
              <a:off x="2251588" y="3490318"/>
              <a:ext cx="1050379" cy="369332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SRC/DST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6"/>
          <p:cNvSpPr txBox="1"/>
          <p:nvPr/>
        </p:nvSpPr>
        <p:spPr>
          <a:xfrm>
            <a:off x="6193356" y="5390147"/>
            <a:ext cx="230435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rPr>
              <a:t>LAYER 1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6847840" y="0"/>
            <a:ext cx="5344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SG" sz="4000" u="none" cap="none" strike="noStrike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rPr>
              <a:t>DATALINK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 txBox="1"/>
          <p:nvPr>
            <p:ph idx="1" type="body"/>
          </p:nvPr>
        </p:nvSpPr>
        <p:spPr>
          <a:xfrm>
            <a:off x="838200" y="776748"/>
            <a:ext cx="11039168" cy="3494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Need to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break data stream into chunks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add bits to indicate stat/stop of each chunk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error detection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Need to indicate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who you are transmitting 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who you are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uses MAC Address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Broadcast vs Unicast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SG"/>
              <a:t>Network Contention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838199" y="4120587"/>
            <a:ext cx="1789254" cy="646805"/>
          </a:xfrm>
          <a:prstGeom prst="wedgeRectCallout">
            <a:avLst>
              <a:gd fmla="val -7367" name="adj1"/>
              <a:gd fmla="val 107237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G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 down by Network,Transport and App layers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/>
          <p:cNvSpPr txBox="1"/>
          <p:nvPr/>
        </p:nvSpPr>
        <p:spPr>
          <a:xfrm>
            <a:off x="6847840" y="0"/>
            <a:ext cx="53441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SG" sz="4000" u="none" cap="none" strike="noStrike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rPr>
              <a:t>DATALINK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SG"/>
              <a:t>Even Parity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SG"/>
              <a:t>Number of 1s must be even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SG"/>
              <a:t>Odd Parity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SG"/>
              <a:t>Number of 1s must be odd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57" name="Google Shape;257;p7"/>
          <p:cNvGraphicFramePr/>
          <p:nvPr/>
        </p:nvGraphicFramePr>
        <p:xfrm>
          <a:off x="747251" y="278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{0C339463-E79F-485F-BF29-65AE2DB63460}</a:tableStyleId>
              </a:tblPr>
              <a:tblGrid>
                <a:gridCol w="528900"/>
                <a:gridCol w="528900"/>
                <a:gridCol w="528900"/>
                <a:gridCol w="528900"/>
                <a:gridCol w="528900"/>
                <a:gridCol w="528900"/>
                <a:gridCol w="528900"/>
                <a:gridCol w="528900"/>
              </a:tblGrid>
              <a:tr h="50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SG" sz="20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58" name="Google Shape;258;p7"/>
          <p:cNvGraphicFramePr/>
          <p:nvPr/>
        </p:nvGraphicFramePr>
        <p:xfrm>
          <a:off x="747251" y="37432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{0C339463-E79F-485F-BF29-65AE2DB63460}</a:tableStyleId>
              </a:tblPr>
              <a:tblGrid>
                <a:gridCol w="528900"/>
                <a:gridCol w="528900"/>
                <a:gridCol w="528900"/>
                <a:gridCol w="528900"/>
                <a:gridCol w="528900"/>
                <a:gridCol w="528900"/>
                <a:gridCol w="528900"/>
                <a:gridCol w="528900"/>
              </a:tblGrid>
              <a:tr h="50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SG" sz="20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59" name="Google Shape;259;p7"/>
          <p:cNvGraphicFramePr/>
          <p:nvPr/>
        </p:nvGraphicFramePr>
        <p:xfrm>
          <a:off x="6268064" y="27819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{0C339463-E79F-485F-BF29-65AE2DB63460}</a:tableStyleId>
              </a:tblPr>
              <a:tblGrid>
                <a:gridCol w="528900"/>
                <a:gridCol w="528900"/>
                <a:gridCol w="528900"/>
                <a:gridCol w="528900"/>
                <a:gridCol w="528900"/>
                <a:gridCol w="528900"/>
                <a:gridCol w="528900"/>
                <a:gridCol w="528900"/>
              </a:tblGrid>
              <a:tr h="50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SG" sz="20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60" name="Google Shape;260;p7"/>
          <p:cNvGraphicFramePr/>
          <p:nvPr/>
        </p:nvGraphicFramePr>
        <p:xfrm>
          <a:off x="6268064" y="37432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{0C339463-E79F-485F-BF29-65AE2DB63460}</a:tableStyleId>
              </a:tblPr>
              <a:tblGrid>
                <a:gridCol w="528900"/>
                <a:gridCol w="528900"/>
                <a:gridCol w="528900"/>
                <a:gridCol w="528900"/>
                <a:gridCol w="528900"/>
                <a:gridCol w="528900"/>
                <a:gridCol w="528900"/>
                <a:gridCol w="528900"/>
              </a:tblGrid>
              <a:tr h="50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SG" sz="20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G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61" name="Google Shape;261;p7"/>
          <p:cNvSpPr txBox="1"/>
          <p:nvPr/>
        </p:nvSpPr>
        <p:spPr>
          <a:xfrm>
            <a:off x="2309104" y="323165"/>
            <a:ext cx="371069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SG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1556" y="0"/>
            <a:ext cx="7152657" cy="690786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 txBox="1"/>
          <p:nvPr/>
        </p:nvSpPr>
        <p:spPr>
          <a:xfrm>
            <a:off x="234498" y="0"/>
            <a:ext cx="385990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SG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SG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Checksum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G" sz="1400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5E5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 txBox="1"/>
          <p:nvPr>
            <p:ph type="title"/>
          </p:nvPr>
        </p:nvSpPr>
        <p:spPr>
          <a:xfrm>
            <a:off x="541867" y="152400"/>
            <a:ext cx="10938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/>
              <a:t>IEEE 802.3 Frame Format</a:t>
            </a:r>
            <a:endParaRPr/>
          </a:p>
        </p:txBody>
      </p:sp>
      <p:pic>
        <p:nvPicPr>
          <p:cNvPr id="275" name="Google Shape;275;p9"/>
          <p:cNvPicPr preferRelativeResize="0"/>
          <p:nvPr/>
        </p:nvPicPr>
        <p:blipFill rotWithShape="1">
          <a:blip r:embed="rId3">
            <a:alphaModFix/>
          </a:blip>
          <a:srcRect b="23317" l="0" r="0" t="0"/>
          <a:stretch/>
        </p:blipFill>
        <p:spPr>
          <a:xfrm>
            <a:off x="1600200" y="1676401"/>
            <a:ext cx="899160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 txBox="1"/>
          <p:nvPr/>
        </p:nvSpPr>
        <p:spPr>
          <a:xfrm>
            <a:off x="1676400" y="4343400"/>
            <a:ext cx="8763000" cy="224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Preamble: 7 octets of 10101010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SFD: 10101011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Length: the maximum frame size is 1518 octets, excluding the preamble and SFD.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Pad: octets added to ensure that the frame is long enough for collision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SG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FCS: 32-bit CRC, based on all fields except preamble, SFD, and FCS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7696200" y="2019300"/>
            <a:ext cx="304800" cy="3099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G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9010650" y="2019300"/>
            <a:ext cx="304800" cy="3099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G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type="title"/>
          </p:nvPr>
        </p:nvSpPr>
        <p:spPr>
          <a:xfrm>
            <a:off x="541867" y="152400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/>
              <a:t>Summary of Data Link Layer</a:t>
            </a:r>
            <a:endParaRPr/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609600" y="1371600"/>
            <a:ext cx="10905067" cy="531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SG"/>
              <a:t>The physical layer(media) provides the </a:t>
            </a:r>
            <a:r>
              <a:rPr b="1" lang="en-SG"/>
              <a:t>physical </a:t>
            </a:r>
            <a:r>
              <a:rPr lang="en-SG"/>
              <a:t>characteristics for data transmission.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</a:pPr>
            <a:r>
              <a:rPr lang="en-SG"/>
              <a:t>Encoding of bits (data) to signal. This is also known as modulation.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</a:pPr>
            <a:r>
              <a:rPr lang="en-SG"/>
              <a:t>The signal must be able to propagate from source to destination.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</a:pPr>
            <a:r>
              <a:rPr lang="en-SG"/>
              <a:t>Data rate, signaling rate, bandwidth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SG"/>
              <a:t>Additional functionality are needed provided by the Data Link layer software(firmware)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</a:pPr>
            <a:r>
              <a:rPr lang="en-SG"/>
              <a:t>Addressing for multi-point communication using </a:t>
            </a:r>
            <a:r>
              <a:rPr b="1" lang="en-SG"/>
              <a:t>mac-addresses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</a:pPr>
            <a:r>
              <a:rPr lang="en-SG"/>
              <a:t>Segmenting the payload to be transmitted into packets.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</a:pPr>
            <a:r>
              <a:rPr lang="en-SG"/>
              <a:t>Assembling the packets into the original payload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</a:pPr>
            <a:r>
              <a:rPr lang="en-SG"/>
              <a:t>Handling error detection/ retransmission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—"/>
            </a:pPr>
            <a:r>
              <a:rPr lang="en-SG"/>
              <a:t>Detecting and resolving data collision on shared media (Bus) networks.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G" sz="1400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5E5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 txBox="1"/>
          <p:nvPr>
            <p:ph type="title"/>
          </p:nvPr>
        </p:nvSpPr>
        <p:spPr>
          <a:xfrm>
            <a:off x="541867" y="152400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/>
              <a:t>Data Link on different physical network topology</a:t>
            </a:r>
            <a:endParaRPr/>
          </a:p>
        </p:txBody>
      </p:sp>
      <p:sp>
        <p:nvSpPr>
          <p:cNvPr id="293" name="Google Shape;293;p10"/>
          <p:cNvSpPr txBox="1"/>
          <p:nvPr/>
        </p:nvSpPr>
        <p:spPr>
          <a:xfrm>
            <a:off x="678426" y="1612490"/>
            <a:ext cx="17116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Bus</a:t>
            </a:r>
            <a:b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Wired/Wireless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5142355" y="1639832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2812025" y="1612490"/>
            <a:ext cx="715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3937819" y="1612490"/>
            <a:ext cx="6367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7" name="Google Shape;297;p10"/>
          <p:cNvGraphicFramePr/>
          <p:nvPr/>
        </p:nvGraphicFramePr>
        <p:xfrm>
          <a:off x="2715857" y="4367880"/>
          <a:ext cx="1622856" cy="1409888"/>
        </p:xfrm>
        <a:graphic>
          <a:graphicData uri="http://schemas.openxmlformats.org/presentationml/2006/ole">
            <mc:AlternateContent>
              <mc:Choice Requires="v">
                <p:oleObj r:id="rId4" imgH="1409888" imgW="1622856" progId="Visio.Drawing.11" spid="_x0000_s1">
                  <p:embed/>
                </p:oleObj>
              </mc:Choice>
              <mc:Fallback>
                <p:oleObj r:id="rId5" imgH="1409888" imgW="1622856" progId="Visio.Drawing.11">
                  <p:embed/>
                  <p:pic>
                    <p:nvPicPr>
                      <p:cNvPr id="297" name="Google Shape;297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715857" y="4367880"/>
                        <a:ext cx="1622856" cy="140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" name="Google Shape;298;p10"/>
          <p:cNvGraphicFramePr/>
          <p:nvPr/>
        </p:nvGraphicFramePr>
        <p:xfrm>
          <a:off x="4628444" y="2258821"/>
          <a:ext cx="1622856" cy="1409888"/>
        </p:xfrm>
        <a:graphic>
          <a:graphicData uri="http://schemas.openxmlformats.org/presentationml/2006/ole">
            <mc:AlternateContent>
              <mc:Choice Requires="v">
                <p:oleObj r:id="rId7" imgH="1409888" imgW="1622856" progId="Visio.Drawing.11" spid="_x0000_s2">
                  <p:embed/>
                </p:oleObj>
              </mc:Choice>
              <mc:Fallback>
                <p:oleObj r:id="rId8" imgH="1409888" imgW="1622856" progId="Visio.Drawing.11">
                  <p:embed/>
                  <p:pic>
                    <p:nvPicPr>
                      <p:cNvPr id="298" name="Google Shape;298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628444" y="2258821"/>
                        <a:ext cx="1622856" cy="140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" name="Google Shape;299;p10"/>
          <p:cNvGraphicFramePr/>
          <p:nvPr/>
        </p:nvGraphicFramePr>
        <p:xfrm>
          <a:off x="6798740" y="4292821"/>
          <a:ext cx="1622856" cy="1409888"/>
        </p:xfrm>
        <a:graphic>
          <a:graphicData uri="http://schemas.openxmlformats.org/presentationml/2006/ole">
            <mc:AlternateContent>
              <mc:Choice Requires="v">
                <p:oleObj r:id="rId9" imgH="1409888" imgW="1622856" progId="Visio.Drawing.11" spid="_x0000_s3">
                  <p:embed/>
                </p:oleObj>
              </mc:Choice>
              <mc:Fallback>
                <p:oleObj r:id="rId10" imgH="1409888" imgW="1622856" progId="Visio.Drawing.11">
                  <p:embed/>
                  <p:pic>
                    <p:nvPicPr>
                      <p:cNvPr id="299" name="Google Shape;299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798740" y="4292821"/>
                        <a:ext cx="1622856" cy="140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G" sz="1400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5E5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11"/>
          <p:cNvCxnSpPr/>
          <p:nvPr/>
        </p:nvCxnSpPr>
        <p:spPr>
          <a:xfrm>
            <a:off x="825910" y="4070555"/>
            <a:ext cx="10274709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07" name="Google Shape;307;p11"/>
          <p:cNvGraphicFramePr/>
          <p:nvPr/>
        </p:nvGraphicFramePr>
        <p:xfrm>
          <a:off x="677863" y="4146550"/>
          <a:ext cx="2516187" cy="2185988"/>
        </p:xfrm>
        <a:graphic>
          <a:graphicData uri="http://schemas.openxmlformats.org/presentationml/2006/ole">
            <mc:AlternateContent>
              <mc:Choice Requires="v">
                <p:oleObj r:id="rId4" imgH="2185988" imgW="2516187" progId="Visio.Drawing.11" spid="_x0000_s1">
                  <p:embed/>
                </p:oleObj>
              </mc:Choice>
              <mc:Fallback>
                <p:oleObj r:id="rId5" imgH="2185988" imgW="2516187" progId="Visio.Drawing.11">
                  <p:embed/>
                  <p:pic>
                    <p:nvPicPr>
                      <p:cNvPr id="307" name="Google Shape;307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77863" y="4146550"/>
                        <a:ext cx="2516187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" name="Google Shape;308;p11"/>
          <p:cNvGraphicFramePr/>
          <p:nvPr/>
        </p:nvGraphicFramePr>
        <p:xfrm>
          <a:off x="8201680" y="1167764"/>
          <a:ext cx="2516188" cy="2185988"/>
        </p:xfrm>
        <a:graphic>
          <a:graphicData uri="http://schemas.openxmlformats.org/presentationml/2006/ole">
            <mc:AlternateContent>
              <mc:Choice Requires="v">
                <p:oleObj r:id="rId7" imgH="2185988" imgW="2516188" progId="Visio.Drawing.11" spid="_x0000_s2">
                  <p:embed/>
                </p:oleObj>
              </mc:Choice>
              <mc:Fallback>
                <p:oleObj r:id="rId8" imgH="2185988" imgW="2516188" progId="Visio.Drawing.11">
                  <p:embed/>
                  <p:pic>
                    <p:nvPicPr>
                      <p:cNvPr id="308" name="Google Shape;308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201680" y="1167764"/>
                        <a:ext cx="2516188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" name="Google Shape;309;p11"/>
          <p:cNvSpPr txBox="1"/>
          <p:nvPr>
            <p:ph type="title"/>
          </p:nvPr>
        </p:nvSpPr>
        <p:spPr>
          <a:xfrm>
            <a:off x="541867" y="152400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/>
              <a:t>Data Link on Shared Bus Topology</a:t>
            </a:r>
            <a:endParaRPr/>
          </a:p>
        </p:txBody>
      </p:sp>
      <p:graphicFrame>
        <p:nvGraphicFramePr>
          <p:cNvPr id="310" name="Google Shape;310;p11"/>
          <p:cNvGraphicFramePr/>
          <p:nvPr/>
        </p:nvGraphicFramePr>
        <p:xfrm>
          <a:off x="2567759" y="1092159"/>
          <a:ext cx="2516188" cy="2185988"/>
        </p:xfrm>
        <a:graphic>
          <a:graphicData uri="http://schemas.openxmlformats.org/presentationml/2006/ole">
            <mc:AlternateContent>
              <mc:Choice Requires="v">
                <p:oleObj r:id="rId9" imgH="2185988" imgW="2516188" progId="Visio.Drawing.11" spid="_x0000_s3">
                  <p:embed/>
                </p:oleObj>
              </mc:Choice>
              <mc:Fallback>
                <p:oleObj r:id="rId10" imgH="2185988" imgW="2516188" progId="Visio.Drawing.11">
                  <p:embed/>
                  <p:pic>
                    <p:nvPicPr>
                      <p:cNvPr id="310" name="Google Shape;310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567759" y="1092159"/>
                        <a:ext cx="2516188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" name="Google Shape;311;p11"/>
          <p:cNvSpPr txBox="1"/>
          <p:nvPr/>
        </p:nvSpPr>
        <p:spPr>
          <a:xfrm>
            <a:off x="2064774" y="4121969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5009535" y="3497253"/>
            <a:ext cx="3209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8406580" y="3542265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3460936" y="4121969"/>
            <a:ext cx="4027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Wired / Wireless Shared Bus topology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11"/>
          <p:cNvGrpSpPr/>
          <p:nvPr/>
        </p:nvGrpSpPr>
        <p:grpSpPr>
          <a:xfrm>
            <a:off x="2246289" y="4306635"/>
            <a:ext cx="1214647" cy="1214010"/>
            <a:chOff x="3755829" y="5200075"/>
            <a:chExt cx="1552353" cy="1441665"/>
          </a:xfrm>
        </p:grpSpPr>
        <p:sp>
          <p:nvSpPr>
            <p:cNvPr id="316" name="Google Shape;316;p11"/>
            <p:cNvSpPr/>
            <p:nvPr/>
          </p:nvSpPr>
          <p:spPr>
            <a:xfrm>
              <a:off x="3755829" y="5200075"/>
              <a:ext cx="1552353" cy="1441665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17" name="Google Shape;317;p11"/>
            <p:cNvGrpSpPr/>
            <p:nvPr/>
          </p:nvGrpSpPr>
          <p:grpSpPr>
            <a:xfrm>
              <a:off x="3908230" y="5352476"/>
              <a:ext cx="1176670" cy="1119146"/>
              <a:chOff x="2853071" y="4643702"/>
              <a:chExt cx="1176670" cy="1119146"/>
            </a:xfrm>
          </p:grpSpPr>
          <p:sp>
            <p:nvSpPr>
              <p:cNvPr id="318" name="Google Shape;318;p11"/>
              <p:cNvSpPr/>
              <p:nvPr/>
            </p:nvSpPr>
            <p:spPr>
              <a:xfrm>
                <a:off x="2853071" y="4643702"/>
                <a:ext cx="1176670" cy="1119146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ahoma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9" name="Google Shape;319;p11"/>
              <p:cNvSpPr/>
              <p:nvPr/>
            </p:nvSpPr>
            <p:spPr>
              <a:xfrm>
                <a:off x="3005472" y="4796103"/>
                <a:ext cx="811616" cy="787579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ahoma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0" name="Google Shape;320;p11"/>
              <p:cNvSpPr/>
              <p:nvPr/>
            </p:nvSpPr>
            <p:spPr>
              <a:xfrm>
                <a:off x="3157872" y="4948503"/>
                <a:ext cx="503551" cy="389041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ahoma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21" name="Google Shape;321;p11"/>
          <p:cNvGrpSpPr/>
          <p:nvPr/>
        </p:nvGrpSpPr>
        <p:grpSpPr>
          <a:xfrm rot="6059854">
            <a:off x="4148112" y="1843804"/>
            <a:ext cx="1552353" cy="1441665"/>
            <a:chOff x="3755829" y="5200075"/>
            <a:chExt cx="1552353" cy="1441665"/>
          </a:xfrm>
        </p:grpSpPr>
        <p:sp>
          <p:nvSpPr>
            <p:cNvPr id="322" name="Google Shape;322;p11"/>
            <p:cNvSpPr/>
            <p:nvPr/>
          </p:nvSpPr>
          <p:spPr>
            <a:xfrm>
              <a:off x="3755829" y="5200075"/>
              <a:ext cx="1552353" cy="1441665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23" name="Google Shape;323;p11"/>
            <p:cNvGrpSpPr/>
            <p:nvPr/>
          </p:nvGrpSpPr>
          <p:grpSpPr>
            <a:xfrm>
              <a:off x="3908230" y="5352476"/>
              <a:ext cx="1176670" cy="1119146"/>
              <a:chOff x="2853071" y="4643702"/>
              <a:chExt cx="1176670" cy="1119146"/>
            </a:xfrm>
          </p:grpSpPr>
          <p:sp>
            <p:nvSpPr>
              <p:cNvPr id="324" name="Google Shape;324;p11"/>
              <p:cNvSpPr/>
              <p:nvPr/>
            </p:nvSpPr>
            <p:spPr>
              <a:xfrm>
                <a:off x="2853071" y="4643702"/>
                <a:ext cx="1176670" cy="1119146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ahoma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5" name="Google Shape;325;p11"/>
              <p:cNvSpPr/>
              <p:nvPr/>
            </p:nvSpPr>
            <p:spPr>
              <a:xfrm>
                <a:off x="3005472" y="4796103"/>
                <a:ext cx="811616" cy="787579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ahoma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6" name="Google Shape;326;p11"/>
              <p:cNvSpPr/>
              <p:nvPr/>
            </p:nvSpPr>
            <p:spPr>
              <a:xfrm>
                <a:off x="3157872" y="4948503"/>
                <a:ext cx="503551" cy="389041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ahoma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27" name="Google Shape;327;p11"/>
          <p:cNvGrpSpPr/>
          <p:nvPr/>
        </p:nvGrpSpPr>
        <p:grpSpPr>
          <a:xfrm rot="7872584">
            <a:off x="9133542" y="2378470"/>
            <a:ext cx="1552353" cy="1441665"/>
            <a:chOff x="3755829" y="5200075"/>
            <a:chExt cx="1552353" cy="1441665"/>
          </a:xfrm>
        </p:grpSpPr>
        <p:sp>
          <p:nvSpPr>
            <p:cNvPr id="328" name="Google Shape;328;p11"/>
            <p:cNvSpPr/>
            <p:nvPr/>
          </p:nvSpPr>
          <p:spPr>
            <a:xfrm>
              <a:off x="3755829" y="5200075"/>
              <a:ext cx="1552353" cy="1441665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29" name="Google Shape;329;p11"/>
            <p:cNvGrpSpPr/>
            <p:nvPr/>
          </p:nvGrpSpPr>
          <p:grpSpPr>
            <a:xfrm>
              <a:off x="3908230" y="5352476"/>
              <a:ext cx="1176670" cy="1119146"/>
              <a:chOff x="2853071" y="4643702"/>
              <a:chExt cx="1176670" cy="1119146"/>
            </a:xfrm>
          </p:grpSpPr>
          <p:sp>
            <p:nvSpPr>
              <p:cNvPr id="330" name="Google Shape;330;p11"/>
              <p:cNvSpPr/>
              <p:nvPr/>
            </p:nvSpPr>
            <p:spPr>
              <a:xfrm>
                <a:off x="2853071" y="4643702"/>
                <a:ext cx="1176670" cy="1119146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ahoma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1" name="Google Shape;331;p11"/>
              <p:cNvSpPr/>
              <p:nvPr/>
            </p:nvSpPr>
            <p:spPr>
              <a:xfrm>
                <a:off x="3005472" y="4796103"/>
                <a:ext cx="811616" cy="787579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ahoma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2" name="Google Shape;332;p11"/>
              <p:cNvSpPr/>
              <p:nvPr/>
            </p:nvSpPr>
            <p:spPr>
              <a:xfrm>
                <a:off x="3157872" y="4948503"/>
                <a:ext cx="503551" cy="389041"/>
              </a:xfrm>
              <a:prstGeom prst="arc">
                <a:avLst>
                  <a:gd fmla="val 16200000" name="adj1"/>
                  <a:gd fmla="val 0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ahoma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33" name="Google Shape;333;p11"/>
          <p:cNvSpPr/>
          <p:nvPr/>
        </p:nvSpPr>
        <p:spPr>
          <a:xfrm rot="-474911">
            <a:off x="5432307" y="2551891"/>
            <a:ext cx="2953125" cy="2219770"/>
          </a:xfrm>
          <a:prstGeom prst="irregularSeal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</a:pPr>
            <a:r>
              <a:rPr b="0" i="0" lang="en-SG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Collison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</a:pPr>
            <a:r>
              <a:rPr b="0" i="0" lang="en-SG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Domain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"/>
          <p:cNvSpPr txBox="1"/>
          <p:nvPr>
            <p:ph idx="12" type="sldNum"/>
          </p:nvPr>
        </p:nvSpPr>
        <p:spPr>
          <a:xfrm>
            <a:off x="8974667" y="6229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G" sz="1400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5E5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2"/>
          <p:cNvSpPr txBox="1"/>
          <p:nvPr>
            <p:ph type="title"/>
          </p:nvPr>
        </p:nvSpPr>
        <p:spPr>
          <a:xfrm>
            <a:off x="489315" y="1182414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 sz="3200"/>
              <a:t>CSMA/CD:  Used in Shared Physical Media</a:t>
            </a:r>
            <a:br>
              <a:rPr lang="en-SG" sz="3200"/>
            </a:br>
            <a:r>
              <a:rPr lang="en-SG" sz="3200"/>
              <a:t>Carrier Sense Multiple Access</a:t>
            </a:r>
            <a:br>
              <a:rPr lang="en-SG" sz="3200"/>
            </a:br>
            <a:r>
              <a:rPr lang="en-SG" sz="3200"/>
              <a:t>with Collision Detection</a:t>
            </a:r>
            <a:endParaRPr/>
          </a:p>
        </p:txBody>
      </p:sp>
      <p:sp>
        <p:nvSpPr>
          <p:cNvPr id="341" name="Google Shape;341;p12"/>
          <p:cNvSpPr txBox="1"/>
          <p:nvPr>
            <p:ph idx="1" type="body"/>
          </p:nvPr>
        </p:nvSpPr>
        <p:spPr>
          <a:xfrm>
            <a:off x="643466" y="2843048"/>
            <a:ext cx="10905067" cy="3294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ahoma"/>
              <a:buChar char="•"/>
            </a:pPr>
            <a:r>
              <a:rPr lang="en-SG" sz="2000">
                <a:solidFill>
                  <a:srgbClr val="FF0000"/>
                </a:solidFill>
              </a:rPr>
              <a:t>Collision Detection</a:t>
            </a:r>
            <a:r>
              <a:rPr lang="en-SG" sz="2000"/>
              <a:t>: </a:t>
            </a:r>
            <a:endParaRPr/>
          </a:p>
          <a:p>
            <a:pPr indent="-457200" lvl="1" marL="9144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ahoma"/>
              <a:buChar char="—"/>
            </a:pPr>
            <a:r>
              <a:rPr lang="en-SG" sz="1800"/>
              <a:t>Stations listen whilst transmitting. If collision is detected, stop transmission immediately.</a:t>
            </a:r>
            <a:endParaRPr/>
          </a:p>
          <a:p>
            <a:pPr indent="-533400" lvl="0" marL="533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Char char="•"/>
            </a:pPr>
            <a:r>
              <a:rPr lang="en-SG" sz="2000">
                <a:solidFill>
                  <a:srgbClr val="FF0000"/>
                </a:solidFill>
              </a:rPr>
              <a:t>Rules of CSMA/CD</a:t>
            </a:r>
            <a:r>
              <a:rPr lang="en-SG" sz="2000"/>
              <a:t>:</a:t>
            </a:r>
            <a:endParaRPr/>
          </a:p>
          <a:p>
            <a:pPr indent="-533400" lvl="0" marL="533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AutoNum type="arabicPeriod"/>
            </a:pPr>
            <a:r>
              <a:rPr lang="en-SG" sz="2000"/>
              <a:t>If the medium is idle, transmit; otherwise, go to step 2</a:t>
            </a:r>
            <a:endParaRPr sz="2000"/>
          </a:p>
          <a:p>
            <a:pPr indent="-533400" lvl="0" marL="533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AutoNum type="arabicPeriod"/>
            </a:pPr>
            <a:r>
              <a:rPr lang="en-SG" sz="2000"/>
              <a:t>If the medium is busy, continue to listen until the channel is idle, then transmit immediately</a:t>
            </a:r>
            <a:endParaRPr/>
          </a:p>
          <a:p>
            <a:pPr indent="-533400" lvl="0" marL="533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AutoNum type="arabicPeriod"/>
            </a:pPr>
            <a:r>
              <a:rPr lang="en-SG" sz="2000"/>
              <a:t>If a collision is detected during transmission, transmit a brief jamming signal to assure that all stations know that there has been a collision and then cease transmission</a:t>
            </a:r>
            <a:endParaRPr/>
          </a:p>
          <a:p>
            <a:pPr indent="-533400" lvl="0" marL="533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ahoma"/>
              <a:buAutoNum type="arabicPeriod"/>
            </a:pPr>
            <a:r>
              <a:rPr lang="en-SG" sz="2000"/>
              <a:t>After transmitting the jamming signal, wait a random amount of time, referred to as </a:t>
            </a:r>
            <a:r>
              <a:rPr b="1" i="1" lang="en-SG" sz="2000" u="sng">
                <a:solidFill>
                  <a:srgbClr val="FF0000"/>
                </a:solidFill>
              </a:rPr>
              <a:t>backoff</a:t>
            </a:r>
            <a:r>
              <a:rPr lang="en-SG" sz="2000"/>
              <a:t>, then attempt to transmit again (repeat from step 1)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" name="Google Shape;346;p13"/>
          <p:cNvGraphicFramePr/>
          <p:nvPr/>
        </p:nvGraphicFramePr>
        <p:xfrm>
          <a:off x="1828800" y="381000"/>
          <a:ext cx="2516188" cy="2185988"/>
        </p:xfrm>
        <a:graphic>
          <a:graphicData uri="http://schemas.openxmlformats.org/presentationml/2006/ole">
            <mc:AlternateContent>
              <mc:Choice Requires="v">
                <p:oleObj r:id="rId4" imgH="2185988" imgW="2516188" progId="Visio.Drawing.11" spid="_x0000_s1">
                  <p:embed/>
                </p:oleObj>
              </mc:Choice>
              <mc:Fallback>
                <p:oleObj r:id="rId5" imgH="2185988" imgW="2516188" progId="Visio.Drawing.11">
                  <p:embed/>
                  <p:pic>
                    <p:nvPicPr>
                      <p:cNvPr id="346" name="Google Shape;346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828800" y="381000"/>
                        <a:ext cx="2516188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" name="Google Shape;347;p13"/>
          <p:cNvGraphicFramePr/>
          <p:nvPr/>
        </p:nvGraphicFramePr>
        <p:xfrm>
          <a:off x="7448070" y="560659"/>
          <a:ext cx="2516188" cy="2185988"/>
        </p:xfrm>
        <a:graphic>
          <a:graphicData uri="http://schemas.openxmlformats.org/presentationml/2006/ole">
            <mc:AlternateContent>
              <mc:Choice Requires="v">
                <p:oleObj r:id="rId7" imgH="2185988" imgW="2516188" progId="Visio.Drawing.11" spid="_x0000_s2">
                  <p:embed/>
                </p:oleObj>
              </mc:Choice>
              <mc:Fallback>
                <p:oleObj r:id="rId8" imgH="2185988" imgW="2516188" progId="Visio.Drawing.11">
                  <p:embed/>
                  <p:pic>
                    <p:nvPicPr>
                      <p:cNvPr id="347" name="Google Shape;347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448070" y="560659"/>
                        <a:ext cx="2516188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" name="Google Shape;348;p13"/>
          <p:cNvGraphicFramePr/>
          <p:nvPr/>
        </p:nvGraphicFramePr>
        <p:xfrm>
          <a:off x="1676401" y="4267201"/>
          <a:ext cx="2517775" cy="2187575"/>
        </p:xfrm>
        <a:graphic>
          <a:graphicData uri="http://schemas.openxmlformats.org/presentationml/2006/ole">
            <mc:AlternateContent>
              <mc:Choice Requires="v">
                <p:oleObj r:id="rId9" imgH="2187575" imgW="2517775" progId="Visio.Drawing.11" spid="_x0000_s3">
                  <p:embed/>
                </p:oleObj>
              </mc:Choice>
              <mc:Fallback>
                <p:oleObj r:id="rId10" imgH="2187575" imgW="2517775" progId="Visio.Drawing.11">
                  <p:embed/>
                  <p:pic>
                    <p:nvPicPr>
                      <p:cNvPr id="348" name="Google Shape;348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76401" y="4267201"/>
                        <a:ext cx="2517775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" name="Google Shape;349;p13"/>
          <p:cNvGraphicFramePr/>
          <p:nvPr/>
        </p:nvGraphicFramePr>
        <p:xfrm>
          <a:off x="7620001" y="4343401"/>
          <a:ext cx="2517775" cy="2187575"/>
        </p:xfrm>
        <a:graphic>
          <a:graphicData uri="http://schemas.openxmlformats.org/presentationml/2006/ole">
            <mc:AlternateContent>
              <mc:Choice Requires="v">
                <p:oleObj r:id="rId11" imgH="2187575" imgW="2517775" progId="Visio.Drawing.11" spid="_x0000_s4">
                  <p:embed/>
                </p:oleObj>
              </mc:Choice>
              <mc:Fallback>
                <p:oleObj r:id="rId12" imgH="2187575" imgW="2517775" progId="Visio.Drawing.11">
                  <p:embed/>
                  <p:pic>
                    <p:nvPicPr>
                      <p:cNvPr id="349" name="Google Shape;349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1" y="4343401"/>
                        <a:ext cx="2517775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" name="Google Shape;350;p13"/>
          <p:cNvSpPr/>
          <p:nvPr/>
        </p:nvSpPr>
        <p:spPr>
          <a:xfrm>
            <a:off x="5029200" y="3124200"/>
            <a:ext cx="2133600" cy="1219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257800" y="3048000"/>
            <a:ext cx="304800" cy="228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6400800" y="3048000"/>
            <a:ext cx="304800" cy="228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181600" y="4191000"/>
            <a:ext cx="304800" cy="228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629400" y="4191000"/>
            <a:ext cx="304800" cy="228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13"/>
          <p:cNvCxnSpPr/>
          <p:nvPr/>
        </p:nvCxnSpPr>
        <p:spPr>
          <a:xfrm flipH="1" rot="10800000">
            <a:off x="3733800" y="4419600"/>
            <a:ext cx="1524000" cy="8382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13"/>
          <p:cNvCxnSpPr/>
          <p:nvPr/>
        </p:nvCxnSpPr>
        <p:spPr>
          <a:xfrm>
            <a:off x="3886200" y="1905000"/>
            <a:ext cx="1447800" cy="12192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13"/>
          <p:cNvCxnSpPr/>
          <p:nvPr/>
        </p:nvCxnSpPr>
        <p:spPr>
          <a:xfrm flipH="1" rot="10800000">
            <a:off x="6705600" y="2438400"/>
            <a:ext cx="12954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13"/>
          <p:cNvCxnSpPr/>
          <p:nvPr/>
        </p:nvCxnSpPr>
        <p:spPr>
          <a:xfrm rot="10800000">
            <a:off x="6858000" y="4343400"/>
            <a:ext cx="1752600" cy="1143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9" name="Google Shape;359;p13"/>
          <p:cNvGrpSpPr/>
          <p:nvPr/>
        </p:nvGrpSpPr>
        <p:grpSpPr>
          <a:xfrm rot="2422210">
            <a:off x="4038600" y="2286000"/>
            <a:ext cx="1676400" cy="228600"/>
            <a:chOff x="2016" y="864"/>
            <a:chExt cx="1056" cy="144"/>
          </a:xfrm>
        </p:grpSpPr>
        <p:sp>
          <p:nvSpPr>
            <p:cNvPr id="360" name="Google Shape;360;p13"/>
            <p:cNvSpPr/>
            <p:nvPr/>
          </p:nvSpPr>
          <p:spPr>
            <a:xfrm>
              <a:off x="2016" y="864"/>
              <a:ext cx="672" cy="144"/>
            </a:xfrm>
            <a:prstGeom prst="rect">
              <a:avLst/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SG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DST MAC: 00-23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2688" y="864"/>
              <a:ext cx="384" cy="144"/>
            </a:xfrm>
            <a:prstGeom prst="rect">
              <a:avLst/>
            </a:prstGeom>
            <a:solidFill>
              <a:schemeClr val="fol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SG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payload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p13"/>
          <p:cNvSpPr/>
          <p:nvPr/>
        </p:nvSpPr>
        <p:spPr>
          <a:xfrm>
            <a:off x="5105400" y="838200"/>
            <a:ext cx="2667000" cy="1524000"/>
          </a:xfrm>
          <a:prstGeom prst="wedgeRectCallout">
            <a:avLst>
              <a:gd fmla="val -11546" name="adj1"/>
              <a:gd fmla="val 115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5105400" y="838201"/>
            <a:ext cx="3048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Mac Address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Mac Address     Type            Ports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-------------------      ------------      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000a.41cd.c8c4    DYNAMIC 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0023.a3bc.c701    DYNAMIC   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203a.abc2.57a1    DYNAMIC 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011a.919d.d8a4    DYNAMIC   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13"/>
          <p:cNvGrpSpPr/>
          <p:nvPr/>
        </p:nvGrpSpPr>
        <p:grpSpPr>
          <a:xfrm rot="-1827050">
            <a:off x="4648200" y="4114800"/>
            <a:ext cx="1676400" cy="228600"/>
            <a:chOff x="2016" y="864"/>
            <a:chExt cx="1056" cy="144"/>
          </a:xfrm>
        </p:grpSpPr>
        <p:sp>
          <p:nvSpPr>
            <p:cNvPr id="365" name="Google Shape;365;p13"/>
            <p:cNvSpPr/>
            <p:nvPr/>
          </p:nvSpPr>
          <p:spPr>
            <a:xfrm>
              <a:off x="2016" y="864"/>
              <a:ext cx="672" cy="144"/>
            </a:xfrm>
            <a:prstGeom prst="rect">
              <a:avLst/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SG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DST MAC: 00-23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2688" y="864"/>
              <a:ext cx="384" cy="144"/>
            </a:xfrm>
            <a:prstGeom prst="rect">
              <a:avLst/>
            </a:prstGeom>
            <a:solidFill>
              <a:schemeClr val="fol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SG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payload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7" name="Google Shape;367;p13"/>
          <p:cNvSpPr txBox="1"/>
          <p:nvPr>
            <p:ph type="title"/>
          </p:nvPr>
        </p:nvSpPr>
        <p:spPr>
          <a:xfrm>
            <a:off x="119972" y="-124367"/>
            <a:ext cx="109389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Data Link on a star topology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2170386" y="3429000"/>
            <a:ext cx="2133600" cy="1219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2246586" y="1143000"/>
            <a:ext cx="2667000" cy="1524000"/>
          </a:xfrm>
          <a:prstGeom prst="wedgeRectCallout">
            <a:avLst>
              <a:gd fmla="val -11546" name="adj1"/>
              <a:gd fmla="val 115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2246586" y="1143001"/>
            <a:ext cx="3048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Mac Address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Mac Address     Type            Ports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-------------------      ------------      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000a.41cd.c8c4    DYNAMIC 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0023.a3bc.c701    DYNAMIC   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203a.abc2.57a1    DYNAMIC 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011a.919d.d8a4    DYNAMIC   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7504386" y="3421117"/>
            <a:ext cx="2133600" cy="1219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7278416" y="1143000"/>
            <a:ext cx="2667000" cy="1524000"/>
          </a:xfrm>
          <a:prstGeom prst="wedgeRectCallout">
            <a:avLst>
              <a:gd fmla="val -11546" name="adj1"/>
              <a:gd fmla="val 115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7273160" y="1143000"/>
            <a:ext cx="3048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Mac Address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Mac Address     Type            Ports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-------------------      ------------      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1111a.466d.c764    DYNAMIC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0523.12bc.8701    DYNAMIC   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34ac.abc2.8761    DYNAMIC 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0234.917d.d874    DYNAMIC   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14"/>
          <p:cNvCxnSpPr>
            <a:stCxn id="379" idx="6"/>
            <a:endCxn id="380" idx="2"/>
          </p:cNvCxnSpPr>
          <p:nvPr/>
        </p:nvCxnSpPr>
        <p:spPr>
          <a:xfrm flipH="1" rot="10800000">
            <a:off x="4456386" y="4023517"/>
            <a:ext cx="29166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" name="Google Shape;379;p14"/>
          <p:cNvSpPr/>
          <p:nvPr/>
        </p:nvSpPr>
        <p:spPr>
          <a:xfrm>
            <a:off x="4151586" y="3916417"/>
            <a:ext cx="304800" cy="228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7373006" y="3909222"/>
            <a:ext cx="304800" cy="228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7382203" y="1833053"/>
            <a:ext cx="241739" cy="88286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ED7D3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2091559" y="2620328"/>
            <a:ext cx="2969170" cy="305489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4"/>
          <p:cNvCxnSpPr>
            <a:stCxn id="381" idx="1"/>
          </p:cNvCxnSpPr>
          <p:nvPr/>
        </p:nvCxnSpPr>
        <p:spPr>
          <a:xfrm flipH="1">
            <a:off x="3817303" y="2274488"/>
            <a:ext cx="3564900" cy="562800"/>
          </a:xfrm>
          <a:prstGeom prst="curvedConnector3">
            <a:avLst>
              <a:gd fmla="val 53244" name="adj1"/>
            </a:avLst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4" name="Google Shape;384;p14"/>
          <p:cNvSpPr/>
          <p:nvPr/>
        </p:nvSpPr>
        <p:spPr>
          <a:xfrm>
            <a:off x="7273160" y="2708039"/>
            <a:ext cx="2969170" cy="305489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4813739" y="1905000"/>
            <a:ext cx="137947" cy="66865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5482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14"/>
          <p:cNvCxnSpPr>
            <a:stCxn id="385" idx="1"/>
          </p:cNvCxnSpPr>
          <p:nvPr/>
        </p:nvCxnSpPr>
        <p:spPr>
          <a:xfrm>
            <a:off x="4951686" y="2239329"/>
            <a:ext cx="3004500" cy="621600"/>
          </a:xfrm>
          <a:prstGeom prst="curvedConnector3">
            <a:avLst>
              <a:gd fmla="val 40623" name="adj1"/>
            </a:avLst>
          </a:prstGeom>
          <a:noFill/>
          <a:ln cap="flat" cmpd="sng" w="38100">
            <a:solidFill>
              <a:srgbClr val="54823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7" name="Google Shape;387;p14"/>
          <p:cNvSpPr txBox="1"/>
          <p:nvPr/>
        </p:nvSpPr>
        <p:spPr>
          <a:xfrm>
            <a:off x="4270315" y="253194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4"/>
          <p:cNvSpPr txBox="1"/>
          <p:nvPr/>
        </p:nvSpPr>
        <p:spPr>
          <a:xfrm>
            <a:off x="9287693" y="265724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allings">
  <a:themeElements>
    <a:clrScheme name="Stallings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2019-03-14T07:35:33Z</dcterms:created>
  <dc:creator>khar woh leong</dc:creator>
</cp:coreProperties>
</file>