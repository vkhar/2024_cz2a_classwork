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  <p:sldMasterId id="214748366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6858000" cx="9144000"/>
  <p:notesSz cx="6858000" cy="9144000"/>
  <p:embeddedFontLst>
    <p:embeddedFont>
      <p:font typeface="Walter Turncoat"/>
      <p:regular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Open Sans Ligh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vu97lYQK05FEx9AHLnZ1NQL65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oppins-regular.fntdata"/><Relationship Id="rId21" Type="http://schemas.openxmlformats.org/officeDocument/2006/relationships/font" Target="fonts/WalterTurncoat-regular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OpenSansLight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OpenSansLight-italic.fntdata"/><Relationship Id="rId27" Type="http://schemas.openxmlformats.org/officeDocument/2006/relationships/font" Target="fonts/OpenSansLigh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OpenSansLight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4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32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SG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SG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1162050" y="4405313"/>
            <a:ext cx="4667250" cy="3303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9" name="Google Shape;389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Sub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685800" y="2619128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Walter Turncoat"/>
              <a:buNone/>
              <a:defRPr b="0" i="0" sz="48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685800" y="4193143"/>
            <a:ext cx="7772400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alter Turncoat"/>
              <a:buNone/>
              <a:defRPr sz="21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2pPr>
            <a:lvl3pPr lvl="2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3pPr>
            <a:lvl4pPr lvl="3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4pPr>
            <a:lvl5pPr lvl="4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 + 1 colum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3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  <a:defRPr b="0" i="0" sz="3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" type="body"/>
          </p:nvPr>
        </p:nvSpPr>
        <p:spPr>
          <a:xfrm>
            <a:off x="340545" y="1435432"/>
            <a:ext cx="8462915" cy="50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sz="2100">
                <a:solidFill>
                  <a:schemeClr val="lt1"/>
                </a:solidFill>
              </a:defRPr>
            </a:lvl1pPr>
            <a:lvl2pPr indent="-36195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─"/>
              <a:defRPr/>
            </a:lvl2pPr>
            <a:lvl3pPr indent="-3429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3pPr>
            <a:lvl4pPr indent="-3429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/>
            </a:lvl4pPr>
            <a:lvl5pPr indent="-3429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▪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0" y="0"/>
            <a:ext cx="91560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  <a:defRPr b="0" i="0" sz="3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457200" y="2010572"/>
            <a:ext cx="3994500" cy="45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  <p:sp>
        <p:nvSpPr>
          <p:cNvPr id="20" name="Google Shape;20;p24"/>
          <p:cNvSpPr txBox="1"/>
          <p:nvPr>
            <p:ph idx="2" type="body"/>
          </p:nvPr>
        </p:nvSpPr>
        <p:spPr>
          <a:xfrm>
            <a:off x="4692275" y="2010572"/>
            <a:ext cx="3994500" cy="45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ctrTitle"/>
          </p:nvPr>
        </p:nvSpPr>
        <p:spPr>
          <a:xfrm>
            <a:off x="685800" y="2655755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Walter Turncoat"/>
              <a:buNone/>
              <a:defRPr b="0" i="0" sz="6000" u="none" cap="none" strike="noStrike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9"/>
          <p:cNvSpPr txBox="1"/>
          <p:nvPr>
            <p:ph idx="1" type="body"/>
          </p:nvPr>
        </p:nvSpPr>
        <p:spPr>
          <a:xfrm>
            <a:off x="1700925" y="1866406"/>
            <a:ext cx="5742300" cy="1093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  <a:defRPr sz="30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indent="-228600" lvl="1" marL="9144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2pPr>
            <a:lvl3pPr indent="-228600" lvl="2" marL="13716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3pPr>
            <a:lvl4pPr indent="-228600" lvl="3" marL="18288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4pPr>
            <a:lvl5pPr indent="-228600" lvl="4" marL="228600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9pPr>
          </a:lstStyle>
          <a:p/>
        </p:txBody>
      </p:sp>
      <p:sp>
        <p:nvSpPr>
          <p:cNvPr id="26" name="Google Shape;26;p29"/>
          <p:cNvSpPr txBox="1"/>
          <p:nvPr/>
        </p:nvSpPr>
        <p:spPr>
          <a:xfrm>
            <a:off x="3593400" y="1143430"/>
            <a:ext cx="1957200" cy="8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Walter Turncoat"/>
              <a:buNone/>
            </a:pPr>
            <a:r>
              <a:rPr b="0" i="0" lang="en-SG" sz="9600" u="none" cap="none" strike="noStrike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9"/>
          <p:cNvSpPr/>
          <p:nvPr/>
        </p:nvSpPr>
        <p:spPr>
          <a:xfrm>
            <a:off x="4128153" y="734205"/>
            <a:ext cx="887711" cy="1132213"/>
          </a:xfrm>
          <a:custGeom>
            <a:rect b="b" l="l" r="r" t="t"/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457200" y="5875084"/>
            <a:ext cx="8229600" cy="692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>
  <p:cSld name="Title + 1 colum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/>
          <p:nvPr>
            <p:ph type="title"/>
          </p:nvPr>
        </p:nvSpPr>
        <p:spPr>
          <a:xfrm>
            <a:off x="0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b="0" i="0" sz="30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" type="body"/>
          </p:nvPr>
        </p:nvSpPr>
        <p:spPr>
          <a:xfrm>
            <a:off x="815578" y="1944688"/>
            <a:ext cx="7344574" cy="4317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619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/>
            </a:lvl3pPr>
            <a:lvl4pPr indent="-3238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o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Courier New"/>
              <a:buChar char="o"/>
              <a:defRPr sz="15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 txBox="1"/>
          <p:nvPr>
            <p:ph type="ctrTitle"/>
          </p:nvPr>
        </p:nvSpPr>
        <p:spPr>
          <a:xfrm>
            <a:off x="685800" y="2655751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pen Sans Light"/>
              <a:buNone/>
              <a:defRPr b="0" i="0" sz="60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Sub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 txBox="1"/>
          <p:nvPr>
            <p:ph type="ctrTitle"/>
          </p:nvPr>
        </p:nvSpPr>
        <p:spPr>
          <a:xfrm>
            <a:off x="685800" y="2619124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Open Sans Light"/>
              <a:buNone/>
              <a:defRPr b="0" i="0" sz="4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5"/>
          <p:cNvSpPr txBox="1"/>
          <p:nvPr>
            <p:ph idx="1" type="subTitle"/>
          </p:nvPr>
        </p:nvSpPr>
        <p:spPr>
          <a:xfrm>
            <a:off x="685800" y="4193139"/>
            <a:ext cx="7772400" cy="104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 Light"/>
              <a:buNone/>
              <a:defRPr sz="2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1700925" y="1866402"/>
            <a:ext cx="5742300" cy="1093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sz="3000"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/>
            </a:lvl9pPr>
          </a:lstStyle>
          <a:p/>
        </p:txBody>
      </p:sp>
      <p:sp>
        <p:nvSpPr>
          <p:cNvPr id="42" name="Google Shape;42;p46"/>
          <p:cNvSpPr txBox="1"/>
          <p:nvPr/>
        </p:nvSpPr>
        <p:spPr>
          <a:xfrm>
            <a:off x="3593400" y="1143426"/>
            <a:ext cx="1957200" cy="8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00"/>
              <a:buFont typeface="Walter Turncoat"/>
              <a:buNone/>
            </a:pPr>
            <a:r>
              <a:rPr b="0" i="0" lang="en-SG" sz="9600" u="none" cap="none" strike="noStrike">
                <a:solidFill>
                  <a:srgbClr val="FFFFFF"/>
                </a:solidFill>
                <a:latin typeface="Walter Turncoat"/>
                <a:ea typeface="Walter Turncoat"/>
                <a:cs typeface="Walter Turncoat"/>
                <a:sym typeface="Walter Turncoat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6"/>
          <p:cNvSpPr/>
          <p:nvPr/>
        </p:nvSpPr>
        <p:spPr>
          <a:xfrm>
            <a:off x="4128151" y="734201"/>
            <a:ext cx="887711" cy="1132213"/>
          </a:xfrm>
          <a:custGeom>
            <a:rect b="b" l="l" r="r" t="t"/>
            <a:pathLst>
              <a:path extrusionOk="0" h="62358" w="65189">
                <a:moveTo>
                  <a:pt x="40283" y="1525"/>
                </a:moveTo>
                <a:lnTo>
                  <a:pt x="40000" y="1541"/>
                </a:lnTo>
                <a:lnTo>
                  <a:pt x="40000" y="1541"/>
                </a:lnTo>
                <a:lnTo>
                  <a:pt x="39811" y="1604"/>
                </a:lnTo>
                <a:lnTo>
                  <a:pt x="40283" y="1525"/>
                </a:lnTo>
                <a:close/>
                <a:moveTo>
                  <a:pt x="22547" y="1793"/>
                </a:moveTo>
                <a:lnTo>
                  <a:pt x="22359" y="1887"/>
                </a:lnTo>
                <a:lnTo>
                  <a:pt x="21981" y="2359"/>
                </a:lnTo>
                <a:lnTo>
                  <a:pt x="24057" y="1981"/>
                </a:lnTo>
                <a:lnTo>
                  <a:pt x="23208" y="2076"/>
                </a:lnTo>
                <a:lnTo>
                  <a:pt x="22925" y="1981"/>
                </a:lnTo>
                <a:lnTo>
                  <a:pt x="22642" y="1887"/>
                </a:lnTo>
                <a:lnTo>
                  <a:pt x="22642" y="1793"/>
                </a:lnTo>
                <a:close/>
                <a:moveTo>
                  <a:pt x="64528" y="13585"/>
                </a:moveTo>
                <a:lnTo>
                  <a:pt x="64528" y="13679"/>
                </a:lnTo>
                <a:lnTo>
                  <a:pt x="64551" y="13679"/>
                </a:lnTo>
                <a:lnTo>
                  <a:pt x="64528" y="13585"/>
                </a:lnTo>
                <a:close/>
                <a:moveTo>
                  <a:pt x="33868" y="58678"/>
                </a:moveTo>
                <a:lnTo>
                  <a:pt x="34057" y="58772"/>
                </a:lnTo>
                <a:lnTo>
                  <a:pt x="34057" y="58772"/>
                </a:lnTo>
                <a:lnTo>
                  <a:pt x="33962" y="58678"/>
                </a:lnTo>
                <a:close/>
                <a:moveTo>
                  <a:pt x="30849" y="58678"/>
                </a:moveTo>
                <a:lnTo>
                  <a:pt x="30943" y="58772"/>
                </a:lnTo>
                <a:lnTo>
                  <a:pt x="30283" y="58867"/>
                </a:lnTo>
                <a:lnTo>
                  <a:pt x="30472" y="58772"/>
                </a:lnTo>
                <a:lnTo>
                  <a:pt x="30849" y="58678"/>
                </a:lnTo>
                <a:close/>
                <a:moveTo>
                  <a:pt x="32264" y="59056"/>
                </a:moveTo>
                <a:lnTo>
                  <a:pt x="33113" y="59244"/>
                </a:lnTo>
                <a:lnTo>
                  <a:pt x="31698" y="59339"/>
                </a:lnTo>
                <a:lnTo>
                  <a:pt x="31415" y="59339"/>
                </a:lnTo>
                <a:lnTo>
                  <a:pt x="32264" y="59056"/>
                </a:lnTo>
                <a:close/>
                <a:moveTo>
                  <a:pt x="60849" y="0"/>
                </a:moveTo>
                <a:lnTo>
                  <a:pt x="58679" y="95"/>
                </a:lnTo>
                <a:lnTo>
                  <a:pt x="56792" y="189"/>
                </a:lnTo>
                <a:lnTo>
                  <a:pt x="58584" y="378"/>
                </a:lnTo>
                <a:lnTo>
                  <a:pt x="58301" y="189"/>
                </a:lnTo>
                <a:lnTo>
                  <a:pt x="59151" y="378"/>
                </a:lnTo>
                <a:lnTo>
                  <a:pt x="58679" y="472"/>
                </a:lnTo>
                <a:lnTo>
                  <a:pt x="58018" y="472"/>
                </a:lnTo>
                <a:lnTo>
                  <a:pt x="56792" y="283"/>
                </a:lnTo>
                <a:lnTo>
                  <a:pt x="55943" y="283"/>
                </a:lnTo>
                <a:lnTo>
                  <a:pt x="54528" y="378"/>
                </a:lnTo>
                <a:lnTo>
                  <a:pt x="50660" y="378"/>
                </a:lnTo>
                <a:lnTo>
                  <a:pt x="48585" y="472"/>
                </a:lnTo>
                <a:lnTo>
                  <a:pt x="46226" y="472"/>
                </a:lnTo>
                <a:lnTo>
                  <a:pt x="43868" y="283"/>
                </a:lnTo>
                <a:lnTo>
                  <a:pt x="44056" y="472"/>
                </a:lnTo>
                <a:lnTo>
                  <a:pt x="44339" y="472"/>
                </a:lnTo>
                <a:lnTo>
                  <a:pt x="43396" y="661"/>
                </a:lnTo>
                <a:lnTo>
                  <a:pt x="42170" y="849"/>
                </a:lnTo>
                <a:lnTo>
                  <a:pt x="40849" y="755"/>
                </a:lnTo>
                <a:lnTo>
                  <a:pt x="40377" y="661"/>
                </a:lnTo>
                <a:lnTo>
                  <a:pt x="39906" y="566"/>
                </a:lnTo>
                <a:lnTo>
                  <a:pt x="39717" y="566"/>
                </a:lnTo>
                <a:lnTo>
                  <a:pt x="38207" y="661"/>
                </a:lnTo>
                <a:lnTo>
                  <a:pt x="36509" y="944"/>
                </a:lnTo>
                <a:lnTo>
                  <a:pt x="34906" y="1132"/>
                </a:lnTo>
                <a:lnTo>
                  <a:pt x="33585" y="1132"/>
                </a:lnTo>
                <a:lnTo>
                  <a:pt x="33962" y="1038"/>
                </a:lnTo>
                <a:lnTo>
                  <a:pt x="33774" y="944"/>
                </a:lnTo>
                <a:lnTo>
                  <a:pt x="33396" y="944"/>
                </a:lnTo>
                <a:lnTo>
                  <a:pt x="32453" y="1038"/>
                </a:lnTo>
                <a:lnTo>
                  <a:pt x="30283" y="1321"/>
                </a:lnTo>
                <a:lnTo>
                  <a:pt x="30472" y="1415"/>
                </a:lnTo>
                <a:lnTo>
                  <a:pt x="30566" y="1510"/>
                </a:lnTo>
                <a:lnTo>
                  <a:pt x="29151" y="1604"/>
                </a:lnTo>
                <a:lnTo>
                  <a:pt x="29057" y="1698"/>
                </a:lnTo>
                <a:lnTo>
                  <a:pt x="29717" y="1698"/>
                </a:lnTo>
                <a:lnTo>
                  <a:pt x="28208" y="1793"/>
                </a:lnTo>
                <a:lnTo>
                  <a:pt x="27547" y="1793"/>
                </a:lnTo>
                <a:lnTo>
                  <a:pt x="27642" y="1698"/>
                </a:lnTo>
                <a:lnTo>
                  <a:pt x="28585" y="1510"/>
                </a:lnTo>
                <a:lnTo>
                  <a:pt x="27736" y="1604"/>
                </a:lnTo>
                <a:lnTo>
                  <a:pt x="26887" y="1698"/>
                </a:lnTo>
                <a:lnTo>
                  <a:pt x="26038" y="1698"/>
                </a:lnTo>
                <a:lnTo>
                  <a:pt x="25189" y="1793"/>
                </a:lnTo>
                <a:lnTo>
                  <a:pt x="25189" y="1793"/>
                </a:lnTo>
                <a:lnTo>
                  <a:pt x="25755" y="1698"/>
                </a:lnTo>
                <a:lnTo>
                  <a:pt x="24906" y="1793"/>
                </a:lnTo>
                <a:lnTo>
                  <a:pt x="24057" y="1981"/>
                </a:lnTo>
                <a:lnTo>
                  <a:pt x="25094" y="1887"/>
                </a:lnTo>
                <a:lnTo>
                  <a:pt x="26132" y="1981"/>
                </a:lnTo>
                <a:lnTo>
                  <a:pt x="24906" y="2264"/>
                </a:lnTo>
                <a:lnTo>
                  <a:pt x="23585" y="2359"/>
                </a:lnTo>
                <a:lnTo>
                  <a:pt x="23585" y="2453"/>
                </a:lnTo>
                <a:lnTo>
                  <a:pt x="23585" y="2547"/>
                </a:lnTo>
                <a:lnTo>
                  <a:pt x="25566" y="2359"/>
                </a:lnTo>
                <a:lnTo>
                  <a:pt x="27547" y="2264"/>
                </a:lnTo>
                <a:lnTo>
                  <a:pt x="29434" y="1981"/>
                </a:lnTo>
                <a:lnTo>
                  <a:pt x="30377" y="1793"/>
                </a:lnTo>
                <a:lnTo>
                  <a:pt x="31321" y="1604"/>
                </a:lnTo>
                <a:lnTo>
                  <a:pt x="30472" y="1887"/>
                </a:lnTo>
                <a:lnTo>
                  <a:pt x="30660" y="1981"/>
                </a:lnTo>
                <a:lnTo>
                  <a:pt x="31038" y="2076"/>
                </a:lnTo>
                <a:lnTo>
                  <a:pt x="31981" y="2170"/>
                </a:lnTo>
                <a:lnTo>
                  <a:pt x="33302" y="2170"/>
                </a:lnTo>
                <a:lnTo>
                  <a:pt x="34717" y="2076"/>
                </a:lnTo>
                <a:lnTo>
                  <a:pt x="37075" y="1887"/>
                </a:lnTo>
                <a:lnTo>
                  <a:pt x="37830" y="1793"/>
                </a:lnTo>
                <a:lnTo>
                  <a:pt x="37924" y="1698"/>
                </a:lnTo>
                <a:lnTo>
                  <a:pt x="38868" y="1604"/>
                </a:lnTo>
                <a:lnTo>
                  <a:pt x="38962" y="1510"/>
                </a:lnTo>
                <a:lnTo>
                  <a:pt x="38868" y="1510"/>
                </a:lnTo>
                <a:lnTo>
                  <a:pt x="38113" y="1415"/>
                </a:lnTo>
                <a:lnTo>
                  <a:pt x="40000" y="1510"/>
                </a:lnTo>
                <a:lnTo>
                  <a:pt x="38868" y="1604"/>
                </a:lnTo>
                <a:lnTo>
                  <a:pt x="40000" y="1541"/>
                </a:lnTo>
                <a:lnTo>
                  <a:pt x="40000" y="1541"/>
                </a:lnTo>
                <a:lnTo>
                  <a:pt x="40094" y="1510"/>
                </a:lnTo>
                <a:lnTo>
                  <a:pt x="40377" y="1510"/>
                </a:lnTo>
                <a:lnTo>
                  <a:pt x="40283" y="1525"/>
                </a:lnTo>
                <a:lnTo>
                  <a:pt x="40283" y="1525"/>
                </a:lnTo>
                <a:lnTo>
                  <a:pt x="40566" y="1510"/>
                </a:lnTo>
                <a:lnTo>
                  <a:pt x="41509" y="1604"/>
                </a:lnTo>
                <a:lnTo>
                  <a:pt x="44151" y="1415"/>
                </a:lnTo>
                <a:lnTo>
                  <a:pt x="45000" y="1321"/>
                </a:lnTo>
                <a:lnTo>
                  <a:pt x="44434" y="1321"/>
                </a:lnTo>
                <a:lnTo>
                  <a:pt x="45188" y="1132"/>
                </a:lnTo>
                <a:lnTo>
                  <a:pt x="45660" y="1227"/>
                </a:lnTo>
                <a:lnTo>
                  <a:pt x="45755" y="1227"/>
                </a:lnTo>
                <a:lnTo>
                  <a:pt x="45755" y="1321"/>
                </a:lnTo>
                <a:lnTo>
                  <a:pt x="45377" y="1321"/>
                </a:lnTo>
                <a:lnTo>
                  <a:pt x="46038" y="1415"/>
                </a:lnTo>
                <a:lnTo>
                  <a:pt x="46792" y="1321"/>
                </a:lnTo>
                <a:lnTo>
                  <a:pt x="46792" y="1227"/>
                </a:lnTo>
                <a:lnTo>
                  <a:pt x="46981" y="1321"/>
                </a:lnTo>
                <a:lnTo>
                  <a:pt x="47547" y="1321"/>
                </a:lnTo>
                <a:lnTo>
                  <a:pt x="47358" y="1510"/>
                </a:lnTo>
                <a:lnTo>
                  <a:pt x="46981" y="1510"/>
                </a:lnTo>
                <a:lnTo>
                  <a:pt x="46792" y="1415"/>
                </a:lnTo>
                <a:lnTo>
                  <a:pt x="43868" y="1698"/>
                </a:lnTo>
                <a:lnTo>
                  <a:pt x="45566" y="1698"/>
                </a:lnTo>
                <a:lnTo>
                  <a:pt x="47264" y="1604"/>
                </a:lnTo>
                <a:lnTo>
                  <a:pt x="50566" y="1321"/>
                </a:lnTo>
                <a:lnTo>
                  <a:pt x="52169" y="1227"/>
                </a:lnTo>
                <a:lnTo>
                  <a:pt x="55471" y="1227"/>
                </a:lnTo>
                <a:lnTo>
                  <a:pt x="57075" y="1415"/>
                </a:lnTo>
                <a:lnTo>
                  <a:pt x="56603" y="1321"/>
                </a:lnTo>
                <a:lnTo>
                  <a:pt x="56509" y="1227"/>
                </a:lnTo>
                <a:lnTo>
                  <a:pt x="57264" y="1132"/>
                </a:lnTo>
                <a:lnTo>
                  <a:pt x="58396" y="1227"/>
                </a:lnTo>
                <a:lnTo>
                  <a:pt x="58773" y="1227"/>
                </a:lnTo>
                <a:lnTo>
                  <a:pt x="58962" y="1321"/>
                </a:lnTo>
                <a:lnTo>
                  <a:pt x="59905" y="1321"/>
                </a:lnTo>
                <a:lnTo>
                  <a:pt x="61037" y="1510"/>
                </a:lnTo>
                <a:lnTo>
                  <a:pt x="61603" y="1698"/>
                </a:lnTo>
                <a:lnTo>
                  <a:pt x="62075" y="1887"/>
                </a:lnTo>
                <a:lnTo>
                  <a:pt x="62452" y="2076"/>
                </a:lnTo>
                <a:lnTo>
                  <a:pt x="62547" y="2359"/>
                </a:lnTo>
                <a:lnTo>
                  <a:pt x="62641" y="4528"/>
                </a:lnTo>
                <a:lnTo>
                  <a:pt x="62641" y="8113"/>
                </a:lnTo>
                <a:lnTo>
                  <a:pt x="62547" y="17547"/>
                </a:lnTo>
                <a:lnTo>
                  <a:pt x="62547" y="22547"/>
                </a:lnTo>
                <a:lnTo>
                  <a:pt x="62641" y="27075"/>
                </a:lnTo>
                <a:lnTo>
                  <a:pt x="62830" y="30849"/>
                </a:lnTo>
                <a:lnTo>
                  <a:pt x="62924" y="32169"/>
                </a:lnTo>
                <a:lnTo>
                  <a:pt x="63113" y="33207"/>
                </a:lnTo>
                <a:lnTo>
                  <a:pt x="63113" y="34528"/>
                </a:lnTo>
                <a:lnTo>
                  <a:pt x="63207" y="35943"/>
                </a:lnTo>
                <a:lnTo>
                  <a:pt x="63207" y="36886"/>
                </a:lnTo>
                <a:lnTo>
                  <a:pt x="63113" y="38396"/>
                </a:lnTo>
                <a:lnTo>
                  <a:pt x="62830" y="42358"/>
                </a:lnTo>
                <a:lnTo>
                  <a:pt x="62547" y="46509"/>
                </a:lnTo>
                <a:lnTo>
                  <a:pt x="62452" y="48207"/>
                </a:lnTo>
                <a:lnTo>
                  <a:pt x="62547" y="49527"/>
                </a:lnTo>
                <a:lnTo>
                  <a:pt x="62547" y="51131"/>
                </a:lnTo>
                <a:lnTo>
                  <a:pt x="62547" y="52735"/>
                </a:lnTo>
                <a:lnTo>
                  <a:pt x="62358" y="53584"/>
                </a:lnTo>
                <a:lnTo>
                  <a:pt x="62264" y="54339"/>
                </a:lnTo>
                <a:lnTo>
                  <a:pt x="61981" y="55093"/>
                </a:lnTo>
                <a:lnTo>
                  <a:pt x="61603" y="55754"/>
                </a:lnTo>
                <a:lnTo>
                  <a:pt x="61792" y="55754"/>
                </a:lnTo>
                <a:lnTo>
                  <a:pt x="61886" y="55565"/>
                </a:lnTo>
                <a:lnTo>
                  <a:pt x="62169" y="55376"/>
                </a:lnTo>
                <a:lnTo>
                  <a:pt x="62264" y="55565"/>
                </a:lnTo>
                <a:lnTo>
                  <a:pt x="62169" y="55754"/>
                </a:lnTo>
                <a:lnTo>
                  <a:pt x="61981" y="56225"/>
                </a:lnTo>
                <a:lnTo>
                  <a:pt x="61792" y="56037"/>
                </a:lnTo>
                <a:lnTo>
                  <a:pt x="61509" y="55754"/>
                </a:lnTo>
                <a:lnTo>
                  <a:pt x="61603" y="55942"/>
                </a:lnTo>
                <a:lnTo>
                  <a:pt x="61509" y="55942"/>
                </a:lnTo>
                <a:lnTo>
                  <a:pt x="61603" y="56037"/>
                </a:lnTo>
                <a:lnTo>
                  <a:pt x="60094" y="56320"/>
                </a:lnTo>
                <a:lnTo>
                  <a:pt x="58773" y="56414"/>
                </a:lnTo>
                <a:lnTo>
                  <a:pt x="57547" y="56508"/>
                </a:lnTo>
                <a:lnTo>
                  <a:pt x="56415" y="56508"/>
                </a:lnTo>
                <a:lnTo>
                  <a:pt x="56698" y="56320"/>
                </a:lnTo>
                <a:lnTo>
                  <a:pt x="56698" y="56320"/>
                </a:lnTo>
                <a:lnTo>
                  <a:pt x="56037" y="56508"/>
                </a:lnTo>
                <a:lnTo>
                  <a:pt x="54811" y="56886"/>
                </a:lnTo>
                <a:lnTo>
                  <a:pt x="53679" y="57074"/>
                </a:lnTo>
                <a:lnTo>
                  <a:pt x="53868" y="56791"/>
                </a:lnTo>
                <a:lnTo>
                  <a:pt x="54245" y="56697"/>
                </a:lnTo>
                <a:lnTo>
                  <a:pt x="53019" y="56886"/>
                </a:lnTo>
                <a:lnTo>
                  <a:pt x="51698" y="56980"/>
                </a:lnTo>
                <a:lnTo>
                  <a:pt x="50943" y="57074"/>
                </a:lnTo>
                <a:lnTo>
                  <a:pt x="51132" y="57169"/>
                </a:lnTo>
                <a:lnTo>
                  <a:pt x="48962" y="57452"/>
                </a:lnTo>
                <a:lnTo>
                  <a:pt x="48962" y="57357"/>
                </a:lnTo>
                <a:lnTo>
                  <a:pt x="48019" y="57452"/>
                </a:lnTo>
                <a:lnTo>
                  <a:pt x="47641" y="57452"/>
                </a:lnTo>
                <a:lnTo>
                  <a:pt x="46604" y="57546"/>
                </a:lnTo>
                <a:lnTo>
                  <a:pt x="44717" y="57546"/>
                </a:lnTo>
                <a:lnTo>
                  <a:pt x="44339" y="57452"/>
                </a:lnTo>
                <a:lnTo>
                  <a:pt x="45000" y="57263"/>
                </a:lnTo>
                <a:lnTo>
                  <a:pt x="40000" y="57829"/>
                </a:lnTo>
                <a:lnTo>
                  <a:pt x="38019" y="58206"/>
                </a:lnTo>
                <a:lnTo>
                  <a:pt x="37547" y="58018"/>
                </a:lnTo>
                <a:lnTo>
                  <a:pt x="37075" y="58018"/>
                </a:lnTo>
                <a:lnTo>
                  <a:pt x="36698" y="58112"/>
                </a:lnTo>
                <a:lnTo>
                  <a:pt x="36415" y="58301"/>
                </a:lnTo>
                <a:lnTo>
                  <a:pt x="36038" y="58301"/>
                </a:lnTo>
                <a:lnTo>
                  <a:pt x="36038" y="58395"/>
                </a:lnTo>
                <a:lnTo>
                  <a:pt x="36321" y="58395"/>
                </a:lnTo>
                <a:lnTo>
                  <a:pt x="36132" y="58678"/>
                </a:lnTo>
                <a:lnTo>
                  <a:pt x="37075" y="58678"/>
                </a:lnTo>
                <a:lnTo>
                  <a:pt x="37830" y="58584"/>
                </a:lnTo>
                <a:lnTo>
                  <a:pt x="38585" y="58489"/>
                </a:lnTo>
                <a:lnTo>
                  <a:pt x="39434" y="58489"/>
                </a:lnTo>
                <a:lnTo>
                  <a:pt x="38585" y="58867"/>
                </a:lnTo>
                <a:lnTo>
                  <a:pt x="37358" y="59244"/>
                </a:lnTo>
                <a:lnTo>
                  <a:pt x="36792" y="59339"/>
                </a:lnTo>
                <a:lnTo>
                  <a:pt x="36226" y="59339"/>
                </a:lnTo>
                <a:lnTo>
                  <a:pt x="35755" y="59244"/>
                </a:lnTo>
                <a:lnTo>
                  <a:pt x="35566" y="59056"/>
                </a:lnTo>
                <a:lnTo>
                  <a:pt x="35472" y="58867"/>
                </a:lnTo>
                <a:lnTo>
                  <a:pt x="36509" y="58772"/>
                </a:lnTo>
                <a:lnTo>
                  <a:pt x="35377" y="58678"/>
                </a:lnTo>
                <a:lnTo>
                  <a:pt x="34151" y="58772"/>
                </a:lnTo>
                <a:lnTo>
                  <a:pt x="34057" y="58772"/>
                </a:lnTo>
                <a:lnTo>
                  <a:pt x="33208" y="58961"/>
                </a:lnTo>
                <a:lnTo>
                  <a:pt x="32264" y="59056"/>
                </a:lnTo>
                <a:lnTo>
                  <a:pt x="32264" y="59056"/>
                </a:lnTo>
                <a:lnTo>
                  <a:pt x="33113" y="58867"/>
                </a:lnTo>
                <a:lnTo>
                  <a:pt x="31887" y="58489"/>
                </a:lnTo>
                <a:lnTo>
                  <a:pt x="31132" y="58395"/>
                </a:lnTo>
                <a:lnTo>
                  <a:pt x="31038" y="58301"/>
                </a:lnTo>
                <a:lnTo>
                  <a:pt x="31132" y="58301"/>
                </a:lnTo>
                <a:lnTo>
                  <a:pt x="31509" y="58206"/>
                </a:lnTo>
                <a:lnTo>
                  <a:pt x="30660" y="58206"/>
                </a:lnTo>
                <a:lnTo>
                  <a:pt x="30283" y="58301"/>
                </a:lnTo>
                <a:lnTo>
                  <a:pt x="29906" y="58489"/>
                </a:lnTo>
                <a:lnTo>
                  <a:pt x="29151" y="58678"/>
                </a:lnTo>
                <a:lnTo>
                  <a:pt x="29340" y="58584"/>
                </a:lnTo>
                <a:lnTo>
                  <a:pt x="29434" y="58395"/>
                </a:lnTo>
                <a:lnTo>
                  <a:pt x="29434" y="58395"/>
                </a:lnTo>
                <a:lnTo>
                  <a:pt x="28585" y="58489"/>
                </a:lnTo>
                <a:lnTo>
                  <a:pt x="28491" y="58584"/>
                </a:lnTo>
                <a:lnTo>
                  <a:pt x="28396" y="58678"/>
                </a:lnTo>
                <a:lnTo>
                  <a:pt x="27736" y="58867"/>
                </a:lnTo>
                <a:lnTo>
                  <a:pt x="25660" y="59150"/>
                </a:lnTo>
                <a:lnTo>
                  <a:pt x="22170" y="59622"/>
                </a:lnTo>
                <a:lnTo>
                  <a:pt x="22359" y="59527"/>
                </a:lnTo>
                <a:lnTo>
                  <a:pt x="22359" y="59433"/>
                </a:lnTo>
                <a:lnTo>
                  <a:pt x="22264" y="59433"/>
                </a:lnTo>
                <a:lnTo>
                  <a:pt x="22453" y="59244"/>
                </a:lnTo>
                <a:lnTo>
                  <a:pt x="22453" y="59056"/>
                </a:lnTo>
                <a:lnTo>
                  <a:pt x="21132" y="59339"/>
                </a:lnTo>
                <a:lnTo>
                  <a:pt x="19246" y="59716"/>
                </a:lnTo>
                <a:lnTo>
                  <a:pt x="18208" y="59810"/>
                </a:lnTo>
                <a:lnTo>
                  <a:pt x="17264" y="59905"/>
                </a:lnTo>
                <a:lnTo>
                  <a:pt x="16415" y="59905"/>
                </a:lnTo>
                <a:lnTo>
                  <a:pt x="15849" y="59810"/>
                </a:lnTo>
                <a:lnTo>
                  <a:pt x="14246" y="59810"/>
                </a:lnTo>
                <a:lnTo>
                  <a:pt x="11981" y="59999"/>
                </a:lnTo>
                <a:lnTo>
                  <a:pt x="11981" y="59999"/>
                </a:lnTo>
                <a:lnTo>
                  <a:pt x="12359" y="59905"/>
                </a:lnTo>
                <a:lnTo>
                  <a:pt x="12736" y="59716"/>
                </a:lnTo>
                <a:lnTo>
                  <a:pt x="11415" y="59905"/>
                </a:lnTo>
                <a:lnTo>
                  <a:pt x="10000" y="60093"/>
                </a:lnTo>
                <a:lnTo>
                  <a:pt x="7076" y="60188"/>
                </a:lnTo>
                <a:lnTo>
                  <a:pt x="4151" y="60376"/>
                </a:lnTo>
                <a:lnTo>
                  <a:pt x="2831" y="60471"/>
                </a:lnTo>
                <a:lnTo>
                  <a:pt x="1604" y="60659"/>
                </a:lnTo>
                <a:lnTo>
                  <a:pt x="1227" y="59244"/>
                </a:lnTo>
                <a:lnTo>
                  <a:pt x="1038" y="57735"/>
                </a:lnTo>
                <a:lnTo>
                  <a:pt x="850" y="56131"/>
                </a:lnTo>
                <a:lnTo>
                  <a:pt x="755" y="54433"/>
                </a:lnTo>
                <a:lnTo>
                  <a:pt x="755" y="52735"/>
                </a:lnTo>
                <a:lnTo>
                  <a:pt x="755" y="50942"/>
                </a:lnTo>
                <a:lnTo>
                  <a:pt x="1038" y="47263"/>
                </a:lnTo>
                <a:lnTo>
                  <a:pt x="1321" y="43678"/>
                </a:lnTo>
                <a:lnTo>
                  <a:pt x="1699" y="39999"/>
                </a:lnTo>
                <a:lnTo>
                  <a:pt x="2453" y="33301"/>
                </a:lnTo>
                <a:lnTo>
                  <a:pt x="2548" y="33962"/>
                </a:lnTo>
                <a:lnTo>
                  <a:pt x="2642" y="34622"/>
                </a:lnTo>
                <a:lnTo>
                  <a:pt x="2642" y="33018"/>
                </a:lnTo>
                <a:lnTo>
                  <a:pt x="2551" y="32287"/>
                </a:lnTo>
                <a:lnTo>
                  <a:pt x="2642" y="30000"/>
                </a:lnTo>
                <a:lnTo>
                  <a:pt x="2453" y="30377"/>
                </a:lnTo>
                <a:lnTo>
                  <a:pt x="2453" y="29245"/>
                </a:lnTo>
                <a:lnTo>
                  <a:pt x="2453" y="27830"/>
                </a:lnTo>
                <a:lnTo>
                  <a:pt x="2642" y="28301"/>
                </a:lnTo>
                <a:lnTo>
                  <a:pt x="2736" y="28018"/>
                </a:lnTo>
                <a:lnTo>
                  <a:pt x="2831" y="28018"/>
                </a:lnTo>
                <a:lnTo>
                  <a:pt x="2925" y="28207"/>
                </a:lnTo>
                <a:lnTo>
                  <a:pt x="3019" y="26415"/>
                </a:lnTo>
                <a:lnTo>
                  <a:pt x="3019" y="24811"/>
                </a:lnTo>
                <a:lnTo>
                  <a:pt x="3019" y="23113"/>
                </a:lnTo>
                <a:lnTo>
                  <a:pt x="3019" y="22170"/>
                </a:lnTo>
                <a:lnTo>
                  <a:pt x="3208" y="21320"/>
                </a:lnTo>
                <a:lnTo>
                  <a:pt x="3302" y="19528"/>
                </a:lnTo>
                <a:lnTo>
                  <a:pt x="3302" y="17641"/>
                </a:lnTo>
                <a:lnTo>
                  <a:pt x="3302" y="16887"/>
                </a:lnTo>
                <a:lnTo>
                  <a:pt x="3208" y="16321"/>
                </a:lnTo>
                <a:lnTo>
                  <a:pt x="3397" y="16415"/>
                </a:lnTo>
                <a:lnTo>
                  <a:pt x="3585" y="11981"/>
                </a:lnTo>
                <a:lnTo>
                  <a:pt x="3680" y="11415"/>
                </a:lnTo>
                <a:lnTo>
                  <a:pt x="3680" y="11698"/>
                </a:lnTo>
                <a:lnTo>
                  <a:pt x="3774" y="11132"/>
                </a:lnTo>
                <a:lnTo>
                  <a:pt x="3868" y="10660"/>
                </a:lnTo>
                <a:lnTo>
                  <a:pt x="3774" y="10094"/>
                </a:lnTo>
                <a:lnTo>
                  <a:pt x="3680" y="9623"/>
                </a:lnTo>
                <a:lnTo>
                  <a:pt x="3774" y="9434"/>
                </a:lnTo>
                <a:lnTo>
                  <a:pt x="3868" y="9245"/>
                </a:lnTo>
                <a:lnTo>
                  <a:pt x="4057" y="8491"/>
                </a:lnTo>
                <a:lnTo>
                  <a:pt x="4340" y="6321"/>
                </a:lnTo>
                <a:lnTo>
                  <a:pt x="4623" y="2264"/>
                </a:lnTo>
                <a:lnTo>
                  <a:pt x="3491" y="7170"/>
                </a:lnTo>
                <a:lnTo>
                  <a:pt x="2925" y="9906"/>
                </a:lnTo>
                <a:lnTo>
                  <a:pt x="2359" y="12736"/>
                </a:lnTo>
                <a:lnTo>
                  <a:pt x="1982" y="15377"/>
                </a:lnTo>
                <a:lnTo>
                  <a:pt x="1699" y="17830"/>
                </a:lnTo>
                <a:lnTo>
                  <a:pt x="1510" y="19905"/>
                </a:lnTo>
                <a:lnTo>
                  <a:pt x="1604" y="20754"/>
                </a:lnTo>
                <a:lnTo>
                  <a:pt x="1699" y="21509"/>
                </a:lnTo>
                <a:lnTo>
                  <a:pt x="1321" y="22453"/>
                </a:lnTo>
                <a:lnTo>
                  <a:pt x="1133" y="23585"/>
                </a:lnTo>
                <a:lnTo>
                  <a:pt x="1038" y="24905"/>
                </a:lnTo>
                <a:lnTo>
                  <a:pt x="1038" y="26226"/>
                </a:lnTo>
                <a:lnTo>
                  <a:pt x="1038" y="28962"/>
                </a:lnTo>
                <a:lnTo>
                  <a:pt x="1038" y="31415"/>
                </a:lnTo>
                <a:lnTo>
                  <a:pt x="661" y="40188"/>
                </a:lnTo>
                <a:lnTo>
                  <a:pt x="472" y="44999"/>
                </a:lnTo>
                <a:lnTo>
                  <a:pt x="378" y="49622"/>
                </a:lnTo>
                <a:lnTo>
                  <a:pt x="472" y="51603"/>
                </a:lnTo>
                <a:lnTo>
                  <a:pt x="378" y="53961"/>
                </a:lnTo>
                <a:lnTo>
                  <a:pt x="189" y="53301"/>
                </a:lnTo>
                <a:lnTo>
                  <a:pt x="95" y="52641"/>
                </a:lnTo>
                <a:lnTo>
                  <a:pt x="189" y="53867"/>
                </a:lnTo>
                <a:lnTo>
                  <a:pt x="189" y="55093"/>
                </a:lnTo>
                <a:lnTo>
                  <a:pt x="378" y="55188"/>
                </a:lnTo>
                <a:lnTo>
                  <a:pt x="284" y="56508"/>
                </a:lnTo>
                <a:lnTo>
                  <a:pt x="95" y="54905"/>
                </a:lnTo>
                <a:lnTo>
                  <a:pt x="1" y="58489"/>
                </a:lnTo>
                <a:lnTo>
                  <a:pt x="1" y="62357"/>
                </a:lnTo>
                <a:lnTo>
                  <a:pt x="6038" y="61886"/>
                </a:lnTo>
                <a:lnTo>
                  <a:pt x="8963" y="61697"/>
                </a:lnTo>
                <a:lnTo>
                  <a:pt x="11698" y="61603"/>
                </a:lnTo>
                <a:lnTo>
                  <a:pt x="11698" y="61414"/>
                </a:lnTo>
                <a:lnTo>
                  <a:pt x="11887" y="61225"/>
                </a:lnTo>
                <a:lnTo>
                  <a:pt x="12264" y="61225"/>
                </a:lnTo>
                <a:lnTo>
                  <a:pt x="12548" y="61320"/>
                </a:lnTo>
                <a:lnTo>
                  <a:pt x="12736" y="61414"/>
                </a:lnTo>
                <a:lnTo>
                  <a:pt x="12642" y="61320"/>
                </a:lnTo>
                <a:lnTo>
                  <a:pt x="13302" y="61508"/>
                </a:lnTo>
                <a:lnTo>
                  <a:pt x="13302" y="61508"/>
                </a:lnTo>
                <a:lnTo>
                  <a:pt x="12736" y="61414"/>
                </a:lnTo>
                <a:lnTo>
                  <a:pt x="13019" y="61508"/>
                </a:lnTo>
                <a:lnTo>
                  <a:pt x="12736" y="61603"/>
                </a:lnTo>
                <a:lnTo>
                  <a:pt x="12831" y="61697"/>
                </a:lnTo>
                <a:lnTo>
                  <a:pt x="14246" y="61508"/>
                </a:lnTo>
                <a:lnTo>
                  <a:pt x="13491" y="61508"/>
                </a:lnTo>
                <a:lnTo>
                  <a:pt x="14717" y="61225"/>
                </a:lnTo>
                <a:lnTo>
                  <a:pt x="16038" y="61131"/>
                </a:lnTo>
                <a:lnTo>
                  <a:pt x="18962" y="61131"/>
                </a:lnTo>
                <a:lnTo>
                  <a:pt x="19151" y="61225"/>
                </a:lnTo>
                <a:lnTo>
                  <a:pt x="19623" y="61320"/>
                </a:lnTo>
                <a:lnTo>
                  <a:pt x="21227" y="61320"/>
                </a:lnTo>
                <a:lnTo>
                  <a:pt x="23302" y="61225"/>
                </a:lnTo>
                <a:lnTo>
                  <a:pt x="24245" y="61131"/>
                </a:lnTo>
                <a:lnTo>
                  <a:pt x="25094" y="60942"/>
                </a:lnTo>
                <a:lnTo>
                  <a:pt x="28868" y="60848"/>
                </a:lnTo>
                <a:lnTo>
                  <a:pt x="32642" y="60659"/>
                </a:lnTo>
                <a:lnTo>
                  <a:pt x="36415" y="60376"/>
                </a:lnTo>
                <a:lnTo>
                  <a:pt x="40283" y="60093"/>
                </a:lnTo>
                <a:lnTo>
                  <a:pt x="47830" y="59339"/>
                </a:lnTo>
                <a:lnTo>
                  <a:pt x="55377" y="58678"/>
                </a:lnTo>
                <a:lnTo>
                  <a:pt x="61037" y="58678"/>
                </a:lnTo>
                <a:lnTo>
                  <a:pt x="62264" y="58584"/>
                </a:lnTo>
                <a:lnTo>
                  <a:pt x="63207" y="58395"/>
                </a:lnTo>
                <a:lnTo>
                  <a:pt x="63490" y="58206"/>
                </a:lnTo>
                <a:lnTo>
                  <a:pt x="63773" y="58018"/>
                </a:lnTo>
                <a:lnTo>
                  <a:pt x="63962" y="57735"/>
                </a:lnTo>
                <a:lnTo>
                  <a:pt x="64150" y="57357"/>
                </a:lnTo>
                <a:lnTo>
                  <a:pt x="64339" y="56225"/>
                </a:lnTo>
                <a:lnTo>
                  <a:pt x="64528" y="54716"/>
                </a:lnTo>
                <a:lnTo>
                  <a:pt x="64528" y="53018"/>
                </a:lnTo>
                <a:lnTo>
                  <a:pt x="64622" y="49810"/>
                </a:lnTo>
                <a:lnTo>
                  <a:pt x="64622" y="47546"/>
                </a:lnTo>
                <a:lnTo>
                  <a:pt x="64905" y="40848"/>
                </a:lnTo>
                <a:lnTo>
                  <a:pt x="64999" y="36320"/>
                </a:lnTo>
                <a:lnTo>
                  <a:pt x="65094" y="33301"/>
                </a:lnTo>
                <a:lnTo>
                  <a:pt x="65188" y="33396"/>
                </a:lnTo>
                <a:lnTo>
                  <a:pt x="65188" y="31603"/>
                </a:lnTo>
                <a:lnTo>
                  <a:pt x="65188" y="29811"/>
                </a:lnTo>
                <a:lnTo>
                  <a:pt x="65094" y="30660"/>
                </a:lnTo>
                <a:lnTo>
                  <a:pt x="64905" y="28301"/>
                </a:lnTo>
                <a:lnTo>
                  <a:pt x="64811" y="25849"/>
                </a:lnTo>
                <a:lnTo>
                  <a:pt x="64716" y="23302"/>
                </a:lnTo>
                <a:lnTo>
                  <a:pt x="64622" y="20849"/>
                </a:lnTo>
                <a:lnTo>
                  <a:pt x="64811" y="22075"/>
                </a:lnTo>
                <a:lnTo>
                  <a:pt x="64811" y="20754"/>
                </a:lnTo>
                <a:lnTo>
                  <a:pt x="64811" y="18962"/>
                </a:lnTo>
                <a:lnTo>
                  <a:pt x="64811" y="18868"/>
                </a:lnTo>
                <a:lnTo>
                  <a:pt x="64716" y="17358"/>
                </a:lnTo>
                <a:lnTo>
                  <a:pt x="64811" y="18113"/>
                </a:lnTo>
                <a:lnTo>
                  <a:pt x="64999" y="16981"/>
                </a:lnTo>
                <a:lnTo>
                  <a:pt x="64905" y="15755"/>
                </a:lnTo>
                <a:lnTo>
                  <a:pt x="64811" y="14528"/>
                </a:lnTo>
                <a:lnTo>
                  <a:pt x="64716" y="13396"/>
                </a:lnTo>
                <a:lnTo>
                  <a:pt x="64622" y="13679"/>
                </a:lnTo>
                <a:lnTo>
                  <a:pt x="64551" y="13679"/>
                </a:lnTo>
                <a:lnTo>
                  <a:pt x="64622" y="13962"/>
                </a:lnTo>
                <a:lnTo>
                  <a:pt x="64716" y="15000"/>
                </a:lnTo>
                <a:lnTo>
                  <a:pt x="64528" y="14623"/>
                </a:lnTo>
                <a:lnTo>
                  <a:pt x="64528" y="15094"/>
                </a:lnTo>
                <a:lnTo>
                  <a:pt x="64339" y="12736"/>
                </a:lnTo>
                <a:lnTo>
                  <a:pt x="64150" y="11698"/>
                </a:lnTo>
                <a:lnTo>
                  <a:pt x="64056" y="11604"/>
                </a:lnTo>
                <a:lnTo>
                  <a:pt x="64056" y="11226"/>
                </a:lnTo>
                <a:lnTo>
                  <a:pt x="64245" y="10566"/>
                </a:lnTo>
                <a:lnTo>
                  <a:pt x="64245" y="9811"/>
                </a:lnTo>
                <a:lnTo>
                  <a:pt x="64245" y="9560"/>
                </a:lnTo>
                <a:lnTo>
                  <a:pt x="64433" y="10189"/>
                </a:lnTo>
                <a:lnTo>
                  <a:pt x="64622" y="11604"/>
                </a:lnTo>
                <a:lnTo>
                  <a:pt x="64811" y="13019"/>
                </a:lnTo>
                <a:lnTo>
                  <a:pt x="64905" y="14151"/>
                </a:lnTo>
                <a:lnTo>
                  <a:pt x="64905" y="12830"/>
                </a:lnTo>
                <a:lnTo>
                  <a:pt x="64811" y="11698"/>
                </a:lnTo>
                <a:lnTo>
                  <a:pt x="64528" y="9340"/>
                </a:lnTo>
                <a:lnTo>
                  <a:pt x="64433" y="9528"/>
                </a:lnTo>
                <a:lnTo>
                  <a:pt x="64433" y="9340"/>
                </a:lnTo>
                <a:lnTo>
                  <a:pt x="64245" y="8585"/>
                </a:lnTo>
                <a:lnTo>
                  <a:pt x="64150" y="7264"/>
                </a:lnTo>
                <a:lnTo>
                  <a:pt x="64056" y="9434"/>
                </a:lnTo>
                <a:lnTo>
                  <a:pt x="63773" y="8868"/>
                </a:lnTo>
                <a:lnTo>
                  <a:pt x="63679" y="7925"/>
                </a:lnTo>
                <a:lnTo>
                  <a:pt x="63584" y="6792"/>
                </a:lnTo>
                <a:lnTo>
                  <a:pt x="63490" y="5566"/>
                </a:lnTo>
                <a:lnTo>
                  <a:pt x="63490" y="1227"/>
                </a:lnTo>
                <a:lnTo>
                  <a:pt x="63490" y="661"/>
                </a:lnTo>
                <a:lnTo>
                  <a:pt x="63396" y="566"/>
                </a:lnTo>
                <a:lnTo>
                  <a:pt x="63207" y="378"/>
                </a:lnTo>
                <a:lnTo>
                  <a:pt x="62641" y="189"/>
                </a:lnTo>
                <a:lnTo>
                  <a:pt x="61792" y="95"/>
                </a:lnTo>
                <a:lnTo>
                  <a:pt x="608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type="title"/>
          </p:nvPr>
        </p:nvSpPr>
        <p:spPr>
          <a:xfrm>
            <a:off x="0" y="0"/>
            <a:ext cx="91560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 Light"/>
              <a:buNone/>
              <a:defRPr b="0" i="0" sz="30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457200" y="2010568"/>
            <a:ext cx="3994500" cy="45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 Light"/>
              <a:buNone/>
              <a:defRPr sz="2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  <p:sp>
        <p:nvSpPr>
          <p:cNvPr id="47" name="Google Shape;47;p47"/>
          <p:cNvSpPr txBox="1"/>
          <p:nvPr>
            <p:ph idx="2" type="body"/>
          </p:nvPr>
        </p:nvSpPr>
        <p:spPr>
          <a:xfrm>
            <a:off x="4692275" y="2010568"/>
            <a:ext cx="3994500" cy="4557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 Light"/>
              <a:buNone/>
              <a:defRPr sz="21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Open Sans Light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idx="1" type="body"/>
          </p:nvPr>
        </p:nvSpPr>
        <p:spPr>
          <a:xfrm>
            <a:off x="457200" y="5875080"/>
            <a:ext cx="8229600" cy="6927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sz="21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0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50"/>
          <p:cNvSpPr txBox="1"/>
          <p:nvPr>
            <p:ph idx="1" type="body"/>
          </p:nvPr>
        </p:nvSpPr>
        <p:spPr>
          <a:xfrm>
            <a:off x="649752" y="86902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5" name="Google Shape;55;p5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6" name="Google Shape;56;p5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09738" y="1960563"/>
            <a:ext cx="6496050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1"/>
          <p:cNvSpPr/>
          <p:nvPr/>
        </p:nvSpPr>
        <p:spPr>
          <a:xfrm>
            <a:off x="3175" y="0"/>
            <a:ext cx="9140825" cy="11430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rgbClr val="FFCC99"/>
              </a:gs>
            </a:gsLst>
            <a:lin ang="0" scaled="0"/>
          </a:gradFill>
          <a:ln>
            <a:noFill/>
          </a:ln>
          <a:effectLst>
            <a:outerShdw rotWithShape="0" algn="ctr" dir="5400000" dist="50800">
              <a:schemeClr val="folHlink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8229600" y="6735763"/>
            <a:ext cx="392113" cy="122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  <p:sp>
        <p:nvSpPr>
          <p:cNvPr id="69" name="Google Shape;69;p31"/>
          <p:cNvSpPr txBox="1"/>
          <p:nvPr>
            <p:ph type="ctrTitle"/>
          </p:nvPr>
        </p:nvSpPr>
        <p:spPr>
          <a:xfrm>
            <a:off x="1498600" y="2438400"/>
            <a:ext cx="61864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:\Scott HP Invent\HP Logos\HPtrueCOLOR.tiff.tif" id="70" name="Google Shape;7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61400" y="6462713"/>
            <a:ext cx="482600" cy="39528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1"/>
          <p:cNvSpPr txBox="1"/>
          <p:nvPr>
            <p:ph idx="1" type="subTitle"/>
          </p:nvPr>
        </p:nvSpPr>
        <p:spPr>
          <a:xfrm>
            <a:off x="1498600" y="3886200"/>
            <a:ext cx="6186488" cy="1074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31"/>
          <p:cNvSpPr/>
          <p:nvPr/>
        </p:nvSpPr>
        <p:spPr>
          <a:xfrm>
            <a:off x="152400" y="152400"/>
            <a:ext cx="1443038" cy="885825"/>
          </a:xfrm>
          <a:prstGeom prst="roundRect">
            <a:avLst>
              <a:gd fmla="val 12722" name="adj"/>
            </a:avLst>
          </a:prstGeom>
          <a:solidFill>
            <a:srgbClr val="C0C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SG" sz="1400" u="none" cap="none" strike="noStrike">
                <a:solidFill>
                  <a:schemeClr val="folHlink"/>
                </a:solidFill>
                <a:latin typeface="Poppins"/>
                <a:ea typeface="Poppins"/>
                <a:cs typeface="Poppins"/>
                <a:sym typeface="Poppins"/>
              </a:rPr>
              <a:t>Core Tech for Internet Software Development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Poppins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6" name="Google Shape;76;p32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3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" type="body"/>
          </p:nvPr>
        </p:nvSpPr>
        <p:spPr>
          <a:xfrm>
            <a:off x="1709738" y="1960563"/>
            <a:ext cx="3171825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2" type="body"/>
          </p:nvPr>
        </p:nvSpPr>
        <p:spPr>
          <a:xfrm>
            <a:off x="5033963" y="1960563"/>
            <a:ext cx="3171825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Poppins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5" name="Google Shape;85;p34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Poppins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7" name="Google Shape;87;p34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4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5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5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6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•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–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20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–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7" name="Google Shape;97;p3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37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8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38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700"/>
              <a:buFont typeface="Poppins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3" name="Google Shape;103;p38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9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9"/>
          <p:cNvSpPr txBox="1"/>
          <p:nvPr>
            <p:ph idx="1" type="body"/>
          </p:nvPr>
        </p:nvSpPr>
        <p:spPr>
          <a:xfrm rot="5400000">
            <a:off x="2996407" y="673894"/>
            <a:ext cx="3922712" cy="649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9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0"/>
          <p:cNvSpPr txBox="1"/>
          <p:nvPr>
            <p:ph type="title"/>
          </p:nvPr>
        </p:nvSpPr>
        <p:spPr>
          <a:xfrm rot="5400000">
            <a:off x="4671219" y="2229644"/>
            <a:ext cx="5654675" cy="16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0"/>
          <p:cNvSpPr txBox="1"/>
          <p:nvPr>
            <p:ph idx="1" type="body"/>
          </p:nvPr>
        </p:nvSpPr>
        <p:spPr>
          <a:xfrm rot="5400000">
            <a:off x="1287463" y="650875"/>
            <a:ext cx="5654675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40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hart and Text" type="chartAndTx">
  <p:cSld name="CHART_AND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1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41"/>
          <p:cNvSpPr/>
          <p:nvPr>
            <p:ph idx="2" type="chart"/>
          </p:nvPr>
        </p:nvSpPr>
        <p:spPr>
          <a:xfrm>
            <a:off x="1709738" y="1960563"/>
            <a:ext cx="3171825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–"/>
              <a:defRPr b="0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80"/>
              <a:buFont typeface="Poppins"/>
              <a:buChar char="–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5" name="Google Shape;115;p41"/>
          <p:cNvSpPr txBox="1"/>
          <p:nvPr>
            <p:ph idx="1" type="body"/>
          </p:nvPr>
        </p:nvSpPr>
        <p:spPr>
          <a:xfrm>
            <a:off x="5033963" y="1960563"/>
            <a:ext cx="3171825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41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lip Art and Text" type="clipArtAndTx">
  <p:cSld name="CLIPART_AND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2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2"/>
          <p:cNvSpPr/>
          <p:nvPr>
            <p:ph idx="2" type="clipArt"/>
          </p:nvPr>
        </p:nvSpPr>
        <p:spPr>
          <a:xfrm>
            <a:off x="1709738" y="1960563"/>
            <a:ext cx="3171825" cy="3922712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42"/>
          <p:cNvSpPr txBox="1"/>
          <p:nvPr>
            <p:ph idx="1" type="body"/>
          </p:nvPr>
        </p:nvSpPr>
        <p:spPr>
          <a:xfrm>
            <a:off x="5033963" y="1960563"/>
            <a:ext cx="3171825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42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lip Art" type="txAndClipArt">
  <p:cSld name="TEXT_AND_CLIPAR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3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3"/>
          <p:cNvSpPr txBox="1"/>
          <p:nvPr>
            <p:ph idx="1" type="body"/>
          </p:nvPr>
        </p:nvSpPr>
        <p:spPr>
          <a:xfrm>
            <a:off x="1709738" y="1960563"/>
            <a:ext cx="3171825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indent="-342900" lvl="3" marL="18288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08610" lvl="4" marL="22860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260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43"/>
          <p:cNvSpPr/>
          <p:nvPr>
            <p:ph idx="2" type="clipArt"/>
          </p:nvPr>
        </p:nvSpPr>
        <p:spPr>
          <a:xfrm>
            <a:off x="5033963" y="1960563"/>
            <a:ext cx="3171825" cy="3922712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43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idx="1" type="body"/>
          </p:nvPr>
        </p:nvSpPr>
        <p:spPr>
          <a:xfrm>
            <a:off x="649752" y="86902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649752" y="869022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 Light"/>
              <a:buNone/>
              <a:defRPr b="0" i="0" sz="2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 Light"/>
              <a:buNone/>
              <a:defRPr b="0" i="0" sz="1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/>
          <p:nvPr/>
        </p:nvSpPr>
        <p:spPr>
          <a:xfrm>
            <a:off x="3175" y="0"/>
            <a:ext cx="9140825" cy="1143000"/>
          </a:xfrm>
          <a:prstGeom prst="rect">
            <a:avLst/>
          </a:prstGeom>
          <a:gradFill>
            <a:gsLst>
              <a:gs pos="0">
                <a:srgbClr val="FF6600"/>
              </a:gs>
              <a:gs pos="100000">
                <a:srgbClr val="FFCC99"/>
              </a:gs>
            </a:gsLst>
            <a:lin ang="0" scaled="0"/>
          </a:gradFill>
          <a:ln>
            <a:noFill/>
          </a:ln>
          <a:effectLst>
            <a:outerShdw rotWithShape="0" algn="ctr" dir="5400000" dist="50800">
              <a:schemeClr val="folHlink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153400" y="6708775"/>
            <a:ext cx="508000" cy="14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SG"/>
              <a:t>Page </a:t>
            </a:r>
            <a:fld id="{00000000-1234-1234-1234-123412341234}" type="slidenum">
              <a:rPr lang="en-SG"/>
              <a:t>‹#›</a:t>
            </a:fld>
            <a:endParaRPr/>
          </a:p>
        </p:txBody>
      </p:sp>
      <p:sp>
        <p:nvSpPr>
          <p:cNvPr id="60" name="Google Shape;60;p21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>
            <a:off x="1709738" y="1960563"/>
            <a:ext cx="6496050" cy="3922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–"/>
              <a:defRPr b="0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0829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80"/>
              <a:buFont typeface="Poppins"/>
              <a:buChar char="–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/>
          <p:nvPr>
            <p:ph type="ctrTitle"/>
          </p:nvPr>
        </p:nvSpPr>
        <p:spPr>
          <a:xfrm>
            <a:off x="685800" y="1141870"/>
            <a:ext cx="7772400" cy="1546399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Walter Turncoat"/>
              <a:buNone/>
            </a:pPr>
            <a:r>
              <a:rPr lang="en-SG"/>
              <a:t>Application Layer</a:t>
            </a:r>
            <a:endParaRPr/>
          </a:p>
        </p:txBody>
      </p:sp>
      <p:sp>
        <p:nvSpPr>
          <p:cNvPr id="132" name="Google Shape;132;p1"/>
          <p:cNvSpPr txBox="1"/>
          <p:nvPr>
            <p:ph idx="1" type="subTitle"/>
          </p:nvPr>
        </p:nvSpPr>
        <p:spPr>
          <a:xfrm>
            <a:off x="685800" y="3195485"/>
            <a:ext cx="7772400" cy="204405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alter Turncoat"/>
              <a:buNone/>
            </a:pPr>
            <a:r>
              <a:rPr lang="en-SG"/>
              <a:t>Re-visit Network Layer Model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alter Turncoat"/>
              <a:buNone/>
            </a:pPr>
            <a:r>
              <a:rPr lang="en-SG"/>
              <a:t>What is a Web Application?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alter Turncoat"/>
              <a:buNone/>
            </a:pPr>
            <a:r>
              <a:rPr lang="en-SG"/>
              <a:t>Client Server Architecture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Walter Turncoat"/>
              <a:buNone/>
            </a:pPr>
            <a:r>
              <a:rPr lang="en-SG"/>
              <a:t>HTTP Protocol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4"/>
          <p:cNvSpPr txBox="1"/>
          <p:nvPr>
            <p:ph type="title"/>
          </p:nvPr>
        </p:nvSpPr>
        <p:spPr>
          <a:xfrm>
            <a:off x="2204967" y="274326"/>
            <a:ext cx="4505446" cy="657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Open Sans Light"/>
              <a:buNone/>
            </a:pPr>
            <a:r>
              <a:rPr lang="en-SG" sz="3200"/>
              <a:t>Network Layered Model</a:t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234381" y="1409953"/>
            <a:ext cx="1970586" cy="65751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5-APPLICATION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219918" y="2180925"/>
            <a:ext cx="1970586" cy="72300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4-TRANSPORT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END_TO_END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219919" y="3139406"/>
            <a:ext cx="1956122" cy="5791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3-NETWORK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ROUTING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219919" y="4017298"/>
            <a:ext cx="1956122" cy="5791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2-DATALINK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POINT TO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352523" y="1409954"/>
            <a:ext cx="989636" cy="1064176"/>
          </a:xfrm>
          <a:prstGeom prst="curvedLeftArrow">
            <a:avLst>
              <a:gd fmla="val 32742" name="adj1"/>
              <a:gd fmla="val 70160" name="adj2"/>
              <a:gd fmla="val 30714" name="adj3"/>
            </a:avLst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SG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SEND THIS MESSAGE OVER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2395897" y="2482905"/>
            <a:ext cx="1119914" cy="1235690"/>
          </a:xfrm>
          <a:prstGeom prst="curvedLeftArrow">
            <a:avLst>
              <a:gd fmla="val 32742" name="adj1"/>
              <a:gd fmla="val 70160" name="adj2"/>
              <a:gd fmla="val 25000" name="adj3"/>
            </a:avLst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SG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FIND YOUR WAY TO THE DESTINATION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04212" y="4877348"/>
            <a:ext cx="1985088" cy="85740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1-PHYSICAL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ENCODING BITS TO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439294" y="3683773"/>
            <a:ext cx="911503" cy="1072512"/>
          </a:xfrm>
          <a:prstGeom prst="curvedLeftArrow">
            <a:avLst>
              <a:gd fmla="val 32742" name="adj1"/>
              <a:gd fmla="val 70160" name="adj2"/>
              <a:gd fmla="val 25000" name="adj3"/>
            </a:avLst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SG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TRANSMIT TO THE OTHER 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2395865" y="4809432"/>
            <a:ext cx="902865" cy="1028915"/>
          </a:xfrm>
          <a:prstGeom prst="curvedLeftArrow">
            <a:avLst>
              <a:gd fmla="val 32742" name="adj1"/>
              <a:gd fmla="val 70160" name="adj2"/>
              <a:gd fmla="val 25000" name="adj3"/>
            </a:avLst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SG" sz="13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CONVERT TO THE PHYSICAL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7035477" y="1547108"/>
            <a:ext cx="1970586" cy="65751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5-APPLICATION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7021014" y="2318080"/>
            <a:ext cx="1970586" cy="723004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4-TRANSPORT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END_TO_END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7021015" y="3276561"/>
            <a:ext cx="1956122" cy="5791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3-NETWORK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ROUTING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7021015" y="4154453"/>
            <a:ext cx="1956122" cy="579188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2-DATALINK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POINT TO 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6992049" y="5032344"/>
            <a:ext cx="1985088" cy="857400"/>
          </a:xfrm>
          <a:prstGeom prst="rect">
            <a:avLst/>
          </a:prstGeom>
          <a:solidFill>
            <a:schemeClr val="accent3"/>
          </a:solidFill>
          <a:ln cap="flat" cmpd="sng" w="25400">
            <a:solidFill>
              <a:srgbClr val="7878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1-PHYSICAL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SG" sz="1500" u="none" cap="none" strike="noStrike">
                <a:solidFill>
                  <a:srgbClr val="FFFFFF"/>
                </a:solidFill>
                <a:highlight>
                  <a:srgbClr val="008000"/>
                </a:highlight>
                <a:latin typeface="Open Sans"/>
                <a:ea typeface="Open Sans"/>
                <a:cs typeface="Open Sans"/>
                <a:sym typeface="Open Sans"/>
              </a:rPr>
              <a:t>ENCODING BITS TO SIGNALS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" name="Google Shape;152;p14"/>
          <p:cNvGrpSpPr/>
          <p:nvPr/>
        </p:nvGrpSpPr>
        <p:grpSpPr>
          <a:xfrm>
            <a:off x="6728038" y="1022860"/>
            <a:ext cx="2338060" cy="5282144"/>
            <a:chOff x="-157316" y="931843"/>
            <a:chExt cx="2596610" cy="5282144"/>
          </a:xfrm>
        </p:grpSpPr>
        <p:sp>
          <p:nvSpPr>
            <p:cNvPr id="153" name="Google Shape;153;p14"/>
            <p:cNvSpPr/>
            <p:nvPr/>
          </p:nvSpPr>
          <p:spPr>
            <a:xfrm>
              <a:off x="-157316" y="1238865"/>
              <a:ext cx="2596610" cy="4975122"/>
            </a:xfrm>
            <a:prstGeom prst="rect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4" name="Google Shape;154;p14"/>
            <p:cNvSpPr txBox="1"/>
            <p:nvPr/>
          </p:nvSpPr>
          <p:spPr>
            <a:xfrm>
              <a:off x="442452" y="931843"/>
              <a:ext cx="13553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4472C4"/>
                  </a:solidFill>
                  <a:latin typeface="Open Sans"/>
                  <a:ea typeface="Open Sans"/>
                  <a:cs typeface="Open Sans"/>
                  <a:sym typeface="Open Sans"/>
                </a:rPr>
                <a:t>END DEVICE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14"/>
          <p:cNvGrpSpPr/>
          <p:nvPr/>
        </p:nvGrpSpPr>
        <p:grpSpPr>
          <a:xfrm>
            <a:off x="166863" y="835742"/>
            <a:ext cx="2338060" cy="5530645"/>
            <a:chOff x="-157316" y="931843"/>
            <a:chExt cx="2596610" cy="5282144"/>
          </a:xfrm>
        </p:grpSpPr>
        <p:sp>
          <p:nvSpPr>
            <p:cNvPr id="156" name="Google Shape;156;p14"/>
            <p:cNvSpPr/>
            <p:nvPr/>
          </p:nvSpPr>
          <p:spPr>
            <a:xfrm>
              <a:off x="-157316" y="1238865"/>
              <a:ext cx="2596610" cy="4975122"/>
            </a:xfrm>
            <a:prstGeom prst="rect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7" name="Google Shape;157;p14"/>
            <p:cNvSpPr txBox="1"/>
            <p:nvPr/>
          </p:nvSpPr>
          <p:spPr>
            <a:xfrm>
              <a:off x="442452" y="931843"/>
              <a:ext cx="13553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4472C4"/>
                  </a:solidFill>
                  <a:latin typeface="Open Sans"/>
                  <a:ea typeface="Open Sans"/>
                  <a:cs typeface="Open Sans"/>
                  <a:sym typeface="Open Sans"/>
                </a:rPr>
                <a:t>END DEVICE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14"/>
          <p:cNvGrpSpPr/>
          <p:nvPr/>
        </p:nvGrpSpPr>
        <p:grpSpPr>
          <a:xfrm>
            <a:off x="3614050" y="4686413"/>
            <a:ext cx="2777867" cy="1953160"/>
            <a:chOff x="9643224" y="3559961"/>
            <a:chExt cx="2777867" cy="1953160"/>
          </a:xfrm>
        </p:grpSpPr>
        <p:sp>
          <p:nvSpPr>
            <p:cNvPr id="159" name="Google Shape;159;p14"/>
            <p:cNvSpPr/>
            <p:nvPr/>
          </p:nvSpPr>
          <p:spPr>
            <a:xfrm>
              <a:off x="9643224" y="3559961"/>
              <a:ext cx="2777867" cy="195316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0" name="Google Shape;160;p14"/>
            <p:cNvSpPr txBox="1"/>
            <p:nvPr/>
          </p:nvSpPr>
          <p:spPr>
            <a:xfrm>
              <a:off x="10622108" y="3590118"/>
              <a:ext cx="820097" cy="27724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00B050"/>
                  </a:solidFill>
                  <a:latin typeface="Open Sans"/>
                  <a:ea typeface="Open Sans"/>
                  <a:cs typeface="Open Sans"/>
                  <a:sym typeface="Open Sans"/>
                </a:rPr>
                <a:t>SWITCH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9870115" y="3958311"/>
              <a:ext cx="2324084" cy="579706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2-DATALINK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highlight>
                    <a:srgbClr val="008000"/>
                  </a:highlight>
                  <a:latin typeface="Open Sans"/>
                  <a:ea typeface="Open Sans"/>
                  <a:cs typeface="Open Sans"/>
                  <a:sym typeface="Open Sans"/>
                </a:rPr>
                <a:t>POINT TO POINT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9852908" y="4596486"/>
              <a:ext cx="2358498" cy="858166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1-PHYSICAL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highlight>
                    <a:srgbClr val="008000"/>
                  </a:highlight>
                  <a:latin typeface="Open Sans"/>
                  <a:ea typeface="Open Sans"/>
                  <a:cs typeface="Open Sans"/>
                  <a:sym typeface="Open Sans"/>
                </a:rPr>
                <a:t>ENCODING BITS TO SIGNALS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14"/>
          <p:cNvGrpSpPr/>
          <p:nvPr/>
        </p:nvGrpSpPr>
        <p:grpSpPr>
          <a:xfrm>
            <a:off x="3677065" y="1594236"/>
            <a:ext cx="2751017" cy="2020779"/>
            <a:chOff x="9144001" y="1795393"/>
            <a:chExt cx="2751017" cy="2020779"/>
          </a:xfrm>
        </p:grpSpPr>
        <p:grpSp>
          <p:nvGrpSpPr>
            <p:cNvPr id="164" name="Google Shape;164;p14"/>
            <p:cNvGrpSpPr/>
            <p:nvPr/>
          </p:nvGrpSpPr>
          <p:grpSpPr>
            <a:xfrm>
              <a:off x="9144001" y="1795393"/>
              <a:ext cx="2751017" cy="2020779"/>
              <a:chOff x="5033792" y="2106770"/>
              <a:chExt cx="2596610" cy="4846761"/>
            </a:xfrm>
          </p:grpSpPr>
          <p:sp>
            <p:nvSpPr>
              <p:cNvPr id="165" name="Google Shape;165;p14"/>
              <p:cNvSpPr/>
              <p:nvPr/>
            </p:nvSpPr>
            <p:spPr>
              <a:xfrm>
                <a:off x="5033792" y="2106770"/>
                <a:ext cx="2596610" cy="4846761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chemeClr val="accent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66" name="Google Shape;166;p14"/>
              <p:cNvSpPr txBox="1"/>
              <p:nvPr/>
            </p:nvSpPr>
            <p:spPr>
              <a:xfrm>
                <a:off x="5780452" y="2238815"/>
                <a:ext cx="735546" cy="50881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SG" sz="1200" u="none" cap="none" strike="noStrike">
                    <a:solidFill>
                      <a:srgbClr val="00B050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ROUTER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" name="Google Shape;167;p14"/>
            <p:cNvSpPr/>
            <p:nvPr/>
          </p:nvSpPr>
          <p:spPr>
            <a:xfrm>
              <a:off x="9267153" y="3159755"/>
              <a:ext cx="2387989" cy="625002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1-PHYSICAL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highlight>
                    <a:srgbClr val="008000"/>
                  </a:highlight>
                  <a:latin typeface="Open Sans"/>
                  <a:ea typeface="Open Sans"/>
                  <a:cs typeface="Open Sans"/>
                  <a:sym typeface="Open Sans"/>
                </a:rPr>
                <a:t>ENCODING BITS TO SIGNALS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9267153" y="2692829"/>
              <a:ext cx="2353144" cy="422200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2-DATALINK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highlight>
                    <a:srgbClr val="008000"/>
                  </a:highlight>
                  <a:latin typeface="Open Sans"/>
                  <a:ea typeface="Open Sans"/>
                  <a:cs typeface="Open Sans"/>
                  <a:sym typeface="Open Sans"/>
                </a:rPr>
                <a:t>POINT TO POINT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9267153" y="2180925"/>
              <a:ext cx="2353144" cy="422200"/>
            </a:xfrm>
            <a:prstGeom prst="rect">
              <a:avLst/>
            </a:prstGeom>
            <a:solidFill>
              <a:schemeClr val="accent3"/>
            </a:solidFill>
            <a:ln cap="flat" cmpd="sng" w="25400">
              <a:solidFill>
                <a:srgbClr val="7878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3-NETWORK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SG" sz="1200" u="none" cap="none" strike="noStrike">
                  <a:solidFill>
                    <a:srgbClr val="FFFFFF"/>
                  </a:solidFill>
                  <a:highlight>
                    <a:srgbClr val="008000"/>
                  </a:highlight>
                  <a:latin typeface="Open Sans"/>
                  <a:ea typeface="Open Sans"/>
                  <a:cs typeface="Open Sans"/>
                  <a:sym typeface="Open Sans"/>
                </a:rPr>
                <a:t>ROUTING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14"/>
          <p:cNvSpPr/>
          <p:nvPr/>
        </p:nvSpPr>
        <p:spPr>
          <a:xfrm rot="5400000">
            <a:off x="5487875" y="3885290"/>
            <a:ext cx="1074671" cy="47905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85858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2409230" y="6091842"/>
            <a:ext cx="1074671" cy="47905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85858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6454775" y="6072738"/>
            <a:ext cx="1074671" cy="47905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85858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14"/>
          <p:cNvSpPr/>
          <p:nvPr/>
        </p:nvSpPr>
        <p:spPr>
          <a:xfrm rot="-5400000">
            <a:off x="3638738" y="3850061"/>
            <a:ext cx="1074671" cy="47905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rgbClr val="858585"/>
          </a:solidFill>
          <a:ln cap="flat" cmpd="sng" w="254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"/>
          <p:cNvSpPr txBox="1"/>
          <p:nvPr>
            <p:ph type="title"/>
          </p:nvPr>
        </p:nvSpPr>
        <p:spPr>
          <a:xfrm>
            <a:off x="1828800" y="228600"/>
            <a:ext cx="6496050" cy="820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SG"/>
              <a:t> The TCP/IP Protocol Suite</a:t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6937375" y="3013075"/>
            <a:ext cx="1366838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EA1"/>
              </a:buClr>
              <a:buSzPts val="2000"/>
              <a:buFont typeface="Arial"/>
              <a:buNone/>
            </a:pPr>
            <a:r>
              <a:rPr b="1" i="1" lang="en-SG" sz="2000" u="none" cap="none" strike="noStrike">
                <a:solidFill>
                  <a:srgbClr val="009EA1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/>
          <p:nvPr/>
        </p:nvSpPr>
        <p:spPr>
          <a:xfrm>
            <a:off x="7580313" y="1219200"/>
            <a:ext cx="1563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EA1"/>
              </a:buClr>
              <a:buSzPts val="2000"/>
              <a:buFont typeface="Arial"/>
              <a:buNone/>
            </a:pPr>
            <a:r>
              <a:rPr b="1" i="1" lang="en-SG" sz="2000" u="none" cap="none" strike="noStrike">
                <a:solidFill>
                  <a:srgbClr val="009EA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533400" y="2514600"/>
            <a:ext cx="7620000" cy="381000"/>
          </a:xfrm>
          <a:prstGeom prst="rect">
            <a:avLst/>
          </a:prstGeom>
          <a:solidFill>
            <a:srgbClr val="8CF4EA"/>
          </a:solidFill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539750" y="3054350"/>
            <a:ext cx="3956050" cy="596900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folHlink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4657053" y="3059211"/>
            <a:ext cx="2209800" cy="596900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folHlink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UDP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"/>
          <p:cNvSpPr/>
          <p:nvPr/>
        </p:nvSpPr>
        <p:spPr>
          <a:xfrm>
            <a:off x="539750" y="4044950"/>
            <a:ext cx="6159500" cy="749300"/>
          </a:xfrm>
          <a:prstGeom prst="rect">
            <a:avLst/>
          </a:prstGeom>
          <a:solidFill>
            <a:schemeClr val="hlink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folHlink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p3"/>
          <p:cNvCxnSpPr/>
          <p:nvPr/>
        </p:nvCxnSpPr>
        <p:spPr>
          <a:xfrm>
            <a:off x="838200" y="2895600"/>
            <a:ext cx="7391400" cy="0"/>
          </a:xfrm>
          <a:prstGeom prst="straightConnector1">
            <a:avLst/>
          </a:prstGeom>
          <a:noFill/>
          <a:ln cap="flat" cmpd="sng" w="508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3"/>
          <p:cNvCxnSpPr/>
          <p:nvPr/>
        </p:nvCxnSpPr>
        <p:spPr>
          <a:xfrm>
            <a:off x="838200" y="3886200"/>
            <a:ext cx="7391400" cy="0"/>
          </a:xfrm>
          <a:prstGeom prst="straightConnector1">
            <a:avLst/>
          </a:prstGeom>
          <a:noFill/>
          <a:ln cap="flat" cmpd="sng" w="508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3"/>
          <p:cNvSpPr/>
          <p:nvPr/>
        </p:nvSpPr>
        <p:spPr>
          <a:xfrm>
            <a:off x="5333215" y="4614197"/>
            <a:ext cx="1358900" cy="368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3"/>
          <p:cNvCxnSpPr/>
          <p:nvPr/>
        </p:nvCxnSpPr>
        <p:spPr>
          <a:xfrm>
            <a:off x="838200" y="5029200"/>
            <a:ext cx="7391400" cy="0"/>
          </a:xfrm>
          <a:prstGeom prst="straightConnector1">
            <a:avLst/>
          </a:prstGeom>
          <a:noFill/>
          <a:ln cap="flat" cmpd="sng" w="508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3"/>
          <p:cNvSpPr/>
          <p:nvPr/>
        </p:nvSpPr>
        <p:spPr>
          <a:xfrm>
            <a:off x="6794183" y="4003675"/>
            <a:ext cx="1510030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EA1"/>
              </a:buClr>
              <a:buSzPts val="2000"/>
              <a:buFont typeface="Arial"/>
              <a:buNone/>
            </a:pPr>
            <a:r>
              <a:rPr b="1" i="1" lang="en-SG" sz="2000" u="none" cap="none" strike="noStrike">
                <a:solidFill>
                  <a:srgbClr val="009EA1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1" i="1" sz="2000" u="none" cap="none" strike="noStrike">
              <a:solidFill>
                <a:srgbClr val="009E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539749" y="5187950"/>
            <a:ext cx="6254433" cy="5968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dot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folHlink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Ethernet/802.3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"/>
          <p:cNvSpPr/>
          <p:nvPr/>
        </p:nvSpPr>
        <p:spPr>
          <a:xfrm>
            <a:off x="6661541" y="5146674"/>
            <a:ext cx="1649619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EA1"/>
              </a:buClr>
              <a:buSzPts val="2000"/>
              <a:buFont typeface="Arial"/>
              <a:buNone/>
            </a:pPr>
            <a:r>
              <a:rPr b="1" i="1" lang="en-SG" sz="2000" u="none" cap="none" strike="noStrike">
                <a:solidFill>
                  <a:srgbClr val="009EA1"/>
                </a:solidFill>
                <a:latin typeface="Arial"/>
                <a:ea typeface="Arial"/>
                <a:cs typeface="Arial"/>
                <a:sym typeface="Arial"/>
              </a:rPr>
              <a:t>DATALINK</a:t>
            </a:r>
            <a:endParaRPr b="1" i="1" sz="2000" u="none" cap="none" strike="noStrike">
              <a:solidFill>
                <a:srgbClr val="009E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/>
          <p:nvPr/>
        </p:nvSpPr>
        <p:spPr>
          <a:xfrm>
            <a:off x="3810000" y="2514599"/>
            <a:ext cx="1314342" cy="314425"/>
          </a:xfrm>
          <a:prstGeom prst="rect">
            <a:avLst/>
          </a:prstGeom>
          <a:solidFill>
            <a:srgbClr val="8CF4EA"/>
          </a:solidFill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457200" y="1219200"/>
            <a:ext cx="2209800" cy="1143000"/>
          </a:xfrm>
          <a:prstGeom prst="cube">
            <a:avLst>
              <a:gd fmla="val 25000" name="adj"/>
            </a:avLst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6019800" y="1371600"/>
            <a:ext cx="1371600" cy="1066800"/>
          </a:xfrm>
          <a:prstGeom prst="cube">
            <a:avLst>
              <a:gd fmla="val 25000" name="adj"/>
            </a:avLst>
          </a:prstGeom>
          <a:solidFill>
            <a:srgbClr val="00808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2743200" y="1600200"/>
            <a:ext cx="1447800" cy="685800"/>
          </a:xfrm>
          <a:prstGeom prst="cube">
            <a:avLst>
              <a:gd fmla="val 25000" name="adj"/>
            </a:avLst>
          </a:prstGeom>
          <a:solidFill>
            <a:srgbClr val="FF99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4267200" y="1524000"/>
            <a:ext cx="1676400" cy="838200"/>
          </a:xfrm>
          <a:prstGeom prst="cube">
            <a:avLst>
              <a:gd fmla="val 25000" name="adj"/>
            </a:avLst>
          </a:prstGeom>
          <a:solidFill>
            <a:srgbClr val="00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BitTorrent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813465" y="2970208"/>
            <a:ext cx="926805" cy="47942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 80/443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3505200" y="2971799"/>
            <a:ext cx="838200" cy="390625"/>
          </a:xfrm>
          <a:prstGeom prst="ellipse">
            <a:avLst/>
          </a:prstGeom>
          <a:solidFill>
            <a:srgbClr val="00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 6881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2030670" y="2660640"/>
            <a:ext cx="1095450" cy="539760"/>
          </a:xfrm>
          <a:prstGeom prst="ellipse">
            <a:avLst/>
          </a:prstGeom>
          <a:solidFill>
            <a:srgbClr val="FF99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586418" y="2895601"/>
            <a:ext cx="942975" cy="382685"/>
          </a:xfrm>
          <a:prstGeom prst="ellipse">
            <a:avLst/>
          </a:prstGeom>
          <a:solidFill>
            <a:srgbClr val="00808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 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3"/>
          <p:cNvCxnSpPr>
            <a:stCxn id="194" idx="3"/>
            <a:endCxn id="198" idx="0"/>
          </p:cNvCxnSpPr>
          <p:nvPr/>
        </p:nvCxnSpPr>
        <p:spPr>
          <a:xfrm flipH="1">
            <a:off x="1276725" y="2362200"/>
            <a:ext cx="142500" cy="608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3"/>
          <p:cNvCxnSpPr>
            <a:stCxn id="196" idx="3"/>
            <a:endCxn id="200" idx="0"/>
          </p:cNvCxnSpPr>
          <p:nvPr/>
        </p:nvCxnSpPr>
        <p:spPr>
          <a:xfrm flipH="1">
            <a:off x="2578275" y="2286000"/>
            <a:ext cx="803100" cy="374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3"/>
          <p:cNvCxnSpPr>
            <a:stCxn id="197" idx="3"/>
            <a:endCxn id="199" idx="6"/>
          </p:cNvCxnSpPr>
          <p:nvPr/>
        </p:nvCxnSpPr>
        <p:spPr>
          <a:xfrm flipH="1">
            <a:off x="4343325" y="2362200"/>
            <a:ext cx="657300" cy="804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3"/>
          <p:cNvCxnSpPr>
            <a:stCxn id="195" idx="3"/>
            <a:endCxn id="201" idx="7"/>
          </p:cNvCxnSpPr>
          <p:nvPr/>
        </p:nvCxnSpPr>
        <p:spPr>
          <a:xfrm flipH="1">
            <a:off x="5391150" y="2438400"/>
            <a:ext cx="1181100" cy="513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6" name="Google Shape;206;p3"/>
          <p:cNvGrpSpPr/>
          <p:nvPr/>
        </p:nvGrpSpPr>
        <p:grpSpPr>
          <a:xfrm>
            <a:off x="7467600" y="1676400"/>
            <a:ext cx="1027113" cy="693738"/>
            <a:chOff x="3300" y="1558"/>
            <a:chExt cx="263" cy="158"/>
          </a:xfrm>
        </p:grpSpPr>
        <p:grpSp>
          <p:nvGrpSpPr>
            <p:cNvPr id="207" name="Google Shape;207;p3"/>
            <p:cNvGrpSpPr/>
            <p:nvPr/>
          </p:nvGrpSpPr>
          <p:grpSpPr>
            <a:xfrm>
              <a:off x="3300" y="1558"/>
              <a:ext cx="263" cy="91"/>
              <a:chOff x="3300" y="1558"/>
              <a:chExt cx="263" cy="91"/>
            </a:xfrm>
          </p:grpSpPr>
          <p:sp>
            <p:nvSpPr>
              <p:cNvPr id="208" name="Google Shape;208;p3"/>
              <p:cNvSpPr/>
              <p:nvPr/>
            </p:nvSpPr>
            <p:spPr>
              <a:xfrm>
                <a:off x="3300" y="1558"/>
                <a:ext cx="263" cy="91"/>
              </a:xfrm>
              <a:custGeom>
                <a:rect b="b" l="l" r="r" t="t"/>
                <a:pathLst>
                  <a:path extrusionOk="0" h="91" w="263">
                    <a:moveTo>
                      <a:pt x="247" y="90"/>
                    </a:moveTo>
                    <a:lnTo>
                      <a:pt x="262" y="72"/>
                    </a:lnTo>
                    <a:lnTo>
                      <a:pt x="262" y="45"/>
                    </a:lnTo>
                    <a:lnTo>
                      <a:pt x="252" y="27"/>
                    </a:lnTo>
                    <a:lnTo>
                      <a:pt x="227" y="9"/>
                    </a:lnTo>
                    <a:lnTo>
                      <a:pt x="181" y="0"/>
                    </a:lnTo>
                    <a:lnTo>
                      <a:pt x="81" y="0"/>
                    </a:lnTo>
                    <a:lnTo>
                      <a:pt x="35" y="9"/>
                    </a:lnTo>
                    <a:lnTo>
                      <a:pt x="10" y="27"/>
                    </a:lnTo>
                    <a:lnTo>
                      <a:pt x="0" y="41"/>
                    </a:lnTo>
                    <a:lnTo>
                      <a:pt x="0" y="68"/>
                    </a:lnTo>
                    <a:lnTo>
                      <a:pt x="15" y="90"/>
                    </a:lnTo>
                    <a:lnTo>
                      <a:pt x="71" y="50"/>
                    </a:lnTo>
                    <a:lnTo>
                      <a:pt x="66" y="41"/>
                    </a:lnTo>
                    <a:lnTo>
                      <a:pt x="55" y="32"/>
                    </a:lnTo>
                    <a:lnTo>
                      <a:pt x="207" y="32"/>
                    </a:lnTo>
                    <a:lnTo>
                      <a:pt x="197" y="41"/>
                    </a:lnTo>
                    <a:lnTo>
                      <a:pt x="191" y="50"/>
                    </a:lnTo>
                    <a:lnTo>
                      <a:pt x="247" y="90"/>
                    </a:lnTo>
                  </a:path>
                </a:pathLst>
              </a:custGeom>
              <a:solidFill>
                <a:srgbClr val="AAAAAA"/>
              </a:solidFill>
              <a:ln cap="rnd" cmpd="sng" w="127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0"/>
                  <a:buFont typeface="Poppins"/>
                  <a:buNone/>
                </a:pPr>
                <a:r>
                  <a:t/>
                </a:r>
                <a:endParaRPr b="0" i="0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9" name="Google Shape;209;p3"/>
              <p:cNvCxnSpPr/>
              <p:nvPr/>
            </p:nvCxnSpPr>
            <p:spPr>
              <a:xfrm rot="10800000">
                <a:off x="3333" y="1581"/>
                <a:ext cx="30" cy="1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5555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0" name="Google Shape;210;p3"/>
              <p:cNvCxnSpPr/>
              <p:nvPr/>
            </p:nvCxnSpPr>
            <p:spPr>
              <a:xfrm flipH="1" rot="10800000">
                <a:off x="3516" y="1581"/>
                <a:ext cx="10" cy="13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5555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3"/>
              <p:cNvCxnSpPr/>
              <p:nvPr/>
            </p:nvCxnSpPr>
            <p:spPr>
              <a:xfrm>
                <a:off x="3507" y="1598"/>
                <a:ext cx="33" cy="2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5555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2" name="Google Shape;212;p3"/>
              <p:cNvCxnSpPr/>
              <p:nvPr/>
            </p:nvCxnSpPr>
            <p:spPr>
              <a:xfrm flipH="1">
                <a:off x="3314" y="1598"/>
                <a:ext cx="49" cy="24"/>
              </a:xfrm>
              <a:prstGeom prst="straightConnector1">
                <a:avLst/>
              </a:prstGeom>
              <a:noFill/>
              <a:ln cap="flat" cmpd="sng" w="12700">
                <a:solidFill>
                  <a:srgbClr val="55555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3" name="Google Shape;213;p3"/>
            <p:cNvSpPr/>
            <p:nvPr/>
          </p:nvSpPr>
          <p:spPr>
            <a:xfrm>
              <a:off x="3346" y="1571"/>
              <a:ext cx="171" cy="141"/>
            </a:xfrm>
            <a:custGeom>
              <a:rect b="b" l="l" r="r" t="t"/>
              <a:pathLst>
                <a:path extrusionOk="0" h="141" w="171">
                  <a:moveTo>
                    <a:pt x="170" y="140"/>
                  </a:moveTo>
                  <a:lnTo>
                    <a:pt x="170" y="90"/>
                  </a:lnTo>
                  <a:lnTo>
                    <a:pt x="139" y="27"/>
                  </a:lnTo>
                  <a:lnTo>
                    <a:pt x="130" y="27"/>
                  </a:lnTo>
                  <a:lnTo>
                    <a:pt x="125" y="0"/>
                  </a:lnTo>
                  <a:lnTo>
                    <a:pt x="112" y="0"/>
                  </a:lnTo>
                  <a:lnTo>
                    <a:pt x="107" y="27"/>
                  </a:lnTo>
                  <a:lnTo>
                    <a:pt x="72" y="27"/>
                  </a:lnTo>
                  <a:lnTo>
                    <a:pt x="67" y="0"/>
                  </a:lnTo>
                  <a:lnTo>
                    <a:pt x="54" y="0"/>
                  </a:lnTo>
                  <a:lnTo>
                    <a:pt x="49" y="27"/>
                  </a:lnTo>
                  <a:lnTo>
                    <a:pt x="36" y="27"/>
                  </a:lnTo>
                  <a:lnTo>
                    <a:pt x="0" y="90"/>
                  </a:lnTo>
                  <a:lnTo>
                    <a:pt x="0" y="140"/>
                  </a:lnTo>
                  <a:lnTo>
                    <a:pt x="170" y="140"/>
                  </a:lnTo>
                </a:path>
              </a:pathLst>
            </a:custGeom>
            <a:solidFill>
              <a:srgbClr val="AAAAAA"/>
            </a:solidFill>
            <a:ln cap="rnd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Poppins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3348" y="1666"/>
              <a:ext cx="167" cy="41"/>
            </a:xfrm>
            <a:prstGeom prst="rect">
              <a:avLst/>
            </a:prstGeom>
            <a:solidFill>
              <a:srgbClr val="808080"/>
            </a:solidFill>
            <a:ln cap="flat" cmpd="sng" w="127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Poppins"/>
                <a:buNone/>
              </a:pPr>
              <a:r>
                <a:t/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5" name="Google Shape;215;p3"/>
            <p:cNvGrpSpPr/>
            <p:nvPr/>
          </p:nvGrpSpPr>
          <p:grpSpPr>
            <a:xfrm>
              <a:off x="3369" y="1716"/>
              <a:ext cx="124" cy="0"/>
              <a:chOff x="3369" y="1716"/>
              <a:chExt cx="124" cy="0"/>
            </a:xfrm>
          </p:grpSpPr>
          <p:cxnSp>
            <p:nvCxnSpPr>
              <p:cNvPr id="216" name="Google Shape;216;p3"/>
              <p:cNvCxnSpPr/>
              <p:nvPr/>
            </p:nvCxnSpPr>
            <p:spPr>
              <a:xfrm>
                <a:off x="3369" y="1716"/>
                <a:ext cx="3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3"/>
              <p:cNvCxnSpPr/>
              <p:nvPr/>
            </p:nvCxnSpPr>
            <p:spPr>
              <a:xfrm>
                <a:off x="3491" y="1716"/>
                <a:ext cx="2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218" name="Google Shape;218;p3"/>
            <p:cNvGrpSpPr/>
            <p:nvPr/>
          </p:nvGrpSpPr>
          <p:grpSpPr>
            <a:xfrm>
              <a:off x="3400" y="1612"/>
              <a:ext cx="63" cy="45"/>
              <a:chOff x="3400" y="1612"/>
              <a:chExt cx="63" cy="45"/>
            </a:xfrm>
          </p:grpSpPr>
          <p:grpSp>
            <p:nvGrpSpPr>
              <p:cNvPr id="219" name="Google Shape;219;p3"/>
              <p:cNvGrpSpPr/>
              <p:nvPr/>
            </p:nvGrpSpPr>
            <p:grpSpPr>
              <a:xfrm>
                <a:off x="3400" y="1648"/>
                <a:ext cx="63" cy="9"/>
                <a:chOff x="3400" y="1648"/>
                <a:chExt cx="63" cy="9"/>
              </a:xfrm>
            </p:grpSpPr>
            <p:sp>
              <p:nvSpPr>
                <p:cNvPr id="220" name="Google Shape;220;p3"/>
                <p:cNvSpPr/>
                <p:nvPr/>
              </p:nvSpPr>
              <p:spPr>
                <a:xfrm>
                  <a:off x="3400" y="1648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1" name="Google Shape;221;p3"/>
                <p:cNvSpPr/>
                <p:nvPr/>
              </p:nvSpPr>
              <p:spPr>
                <a:xfrm>
                  <a:off x="3423" y="1648"/>
                  <a:ext cx="17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2" name="Google Shape;222;p3"/>
                <p:cNvSpPr/>
                <p:nvPr/>
              </p:nvSpPr>
              <p:spPr>
                <a:xfrm>
                  <a:off x="3445" y="1648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3" name="Google Shape;223;p3"/>
              <p:cNvGrpSpPr/>
              <p:nvPr/>
            </p:nvGrpSpPr>
            <p:grpSpPr>
              <a:xfrm>
                <a:off x="3400" y="1636"/>
                <a:ext cx="63" cy="9"/>
                <a:chOff x="3400" y="1636"/>
                <a:chExt cx="63" cy="9"/>
              </a:xfrm>
            </p:grpSpPr>
            <p:sp>
              <p:nvSpPr>
                <p:cNvPr id="224" name="Google Shape;224;p3"/>
                <p:cNvSpPr/>
                <p:nvPr/>
              </p:nvSpPr>
              <p:spPr>
                <a:xfrm>
                  <a:off x="3400" y="1636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5" name="Google Shape;225;p3"/>
                <p:cNvSpPr/>
                <p:nvPr/>
              </p:nvSpPr>
              <p:spPr>
                <a:xfrm>
                  <a:off x="3423" y="1636"/>
                  <a:ext cx="17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6" name="Google Shape;226;p3"/>
                <p:cNvSpPr/>
                <p:nvPr/>
              </p:nvSpPr>
              <p:spPr>
                <a:xfrm>
                  <a:off x="3445" y="1636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27" name="Google Shape;227;p3"/>
              <p:cNvGrpSpPr/>
              <p:nvPr/>
            </p:nvGrpSpPr>
            <p:grpSpPr>
              <a:xfrm>
                <a:off x="3400" y="1624"/>
                <a:ext cx="63" cy="9"/>
                <a:chOff x="3400" y="1624"/>
                <a:chExt cx="63" cy="9"/>
              </a:xfrm>
            </p:grpSpPr>
            <p:sp>
              <p:nvSpPr>
                <p:cNvPr id="228" name="Google Shape;228;p3"/>
                <p:cNvSpPr/>
                <p:nvPr/>
              </p:nvSpPr>
              <p:spPr>
                <a:xfrm>
                  <a:off x="3400" y="1624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9" name="Google Shape;229;p3"/>
                <p:cNvSpPr/>
                <p:nvPr/>
              </p:nvSpPr>
              <p:spPr>
                <a:xfrm>
                  <a:off x="3423" y="1624"/>
                  <a:ext cx="17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0" name="Google Shape;230;p3"/>
                <p:cNvSpPr/>
                <p:nvPr/>
              </p:nvSpPr>
              <p:spPr>
                <a:xfrm>
                  <a:off x="3445" y="1624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1" name="Google Shape;231;p3"/>
              <p:cNvGrpSpPr/>
              <p:nvPr/>
            </p:nvGrpSpPr>
            <p:grpSpPr>
              <a:xfrm>
                <a:off x="3400" y="1612"/>
                <a:ext cx="63" cy="9"/>
                <a:chOff x="3400" y="1612"/>
                <a:chExt cx="63" cy="9"/>
              </a:xfrm>
            </p:grpSpPr>
            <p:sp>
              <p:nvSpPr>
                <p:cNvPr id="232" name="Google Shape;232;p3"/>
                <p:cNvSpPr/>
                <p:nvPr/>
              </p:nvSpPr>
              <p:spPr>
                <a:xfrm>
                  <a:off x="3400" y="1612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3"/>
                <p:cNvSpPr/>
                <p:nvPr/>
              </p:nvSpPr>
              <p:spPr>
                <a:xfrm>
                  <a:off x="3423" y="1612"/>
                  <a:ext cx="17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3"/>
                <p:cNvSpPr/>
                <p:nvPr/>
              </p:nvSpPr>
              <p:spPr>
                <a:xfrm>
                  <a:off x="3445" y="1612"/>
                  <a:ext cx="18" cy="9"/>
                </a:xfrm>
                <a:prstGeom prst="rect">
                  <a:avLst/>
                </a:prstGeom>
                <a:solidFill>
                  <a:srgbClr val="1C1C1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00"/>
                    <a:buFont typeface="Poppins"/>
                    <a:buNone/>
                  </a:pPr>
                  <a:r>
                    <a:t/>
                  </a:r>
                  <a:endParaRPr b="0" i="0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35" name="Google Shape;235;p3"/>
          <p:cNvSpPr/>
          <p:nvPr/>
        </p:nvSpPr>
        <p:spPr>
          <a:xfrm>
            <a:off x="5903782" y="2869562"/>
            <a:ext cx="1119170" cy="457200"/>
          </a:xfrm>
          <a:prstGeom prst="ellipse">
            <a:avLst/>
          </a:prstGeom>
          <a:solidFill>
            <a:srgbClr val="00808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 1010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3"/>
          <p:cNvCxnSpPr>
            <a:stCxn id="214" idx="1"/>
            <a:endCxn id="235" idx="7"/>
          </p:cNvCxnSpPr>
          <p:nvPr/>
        </p:nvCxnSpPr>
        <p:spPr>
          <a:xfrm flipH="1">
            <a:off x="6859158" y="2240611"/>
            <a:ext cx="795900" cy="696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3"/>
          <p:cNvCxnSpPr/>
          <p:nvPr/>
        </p:nvCxnSpPr>
        <p:spPr>
          <a:xfrm>
            <a:off x="838200" y="6125497"/>
            <a:ext cx="7391400" cy="0"/>
          </a:xfrm>
          <a:prstGeom prst="straightConnector1">
            <a:avLst/>
          </a:prstGeom>
          <a:noFill/>
          <a:ln cap="flat" cmpd="sng" w="508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3"/>
          <p:cNvSpPr/>
          <p:nvPr/>
        </p:nvSpPr>
        <p:spPr>
          <a:xfrm>
            <a:off x="6886959" y="6255153"/>
            <a:ext cx="1482779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EA1"/>
              </a:buClr>
              <a:buSzPts val="2000"/>
              <a:buFont typeface="Arial"/>
              <a:buNone/>
            </a:pPr>
            <a:r>
              <a:rPr b="1" i="1" lang="en-SG" sz="2000" u="none" cap="none" strike="noStrike">
                <a:solidFill>
                  <a:srgbClr val="009EA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1" i="1" sz="2000" u="none" cap="none" strike="noStrike">
              <a:solidFill>
                <a:srgbClr val="009E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"/>
          <p:cNvSpPr/>
          <p:nvPr/>
        </p:nvSpPr>
        <p:spPr>
          <a:xfrm>
            <a:off x="507293" y="6178551"/>
            <a:ext cx="6254433" cy="596891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dot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folHlink"/>
            </a:outerShdw>
          </a:effectLst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Wireless/ Copper Cable/ Fibre Optic Cable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"/>
          <p:cNvSpPr/>
          <p:nvPr/>
        </p:nvSpPr>
        <p:spPr>
          <a:xfrm>
            <a:off x="739775" y="4933951"/>
            <a:ext cx="1358900" cy="368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DHCP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"/>
          <p:cNvSpPr/>
          <p:nvPr/>
        </p:nvSpPr>
        <p:spPr>
          <a:xfrm>
            <a:off x="1695264" y="3968750"/>
            <a:ext cx="1358900" cy="368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"/>
          <p:cNvSpPr/>
          <p:nvPr/>
        </p:nvSpPr>
        <p:spPr>
          <a:xfrm>
            <a:off x="3892550" y="3962401"/>
            <a:ext cx="1358900" cy="3683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RIP/OSPF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Web Application Architecture</a:t>
            </a:r>
            <a:endParaRPr/>
          </a:p>
        </p:txBody>
      </p:sp>
      <p:sp>
        <p:nvSpPr>
          <p:cNvPr id="248" name="Google Shape;248;p4"/>
          <p:cNvSpPr txBox="1"/>
          <p:nvPr>
            <p:ph idx="1" type="body"/>
          </p:nvPr>
        </p:nvSpPr>
        <p:spPr>
          <a:xfrm>
            <a:off x="340542" y="4159045"/>
            <a:ext cx="8462915" cy="2251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Client Server (Centralised)</a:t>
            </a:r>
            <a:endParaRPr/>
          </a:p>
          <a:p>
            <a:pPr indent="-257168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─"/>
            </a:pPr>
            <a:r>
              <a:rPr lang="en-SG"/>
              <a:t>Fat Client / Client-side scripting)</a:t>
            </a:r>
            <a:endParaRPr/>
          </a:p>
          <a:p>
            <a:pPr indent="-257168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─"/>
            </a:pPr>
            <a:r>
              <a:rPr lang="en-SG"/>
              <a:t>Thin Client / Server-side scripting)</a:t>
            </a:r>
            <a:endParaRPr/>
          </a:p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Peer to Peer (Decentralised/Distributed) </a:t>
            </a:r>
            <a:endParaRPr/>
          </a:p>
        </p:txBody>
      </p:sp>
      <p:sp>
        <p:nvSpPr>
          <p:cNvPr id="249" name="Google Shape;249;p4"/>
          <p:cNvSpPr txBox="1"/>
          <p:nvPr/>
        </p:nvSpPr>
        <p:spPr>
          <a:xfrm>
            <a:off x="610929" y="1143200"/>
            <a:ext cx="8462915" cy="301584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66692" lvl="0" marL="26999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b="0" i="0" lang="en-SG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Web 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68" lvl="1" marL="5399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─"/>
            </a:pPr>
            <a:r>
              <a:rPr b="0" i="0" lang="en-SG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 (Hyper Text Transfer Protocol)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68" lvl="1" marL="5399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─"/>
            </a:pPr>
            <a:r>
              <a:rPr b="0" i="0" lang="en-SG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URL (Uniform Resource Locator)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68" lvl="1" marL="5399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─"/>
            </a:pPr>
            <a:r>
              <a:rPr b="0" i="0" lang="en-SG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HTML(Hyper Text Markup Language)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68" lvl="1" marL="539987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─"/>
            </a:pPr>
            <a:r>
              <a:rPr b="0" i="0" lang="en-SG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JSON (Javascript Object Notation)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Application Network Topology</a:t>
            </a:r>
            <a:endParaRPr/>
          </a:p>
        </p:txBody>
      </p:sp>
      <p:sp>
        <p:nvSpPr>
          <p:cNvPr id="255" name="Google Shape;255;p5"/>
          <p:cNvSpPr txBox="1"/>
          <p:nvPr>
            <p:ph idx="1" type="body"/>
          </p:nvPr>
        </p:nvSpPr>
        <p:spPr>
          <a:xfrm>
            <a:off x="267444" y="816258"/>
            <a:ext cx="3186189" cy="50973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Client Server</a:t>
            </a:r>
            <a:endParaRPr/>
          </a:p>
          <a:p>
            <a:pPr indent="-257168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─"/>
            </a:pPr>
            <a:r>
              <a:rPr lang="en-SG"/>
              <a:t> client must know the address of the server</a:t>
            </a:r>
            <a:endParaRPr/>
          </a:p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Peer to Peer (P2P)</a:t>
            </a:r>
            <a:endParaRPr/>
          </a:p>
          <a:p>
            <a:pPr indent="-257168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─"/>
            </a:pPr>
            <a:r>
              <a:rPr lang="en-SG"/>
              <a:t> nodes discover peers by multicast, dns seeds, tracker servers</a:t>
            </a:r>
            <a:endParaRPr/>
          </a:p>
        </p:txBody>
      </p:sp>
      <p:grpSp>
        <p:nvGrpSpPr>
          <p:cNvPr id="256" name="Google Shape;256;p5"/>
          <p:cNvGrpSpPr/>
          <p:nvPr/>
        </p:nvGrpSpPr>
        <p:grpSpPr>
          <a:xfrm>
            <a:off x="3850511" y="1143200"/>
            <a:ext cx="3671135" cy="2221098"/>
            <a:chOff x="3647385" y="1354218"/>
            <a:chExt cx="3671135" cy="2221098"/>
          </a:xfrm>
        </p:grpSpPr>
        <p:pic>
          <p:nvPicPr>
            <p:cNvPr id="257" name="Google Shape;257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47385" y="1524874"/>
              <a:ext cx="717550" cy="714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File Server_Updated2005" id="258" name="Google Shape;25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997728" y="1354218"/>
              <a:ext cx="793750" cy="1055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877078" y="2833953"/>
              <a:ext cx="914400" cy="7413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518420" y="1456931"/>
              <a:ext cx="800100" cy="739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1" name="Google Shape;261;p5"/>
            <p:cNvCxnSpPr>
              <a:stCxn id="257" idx="3"/>
              <a:endCxn id="258" idx="1"/>
            </p:cNvCxnSpPr>
            <p:nvPr/>
          </p:nvCxnSpPr>
          <p:spPr>
            <a:xfrm>
              <a:off x="4364935" y="1882062"/>
              <a:ext cx="632700" cy="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5"/>
            <p:cNvCxnSpPr>
              <a:stCxn id="259" idx="0"/>
              <a:endCxn id="258" idx="2"/>
            </p:cNvCxnSpPr>
            <p:nvPr/>
          </p:nvCxnSpPr>
          <p:spPr>
            <a:xfrm flipH="1" rot="10800000">
              <a:off x="5334278" y="2410053"/>
              <a:ext cx="60300" cy="42390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5"/>
            <p:cNvCxnSpPr>
              <a:stCxn id="260" idx="1"/>
              <a:endCxn id="258" idx="3"/>
            </p:cNvCxnSpPr>
            <p:nvPr/>
          </p:nvCxnSpPr>
          <p:spPr>
            <a:xfrm flipH="1">
              <a:off x="5791520" y="1826819"/>
              <a:ext cx="726900" cy="5520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64" name="Google Shape;264;p5"/>
          <p:cNvGrpSpPr/>
          <p:nvPr/>
        </p:nvGrpSpPr>
        <p:grpSpPr>
          <a:xfrm>
            <a:off x="419449" y="5202185"/>
            <a:ext cx="3907255" cy="1330590"/>
            <a:chOff x="419449" y="5202185"/>
            <a:chExt cx="3907255" cy="1330590"/>
          </a:xfrm>
        </p:grpSpPr>
        <p:pic>
          <p:nvPicPr>
            <p:cNvPr id="265" name="Google Shape;265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9449" y="5791412"/>
              <a:ext cx="914400" cy="7413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047187" y="5764425"/>
              <a:ext cx="1082675" cy="7683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7" name="Google Shape;267;p5"/>
            <p:cNvCxnSpPr/>
            <p:nvPr/>
          </p:nvCxnSpPr>
          <p:spPr>
            <a:xfrm>
              <a:off x="696844" y="5202185"/>
              <a:ext cx="3478972" cy="0"/>
            </a:xfrm>
            <a:prstGeom prst="straightConnector1">
              <a:avLst/>
            </a:prstGeom>
            <a:noFill/>
            <a:ln cap="flat" cmpd="sng" w="57150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5"/>
            <p:cNvCxnSpPr>
              <a:stCxn id="265" idx="0"/>
            </p:cNvCxnSpPr>
            <p:nvPr/>
          </p:nvCxnSpPr>
          <p:spPr>
            <a:xfrm rot="10800000">
              <a:off x="876649" y="5202212"/>
              <a:ext cx="0" cy="58920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5"/>
            <p:cNvCxnSpPr>
              <a:stCxn id="266" idx="0"/>
            </p:cNvCxnSpPr>
            <p:nvPr/>
          </p:nvCxnSpPr>
          <p:spPr>
            <a:xfrm rot="10800000">
              <a:off x="2588525" y="5202225"/>
              <a:ext cx="0" cy="56220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0" name="Google Shape;270;p5"/>
            <p:cNvCxnSpPr/>
            <p:nvPr/>
          </p:nvCxnSpPr>
          <p:spPr>
            <a:xfrm rot="10800000">
              <a:off x="3967929" y="5202185"/>
              <a:ext cx="0" cy="589227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1" name="Google Shape;271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09154" y="5760963"/>
              <a:ext cx="717550" cy="714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2" name="Google Shape;272;p5"/>
          <p:cNvGrpSpPr/>
          <p:nvPr/>
        </p:nvGrpSpPr>
        <p:grpSpPr>
          <a:xfrm>
            <a:off x="5731702" y="4772634"/>
            <a:ext cx="2779788" cy="2037556"/>
            <a:chOff x="5217282" y="4419995"/>
            <a:chExt cx="2779788" cy="2037556"/>
          </a:xfrm>
        </p:grpSpPr>
        <p:pic>
          <p:nvPicPr>
            <p:cNvPr id="273" name="Google Shape;273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188184" y="5716188"/>
              <a:ext cx="914400" cy="7413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217282" y="4419995"/>
              <a:ext cx="1082675" cy="7683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5" name="Google Shape;275;p5"/>
            <p:cNvCxnSpPr>
              <a:stCxn id="274" idx="2"/>
              <a:endCxn id="273" idx="0"/>
            </p:cNvCxnSpPr>
            <p:nvPr/>
          </p:nvCxnSpPr>
          <p:spPr>
            <a:xfrm>
              <a:off x="5758619" y="5188345"/>
              <a:ext cx="886800" cy="52770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5"/>
            <p:cNvCxnSpPr>
              <a:stCxn id="274" idx="3"/>
            </p:cNvCxnSpPr>
            <p:nvPr/>
          </p:nvCxnSpPr>
          <p:spPr>
            <a:xfrm>
              <a:off x="6299957" y="4804170"/>
              <a:ext cx="1069500" cy="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5"/>
            <p:cNvCxnSpPr>
              <a:endCxn id="273" idx="3"/>
            </p:cNvCxnSpPr>
            <p:nvPr/>
          </p:nvCxnSpPr>
          <p:spPr>
            <a:xfrm flipH="1">
              <a:off x="7102584" y="5161370"/>
              <a:ext cx="625500" cy="925500"/>
            </a:xfrm>
            <a:prstGeom prst="straightConnector1">
              <a:avLst/>
            </a:prstGeom>
            <a:noFill/>
            <a:ln cap="flat" cmpd="sng" w="9525">
              <a:solidFill>
                <a:srgbClr val="D7D7D7"/>
              </a:solidFill>
              <a:prstDash val="solid"/>
              <a:round/>
              <a:headEnd len="sm" w="sm" type="none"/>
              <a:tailEnd len="sm" w="sm" type="none"/>
            </a:ln>
          </p:spPr>
        </p:cxnSp>
        <p:pic>
          <p:nvPicPr>
            <p:cNvPr id="278" name="Google Shape;27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9520" y="4625577"/>
              <a:ext cx="717550" cy="71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"/>
          <p:cNvSpPr txBox="1"/>
          <p:nvPr>
            <p:ph type="title"/>
          </p:nvPr>
        </p:nvSpPr>
        <p:spPr>
          <a:xfrm>
            <a:off x="0" y="0"/>
            <a:ext cx="9156000" cy="1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Client Server vs Peer to Peer</a:t>
            </a:r>
            <a:endParaRPr/>
          </a:p>
        </p:txBody>
      </p:sp>
      <p:sp>
        <p:nvSpPr>
          <p:cNvPr id="284" name="Google Shape;284;p6"/>
          <p:cNvSpPr txBox="1"/>
          <p:nvPr>
            <p:ph idx="1" type="body"/>
          </p:nvPr>
        </p:nvSpPr>
        <p:spPr>
          <a:xfrm>
            <a:off x="178904" y="957025"/>
            <a:ext cx="3994500" cy="566761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SG" sz="2000"/>
              <a:t>Client Server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SG" sz="2000" u="sng"/>
              <a:t>Pros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-"/>
            </a:pPr>
            <a:r>
              <a:rPr lang="en-SG" sz="2000"/>
              <a:t>Easy to code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-"/>
            </a:pPr>
            <a:r>
              <a:rPr lang="en-SG" sz="2000"/>
              <a:t>Easy to maintain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-"/>
            </a:pPr>
            <a:r>
              <a:rPr lang="en-SG" sz="2000"/>
              <a:t>Centralised Security management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-"/>
            </a:pPr>
            <a:r>
              <a:rPr lang="en-SG" sz="2000"/>
              <a:t>Centralised Data Management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1" lang="en-SG" sz="2000" u="sng"/>
              <a:t>Cons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-"/>
            </a:pPr>
            <a:r>
              <a:rPr lang="en-SG" sz="2000"/>
              <a:t>Single Point of Failure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-"/>
            </a:pPr>
            <a:r>
              <a:rPr lang="en-SG" sz="2000"/>
              <a:t>Performance bottleneck at Server</a:t>
            </a:r>
            <a:endParaRPr/>
          </a:p>
        </p:txBody>
      </p:sp>
      <p:sp>
        <p:nvSpPr>
          <p:cNvPr id="285" name="Google Shape;285;p6"/>
          <p:cNvSpPr txBox="1"/>
          <p:nvPr>
            <p:ph idx="2" type="body"/>
          </p:nvPr>
        </p:nvSpPr>
        <p:spPr>
          <a:xfrm>
            <a:off x="4352308" y="957025"/>
            <a:ext cx="4612788" cy="57618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SG" sz="2000"/>
              <a:t>Peer to Peer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en-SG" sz="2000" u="sng"/>
              <a:t>Pros</a:t>
            </a:r>
            <a:endParaRPr sz="2000"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No single point of Failure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Scalable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Parallel Processing</a:t>
            </a:r>
            <a:endParaRPr/>
          </a:p>
          <a:p>
            <a:pPr indent="-225425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en-SG" sz="2000" u="sng"/>
              <a:t>Cons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Harder to Code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Difficult to maintain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Decentralise Security is difficult to enforce </a:t>
            </a:r>
            <a:endParaRPr/>
          </a:p>
          <a:p>
            <a:pPr indent="-3429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-"/>
            </a:pPr>
            <a:r>
              <a:rPr lang="en-SG" sz="2000"/>
              <a:t>Data consistency </a:t>
            </a:r>
            <a:endParaRPr/>
          </a:p>
          <a:p>
            <a:pPr indent="0" lvl="2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SG" sz="1500"/>
              <a:t>	- Synchronisation</a:t>
            </a:r>
            <a:endParaRPr/>
          </a:p>
          <a:p>
            <a:pPr indent="0" lvl="2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SG" sz="1500"/>
              <a:t>	- Conflict Resolution</a:t>
            </a:r>
            <a:endParaRPr/>
          </a:p>
          <a:p>
            <a:pPr indent="-219583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Anatomy of an Application</a:t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2306320" y="1656080"/>
            <a:ext cx="4358640" cy="14528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PRESENTATION/View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2306320" y="3129280"/>
            <a:ext cx="4358640" cy="14528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LOGIC/Controller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2306320" y="4602480"/>
            <a:ext cx="4358640" cy="14528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DATA/Model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SQL/NON-SQL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"/>
          <p:cNvSpPr txBox="1"/>
          <p:nvPr>
            <p:ph type="title"/>
          </p:nvPr>
        </p:nvSpPr>
        <p:spPr>
          <a:xfrm>
            <a:off x="2" y="-6858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Thin Client/Server-side scripting  Architecture</a:t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5706427" y="3182989"/>
            <a:ext cx="2585720" cy="95755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PRESENTATION/View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706427" y="4282289"/>
            <a:ext cx="2585720" cy="812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LOGIC/Controller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706427" y="5314534"/>
            <a:ext cx="2585720" cy="812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DATA/Model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8"/>
          <p:cNvGrpSpPr/>
          <p:nvPr/>
        </p:nvGrpSpPr>
        <p:grpSpPr>
          <a:xfrm>
            <a:off x="848885" y="1553400"/>
            <a:ext cx="1565493" cy="1768089"/>
            <a:chOff x="997475" y="1534428"/>
            <a:chExt cx="1565493" cy="1768089"/>
          </a:xfrm>
        </p:grpSpPr>
        <p:pic>
          <p:nvPicPr>
            <p:cNvPr id="303" name="Google Shape;303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63002" y="1534428"/>
              <a:ext cx="1234440" cy="1031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8"/>
            <p:cNvSpPr txBox="1"/>
            <p:nvPr/>
          </p:nvSpPr>
          <p:spPr>
            <a:xfrm>
              <a:off x="997475" y="2656186"/>
              <a:ext cx="156549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Web Browser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(Client)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6772654" y="1619470"/>
            <a:ext cx="1853503" cy="1563519"/>
            <a:chOff x="6772654" y="1619470"/>
            <a:chExt cx="1853503" cy="1563519"/>
          </a:xfrm>
        </p:grpSpPr>
        <p:grpSp>
          <p:nvGrpSpPr>
            <p:cNvPr id="306" name="Google Shape;306;p8"/>
            <p:cNvGrpSpPr/>
            <p:nvPr/>
          </p:nvGrpSpPr>
          <p:grpSpPr>
            <a:xfrm>
              <a:off x="6772654" y="1619470"/>
              <a:ext cx="1398781" cy="1563519"/>
              <a:chOff x="6772654" y="1619470"/>
              <a:chExt cx="1398781" cy="1563519"/>
            </a:xfrm>
          </p:grpSpPr>
          <p:pic>
            <p:nvPicPr>
              <p:cNvPr descr="File Server_Updated2005" id="307" name="Google Shape;307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075170" y="1619470"/>
                <a:ext cx="793750" cy="10556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08" name="Google Shape;308;p8"/>
              <p:cNvSpPr txBox="1"/>
              <p:nvPr/>
            </p:nvSpPr>
            <p:spPr>
              <a:xfrm>
                <a:off x="6772654" y="2813657"/>
                <a:ext cx="13987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SG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Web Server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09" name="Google Shape;30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58138" y="2184815"/>
              <a:ext cx="668019" cy="5342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0" name="Google Shape;310;p8"/>
          <p:cNvSpPr/>
          <p:nvPr/>
        </p:nvSpPr>
        <p:spPr>
          <a:xfrm>
            <a:off x="9707464" y="5486469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9707464" y="4418919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10852614" y="5537369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3" name="Google Shape;313;p8"/>
          <p:cNvGrpSpPr/>
          <p:nvPr/>
        </p:nvGrpSpPr>
        <p:grpSpPr>
          <a:xfrm>
            <a:off x="3264310" y="2813657"/>
            <a:ext cx="5604387" cy="3587212"/>
            <a:chOff x="3437574" y="2813657"/>
            <a:chExt cx="5431123" cy="2424873"/>
          </a:xfrm>
        </p:grpSpPr>
        <p:sp>
          <p:nvSpPr>
            <p:cNvPr id="314" name="Google Shape;314;p8"/>
            <p:cNvSpPr/>
            <p:nvPr/>
          </p:nvSpPr>
          <p:spPr>
            <a:xfrm>
              <a:off x="3437574" y="2813657"/>
              <a:ext cx="5431123" cy="2424873"/>
            </a:xfrm>
            <a:prstGeom prst="rect">
              <a:avLst/>
            </a:prstGeom>
            <a:noFill/>
            <a:ln cap="flat" cmpd="sng" w="254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8"/>
            <p:cNvSpPr txBox="1"/>
            <p:nvPr/>
          </p:nvSpPr>
          <p:spPr>
            <a:xfrm>
              <a:off x="3906638" y="3661768"/>
              <a:ext cx="1338828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Flask/Jinja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Framework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 txBox="1"/>
          <p:nvPr>
            <p:ph type="title"/>
          </p:nvPr>
        </p:nvSpPr>
        <p:spPr>
          <a:xfrm>
            <a:off x="2" y="-6858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Fat Client/Client-side scripting Architecture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594324" y="3589289"/>
            <a:ext cx="2645056" cy="957559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PRESENTATION/View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358868" y="4546848"/>
            <a:ext cx="2585720" cy="812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LOGIC/Controller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6358868" y="5588269"/>
            <a:ext cx="2585720" cy="812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DATA/Model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9"/>
          <p:cNvGrpSpPr/>
          <p:nvPr/>
        </p:nvGrpSpPr>
        <p:grpSpPr>
          <a:xfrm>
            <a:off x="848885" y="1553400"/>
            <a:ext cx="1565493" cy="1768089"/>
            <a:chOff x="997475" y="1534428"/>
            <a:chExt cx="1565493" cy="1768089"/>
          </a:xfrm>
        </p:grpSpPr>
        <p:pic>
          <p:nvPicPr>
            <p:cNvPr id="325" name="Google Shape;325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63002" y="1534428"/>
              <a:ext cx="1234440" cy="1031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9"/>
            <p:cNvSpPr txBox="1"/>
            <p:nvPr/>
          </p:nvSpPr>
          <p:spPr>
            <a:xfrm>
              <a:off x="997475" y="2656186"/>
              <a:ext cx="156549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Web Browser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(Client)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7" name="Google Shape;327;p9"/>
          <p:cNvGrpSpPr/>
          <p:nvPr/>
        </p:nvGrpSpPr>
        <p:grpSpPr>
          <a:xfrm>
            <a:off x="6870978" y="1668632"/>
            <a:ext cx="1853502" cy="1563518"/>
            <a:chOff x="6772655" y="1619470"/>
            <a:chExt cx="1853502" cy="1563518"/>
          </a:xfrm>
        </p:grpSpPr>
        <p:grpSp>
          <p:nvGrpSpPr>
            <p:cNvPr id="328" name="Google Shape;328;p9"/>
            <p:cNvGrpSpPr/>
            <p:nvPr/>
          </p:nvGrpSpPr>
          <p:grpSpPr>
            <a:xfrm>
              <a:off x="6772655" y="1619470"/>
              <a:ext cx="1397952" cy="1563518"/>
              <a:chOff x="6772655" y="1619470"/>
              <a:chExt cx="1397952" cy="1563518"/>
            </a:xfrm>
          </p:grpSpPr>
          <p:pic>
            <p:nvPicPr>
              <p:cNvPr descr="File Server_Updated2005" id="329" name="Google Shape;329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075170" y="1619470"/>
                <a:ext cx="793750" cy="10556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0" name="Google Shape;330;p9"/>
              <p:cNvSpPr txBox="1"/>
              <p:nvPr/>
            </p:nvSpPr>
            <p:spPr>
              <a:xfrm>
                <a:off x="6772655" y="2813656"/>
                <a:ext cx="1397952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SG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Web Server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31" name="Google Shape;331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58138" y="2184815"/>
              <a:ext cx="668019" cy="5342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9"/>
          <p:cNvSpPr/>
          <p:nvPr/>
        </p:nvSpPr>
        <p:spPr>
          <a:xfrm>
            <a:off x="9707464" y="5486469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9707464" y="4418919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10852614" y="5537369"/>
            <a:ext cx="914400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 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SG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594324" y="4693051"/>
            <a:ext cx="2645056" cy="8126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LOGIC/Controller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34296" y="3450789"/>
            <a:ext cx="4719485" cy="3000980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3555769" y="4462593"/>
            <a:ext cx="11592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javascript</a:t>
            </a:r>
            <a:endParaRPr b="0" i="0" sz="1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9"/>
          <p:cNvCxnSpPr>
            <a:stCxn id="337" idx="0"/>
          </p:cNvCxnSpPr>
          <p:nvPr/>
        </p:nvCxnSpPr>
        <p:spPr>
          <a:xfrm flipH="1" rot="5400000">
            <a:off x="3476465" y="3803643"/>
            <a:ext cx="500100" cy="817800"/>
          </a:xfrm>
          <a:prstGeom prst="bentConnector2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" name="Google Shape;339;p9"/>
          <p:cNvCxnSpPr/>
          <p:nvPr/>
        </p:nvCxnSpPr>
        <p:spPr>
          <a:xfrm>
            <a:off x="4204242" y="4984954"/>
            <a:ext cx="1950752" cy="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40" name="Google Shape;340;p9"/>
          <p:cNvGrpSpPr/>
          <p:nvPr/>
        </p:nvGrpSpPr>
        <p:grpSpPr>
          <a:xfrm>
            <a:off x="6202700" y="2855631"/>
            <a:ext cx="2901095" cy="4002369"/>
            <a:chOff x="3437574" y="2813657"/>
            <a:chExt cx="5431123" cy="2424873"/>
          </a:xfrm>
        </p:grpSpPr>
        <p:sp>
          <p:nvSpPr>
            <p:cNvPr id="341" name="Google Shape;341;p9"/>
            <p:cNvSpPr/>
            <p:nvPr/>
          </p:nvSpPr>
          <p:spPr>
            <a:xfrm>
              <a:off x="3437574" y="2813657"/>
              <a:ext cx="5431123" cy="2424873"/>
            </a:xfrm>
            <a:prstGeom prst="rect">
              <a:avLst/>
            </a:prstGeom>
            <a:noFill/>
            <a:ln cap="flat" cmpd="sng" w="25400">
              <a:solidFill>
                <a:srgbClr val="0070C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9"/>
            <p:cNvSpPr txBox="1"/>
            <p:nvPr/>
          </p:nvSpPr>
          <p:spPr>
            <a:xfrm>
              <a:off x="3906638" y="3661768"/>
              <a:ext cx="3182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3" name="Google Shape;343;p9"/>
          <p:cNvSpPr txBox="1"/>
          <p:nvPr/>
        </p:nvSpPr>
        <p:spPr>
          <a:xfrm>
            <a:off x="5104512" y="4453408"/>
            <a:ext cx="11337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WEB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9"/>
          <p:cNvCxnSpPr/>
          <p:nvPr/>
        </p:nvCxnSpPr>
        <p:spPr>
          <a:xfrm rot="10800000">
            <a:off x="4164911" y="5244829"/>
            <a:ext cx="1943946" cy="0"/>
          </a:xfrm>
          <a:prstGeom prst="straightConnector1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9"/>
          <p:cNvSpPr txBox="1"/>
          <p:nvPr/>
        </p:nvSpPr>
        <p:spPr>
          <a:xfrm>
            <a:off x="3889303" y="5289731"/>
            <a:ext cx="60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SG" sz="18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json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"/>
          <p:cNvSpPr txBox="1"/>
          <p:nvPr>
            <p:ph type="title"/>
          </p:nvPr>
        </p:nvSpPr>
        <p:spPr>
          <a:xfrm>
            <a:off x="2" y="0"/>
            <a:ext cx="9144001" cy="11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alter Turncoat"/>
              <a:buNone/>
            </a:pPr>
            <a:r>
              <a:rPr lang="en-SG"/>
              <a:t>HTTP</a:t>
            </a:r>
            <a:endParaRPr/>
          </a:p>
        </p:txBody>
      </p:sp>
      <p:sp>
        <p:nvSpPr>
          <p:cNvPr id="351" name="Google Shape;351;p10"/>
          <p:cNvSpPr txBox="1"/>
          <p:nvPr>
            <p:ph idx="1" type="body"/>
          </p:nvPr>
        </p:nvSpPr>
        <p:spPr>
          <a:xfrm>
            <a:off x="264879" y="755404"/>
            <a:ext cx="5388926" cy="26089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Stateless</a:t>
            </a:r>
            <a:endParaRPr/>
          </a:p>
          <a:p>
            <a:pPr indent="-257168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─"/>
            </a:pPr>
            <a:r>
              <a:rPr lang="en-SG"/>
              <a:t>Send and Forget</a:t>
            </a:r>
            <a:endParaRPr/>
          </a:p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Support </a:t>
            </a:r>
            <a:endParaRPr/>
          </a:p>
          <a:p>
            <a:pPr indent="-257168" lvl="1" marL="539987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─"/>
            </a:pPr>
            <a:r>
              <a:rPr lang="en-SG"/>
              <a:t>Get, Post, Put, Delete operations</a:t>
            </a:r>
            <a:endParaRPr/>
          </a:p>
          <a:p>
            <a:pPr indent="-266692" lvl="0" marL="269993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</a:pPr>
            <a:r>
              <a:rPr lang="en-SG"/>
              <a:t>Scalable</a:t>
            </a:r>
            <a:endParaRPr/>
          </a:p>
        </p:txBody>
      </p:sp>
      <p:grpSp>
        <p:nvGrpSpPr>
          <p:cNvPr id="352" name="Google Shape;352;p10"/>
          <p:cNvGrpSpPr/>
          <p:nvPr/>
        </p:nvGrpSpPr>
        <p:grpSpPr>
          <a:xfrm>
            <a:off x="108391" y="4169746"/>
            <a:ext cx="1565493" cy="1768089"/>
            <a:chOff x="997475" y="1534428"/>
            <a:chExt cx="1565493" cy="1768089"/>
          </a:xfrm>
        </p:grpSpPr>
        <p:pic>
          <p:nvPicPr>
            <p:cNvPr id="353" name="Google Shape;35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63002" y="1534428"/>
              <a:ext cx="1234440" cy="10312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10"/>
            <p:cNvSpPr txBox="1"/>
            <p:nvPr/>
          </p:nvSpPr>
          <p:spPr>
            <a:xfrm>
              <a:off x="997475" y="2656186"/>
              <a:ext cx="1565493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Web Browser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(Client)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5" name="Google Shape;355;p10"/>
          <p:cNvGrpSpPr/>
          <p:nvPr/>
        </p:nvGrpSpPr>
        <p:grpSpPr>
          <a:xfrm>
            <a:off x="6904878" y="4169746"/>
            <a:ext cx="1853503" cy="1563519"/>
            <a:chOff x="6772654" y="1619470"/>
            <a:chExt cx="1853503" cy="1563519"/>
          </a:xfrm>
        </p:grpSpPr>
        <p:grpSp>
          <p:nvGrpSpPr>
            <p:cNvPr id="356" name="Google Shape;356;p10"/>
            <p:cNvGrpSpPr/>
            <p:nvPr/>
          </p:nvGrpSpPr>
          <p:grpSpPr>
            <a:xfrm>
              <a:off x="6772654" y="1619470"/>
              <a:ext cx="1398781" cy="1563519"/>
              <a:chOff x="6772654" y="1619470"/>
              <a:chExt cx="1398781" cy="1563519"/>
            </a:xfrm>
          </p:grpSpPr>
          <p:pic>
            <p:nvPicPr>
              <p:cNvPr descr="File Server_Updated2005" id="357" name="Google Shape;357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075170" y="1619470"/>
                <a:ext cx="793750" cy="10556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8" name="Google Shape;358;p10"/>
              <p:cNvSpPr txBox="1"/>
              <p:nvPr/>
            </p:nvSpPr>
            <p:spPr>
              <a:xfrm>
                <a:off x="6772654" y="2813657"/>
                <a:ext cx="139878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SG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Web Server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59" name="Google Shape;359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958138" y="2184815"/>
              <a:ext cx="668019" cy="53426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0" name="Google Shape;360;p10"/>
          <p:cNvGrpSpPr/>
          <p:nvPr/>
        </p:nvGrpSpPr>
        <p:grpSpPr>
          <a:xfrm>
            <a:off x="1841364" y="3853820"/>
            <a:ext cx="4943191" cy="1064778"/>
            <a:chOff x="1841364" y="3853820"/>
            <a:chExt cx="4943191" cy="1064778"/>
          </a:xfrm>
        </p:grpSpPr>
        <p:cxnSp>
          <p:nvCxnSpPr>
            <p:cNvPr id="361" name="Google Shape;361;p10"/>
            <p:cNvCxnSpPr/>
            <p:nvPr/>
          </p:nvCxnSpPr>
          <p:spPr>
            <a:xfrm>
              <a:off x="1841364" y="4218291"/>
              <a:ext cx="4484022" cy="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2" name="Google Shape;362;p10"/>
            <p:cNvCxnSpPr/>
            <p:nvPr/>
          </p:nvCxnSpPr>
          <p:spPr>
            <a:xfrm rot="10800000">
              <a:off x="1841364" y="4596934"/>
              <a:ext cx="4484022" cy="0"/>
            </a:xfrm>
            <a:prstGeom prst="straightConnector1">
              <a:avLst/>
            </a:prstGeom>
            <a:noFill/>
            <a:ln cap="flat" cmpd="sng" w="19050">
              <a:solidFill>
                <a:srgbClr val="00B05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3" name="Google Shape;363;p10"/>
            <p:cNvSpPr txBox="1"/>
            <p:nvPr/>
          </p:nvSpPr>
          <p:spPr>
            <a:xfrm>
              <a:off x="3252248" y="3853820"/>
              <a:ext cx="1043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0"/>
            <p:cNvSpPr txBox="1"/>
            <p:nvPr/>
          </p:nvSpPr>
          <p:spPr>
            <a:xfrm>
              <a:off x="3252248" y="4549266"/>
              <a:ext cx="12234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0"/>
            <p:cNvSpPr/>
            <p:nvPr/>
          </p:nvSpPr>
          <p:spPr>
            <a:xfrm>
              <a:off x="6445709" y="4218291"/>
              <a:ext cx="338846" cy="383503"/>
            </a:xfrm>
            <a:prstGeom prst="rightBrace">
              <a:avLst>
                <a:gd fmla="val 8333" name="adj1"/>
                <a:gd fmla="val 53057" name="adj2"/>
              </a:avLst>
            </a:prstGeom>
            <a:noFill/>
            <a:ln cap="flat" cmpd="sng" w="952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008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10"/>
          <p:cNvGrpSpPr/>
          <p:nvPr/>
        </p:nvGrpSpPr>
        <p:grpSpPr>
          <a:xfrm>
            <a:off x="1841364" y="5037819"/>
            <a:ext cx="4943191" cy="1064778"/>
            <a:chOff x="1841364" y="3853820"/>
            <a:chExt cx="4943191" cy="1064778"/>
          </a:xfrm>
        </p:grpSpPr>
        <p:cxnSp>
          <p:nvCxnSpPr>
            <p:cNvPr id="367" name="Google Shape;367;p10"/>
            <p:cNvCxnSpPr/>
            <p:nvPr/>
          </p:nvCxnSpPr>
          <p:spPr>
            <a:xfrm>
              <a:off x="1841364" y="4218291"/>
              <a:ext cx="4484022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68" name="Google Shape;368;p10"/>
            <p:cNvCxnSpPr/>
            <p:nvPr/>
          </p:nvCxnSpPr>
          <p:spPr>
            <a:xfrm rot="10800000">
              <a:off x="1841364" y="4596934"/>
              <a:ext cx="4484022" cy="0"/>
            </a:xfrm>
            <a:prstGeom prst="straightConnector1">
              <a:avLst/>
            </a:pr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69" name="Google Shape;369;p10"/>
            <p:cNvSpPr txBox="1"/>
            <p:nvPr/>
          </p:nvSpPr>
          <p:spPr>
            <a:xfrm>
              <a:off x="3252248" y="3853820"/>
              <a:ext cx="104387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0"/>
            <p:cNvSpPr txBox="1"/>
            <p:nvPr/>
          </p:nvSpPr>
          <p:spPr>
            <a:xfrm>
              <a:off x="3252248" y="4549266"/>
              <a:ext cx="122341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SG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10"/>
            <p:cNvSpPr/>
            <p:nvPr/>
          </p:nvSpPr>
          <p:spPr>
            <a:xfrm>
              <a:off x="6445709" y="4218291"/>
              <a:ext cx="338846" cy="383503"/>
            </a:xfrm>
            <a:prstGeom prst="rightBrace">
              <a:avLst>
                <a:gd fmla="val 8333" name="adj1"/>
                <a:gd fmla="val 53057" name="adj2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highlight>
                  <a:srgbClr val="0080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10"/>
          <p:cNvSpPr/>
          <p:nvPr/>
        </p:nvSpPr>
        <p:spPr>
          <a:xfrm>
            <a:off x="801305" y="3454868"/>
            <a:ext cx="1234440" cy="855705"/>
          </a:xfrm>
          <a:prstGeom prst="star6">
            <a:avLst>
              <a:gd fmla="val 28868" name="adj"/>
              <a:gd fmla="val 115470" name="hf"/>
            </a:avLst>
          </a:prstGeom>
          <a:solidFill>
            <a:schemeClr val="accent1"/>
          </a:solidFill>
          <a:ln cap="flat" cmpd="sng" w="25400">
            <a:solidFill>
              <a:srgbClr val="A1A1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SG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INITIATOR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50" y="217192"/>
            <a:ext cx="8981499" cy="642361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/>
          <p:nvPr/>
        </p:nvSpPr>
        <p:spPr>
          <a:xfrm>
            <a:off x="527901" y="1404594"/>
            <a:ext cx="7663992" cy="5373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1" y="214385"/>
            <a:ext cx="9138529" cy="6429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322" y="1659118"/>
            <a:ext cx="4703849" cy="1668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322" y="3530338"/>
            <a:ext cx="5178003" cy="2493389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2"/>
          <p:cNvSpPr/>
          <p:nvPr/>
        </p:nvSpPr>
        <p:spPr>
          <a:xfrm>
            <a:off x="502322" y="3327662"/>
            <a:ext cx="7249212" cy="2450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74" y="320577"/>
            <a:ext cx="8756313" cy="6216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Ursula templat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rsula template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H1">
  <a:themeElements>
    <a:clrScheme name="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FCC00"/>
      </a:accent1>
      <a:accent2>
        <a:srgbClr val="0033CC"/>
      </a:accent2>
      <a:accent3>
        <a:srgbClr val="FFFFFF"/>
      </a:accent3>
      <a:accent4>
        <a:srgbClr val="000000"/>
      </a:accent4>
      <a:accent5>
        <a:srgbClr val="FFE2AA"/>
      </a:accent5>
      <a:accent6>
        <a:srgbClr val="002DB9"/>
      </a:accent6>
      <a:hlink>
        <a:srgbClr val="FF6600"/>
      </a:hlink>
      <a:folHlink>
        <a:srgbClr val="FF33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2017-09-05T01:35:20Z</dcterms:created>
  <dc:creator>khar woh leong</dc:creator>
</cp:coreProperties>
</file>