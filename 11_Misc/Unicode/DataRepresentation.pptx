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6" r:id="rId3"/>
    <p:sldId id="262" r:id="rId4"/>
    <p:sldId id="256" r:id="rId5"/>
    <p:sldId id="261" r:id="rId6"/>
    <p:sldId id="263" r:id="rId7"/>
    <p:sldId id="257" r:id="rId8"/>
    <p:sldId id="264" r:id="rId9"/>
    <p:sldId id="268" r:id="rId10"/>
    <p:sldId id="271" r:id="rId11"/>
    <p:sldId id="275" r:id="rId12"/>
    <p:sldId id="274" r:id="rId13"/>
    <p:sldId id="273" r:id="rId14"/>
    <p:sldId id="270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4E4E"/>
    <a:srgbClr val="4472C4"/>
    <a:srgbClr val="8C8B8B"/>
    <a:srgbClr val="FFFFFF"/>
    <a:srgbClr val="FF0000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974" autoAdjust="0"/>
    <p:restoredTop sz="94660"/>
  </p:normalViewPr>
  <p:slideViewPr>
    <p:cSldViewPr snapToGrid="0">
      <p:cViewPr varScale="1">
        <p:scale>
          <a:sx n="76" d="100"/>
          <a:sy n="76" d="100"/>
        </p:scale>
        <p:origin x="485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76D14-4C06-4912-9DAB-F0CC059BD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8D3B46-04F1-483C-81A5-397BF81CF8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E53F9-5F09-4166-A037-DAC4B599C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9708-8228-45E1-A4AC-BB187EC21404}" type="datetimeFigureOut">
              <a:rPr lang="en-SG" smtClean="0"/>
              <a:t>7/3/2025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60D15-3BE5-4572-A43B-F45F7A034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57504-10D0-4B1E-BCCC-E6F6C9438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71A8-BFA3-4DF7-B5C7-C93803CFCB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91708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C4277-54FD-407D-9882-CB86EE8AA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21832-1B12-4FFC-962D-D2AF553FC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96F73-2523-4FD7-8FF2-7EF93EE56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9708-8228-45E1-A4AC-BB187EC21404}" type="datetimeFigureOut">
              <a:rPr lang="en-SG" smtClean="0"/>
              <a:t>7/3/2025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B5F6E-3975-4CF9-9904-A868C3F20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46BF1-5FC0-4091-AF26-163073A3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71A8-BFA3-4DF7-B5C7-C93803CFCB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5345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02D62-468B-4CBB-8407-86D081327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7BA62-FCF6-479A-A73A-446D6548B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7A1DB-6343-4C57-BE02-4BD29BC23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9708-8228-45E1-A4AC-BB187EC21404}" type="datetimeFigureOut">
              <a:rPr lang="en-SG" smtClean="0"/>
              <a:t>7/3/2025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A2809-B2B5-4984-BC12-2F60AAA3D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EC8D3-EB87-4ED5-B614-0BC9BD915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71A8-BFA3-4DF7-B5C7-C93803CFCB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3700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3644B-3C72-47A8-BBB1-92831D4ED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CEC02-E6A2-4689-9BF3-B8F20EF2F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074D1-AA2F-4682-8534-BECDC408A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6EB3C-F7F7-423F-9C96-D560A9DA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9708-8228-45E1-A4AC-BB187EC21404}" type="datetimeFigureOut">
              <a:rPr lang="en-SG" smtClean="0"/>
              <a:t>7/3/2025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A82D4-BB93-42D0-A607-AEDF94304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A46F6-A1C1-428A-ADE5-12CFA49AF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71A8-BFA3-4DF7-B5C7-C93803CFCB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249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12CEC-B034-4B4E-8A78-A66BE3D86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0AB2F-1927-4E78-9AD3-ED6E31A0A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F436FD-A345-4955-ABCE-2F962FB11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662869-5FE1-4454-A741-C56C21BFA8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A2A373-936B-4082-ACC4-49A2CAA3CF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5D2134-95A8-4FF8-9696-3522C8245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9708-8228-45E1-A4AC-BB187EC21404}" type="datetimeFigureOut">
              <a:rPr lang="en-SG" smtClean="0"/>
              <a:t>7/3/2025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293E07-290E-408E-A8EC-3C478B519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D96BBD-9FFA-4AC2-9662-88E5EA4B7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71A8-BFA3-4DF7-B5C7-C93803CFCB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54031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766A6-FE56-4326-B2FD-FAACD616E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D1B0E7-A9AC-41CA-8600-9835D8254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9708-8228-45E1-A4AC-BB187EC21404}" type="datetimeFigureOut">
              <a:rPr lang="en-SG" smtClean="0"/>
              <a:t>7/3/2025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3A275-D2FE-42AA-B9CD-763865E42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CA2D7D-5A34-4390-B564-C961BFCCC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71A8-BFA3-4DF7-B5C7-C93803CFCB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8997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F13700-B754-441D-AF4A-5262F8E6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9708-8228-45E1-A4AC-BB187EC21404}" type="datetimeFigureOut">
              <a:rPr lang="en-SG" smtClean="0"/>
              <a:t>7/3/2025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347F5F-F22F-404D-BBE8-604957349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6AE18-5BED-4AF3-8AF2-D4845F51D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71A8-BFA3-4DF7-B5C7-C93803CFCB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1068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52F2A-F165-442A-A42C-05D0BF373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E4672-B19B-4590-B39C-794D827C6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8A8787-7A88-4E0F-BA7F-6F9B3F6A8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E014B-A4CF-4D90-B842-B1A7086C8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9708-8228-45E1-A4AC-BB187EC21404}" type="datetimeFigureOut">
              <a:rPr lang="en-SG" smtClean="0"/>
              <a:t>7/3/2025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6A0BD-433D-470A-A516-2964BB1DA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D6DFB-7B6C-46A8-8228-C7564217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71A8-BFA3-4DF7-B5C7-C93803CFCB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49619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80003-7D68-4592-B139-52A272A93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79D32-2165-42C0-B1AD-CB54EA5261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BA1AD-1865-46A7-BD07-564DB3AF4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3E1FF-8C50-47FA-A3EF-9593275F4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9708-8228-45E1-A4AC-BB187EC21404}" type="datetimeFigureOut">
              <a:rPr lang="en-SG" smtClean="0"/>
              <a:t>7/3/2025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4D163-BF8F-482B-A354-DE8329035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2E1F4-1ED1-47EB-B282-C911568A0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71A8-BFA3-4DF7-B5C7-C93803CFCB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14290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E78B0-DCC1-4BAB-9628-C3E534B44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1ED583-B44E-4702-AA39-1B82EA8FC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CE7F5-F452-4091-A80D-3B344DAC8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9708-8228-45E1-A4AC-BB187EC21404}" type="datetimeFigureOut">
              <a:rPr lang="en-SG" smtClean="0"/>
              <a:t>7/3/2025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6B360-40F1-4FCE-A566-6A73829D9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AF89E-BC20-4DBD-A762-8C67377B0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71A8-BFA3-4DF7-B5C7-C93803CFCB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49866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048AE4-6212-4295-8834-5B7DCFCBED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A8C1FF-9309-47A0-BA1E-20E14E5BA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99C12-099F-4190-939B-2A8DE74D8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9708-8228-45E1-A4AC-BB187EC21404}" type="datetimeFigureOut">
              <a:rPr lang="en-SG" smtClean="0"/>
              <a:t>7/3/2025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673DF-1F33-40B8-8F77-BB1FE7AAA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B7674-AF68-4027-A701-12312FBED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71A8-BFA3-4DF7-B5C7-C93803CFCB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33706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8927BB-29A9-448D-A8B7-895D4C778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18E2E-2185-4CC1-85A0-62B9F6FC8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C73AC-D58D-4059-A723-B7489B6E64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69708-8228-45E1-A4AC-BB187EC21404}" type="datetimeFigureOut">
              <a:rPr lang="en-SG" smtClean="0"/>
              <a:t>7/3/2025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CF242-4EFC-41A1-9F52-5DFF457941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47F7D-0F65-48D8-AE25-E76E3C383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271A8-BFA3-4DF7-B5C7-C93803CFCB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1146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unicode-table.com/en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6FF90-8098-4A26-B53E-9D099AC16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69753"/>
            <a:ext cx="9144000" cy="989319"/>
          </a:xfrm>
        </p:spPr>
        <p:txBody>
          <a:bodyPr/>
          <a:lstStyle/>
          <a:p>
            <a:r>
              <a:rPr lang="en-GB" dirty="0"/>
              <a:t>Data Representation</a:t>
            </a:r>
            <a:endParaRPr lang="en-SG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81A4BBE-9F92-9E48-9D9E-B9855AC37F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6199" y="823642"/>
            <a:ext cx="9592826" cy="826373"/>
          </a:xfrm>
        </p:spPr>
        <p:txBody>
          <a:bodyPr>
            <a:normAutofit/>
          </a:bodyPr>
          <a:lstStyle/>
          <a:p>
            <a:pPr marL="342900" indent="-342900" algn="l">
              <a:buFontTx/>
              <a:buChar char="-"/>
            </a:pPr>
            <a:r>
              <a:rPr lang="en-US" dirty="0"/>
              <a:t>How are the values of the different data types stored in the computer  ?</a:t>
            </a:r>
          </a:p>
          <a:p>
            <a:pPr marL="800100" lvl="1" indent="-342900" algn="l">
              <a:buFontTx/>
              <a:buChar char="-"/>
            </a:pPr>
            <a:r>
              <a:rPr lang="en-US" dirty="0"/>
              <a:t>In memory , in files, in a database, on the network</a:t>
            </a:r>
          </a:p>
          <a:p>
            <a:endParaRPr lang="en-SG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D1D0A5B-E8E2-28BF-3E4E-C18B0C15276C}"/>
              </a:ext>
            </a:extLst>
          </p:cNvPr>
          <p:cNvGrpSpPr/>
          <p:nvPr/>
        </p:nvGrpSpPr>
        <p:grpSpPr>
          <a:xfrm>
            <a:off x="2764109" y="1925844"/>
            <a:ext cx="2580354" cy="2782642"/>
            <a:chOff x="2764109" y="1925844"/>
            <a:chExt cx="2580354" cy="2782642"/>
          </a:xfrm>
        </p:grpSpPr>
        <p:pic>
          <p:nvPicPr>
            <p:cNvPr id="1026" name="Picture 2" descr="Lightbox">
              <a:extLst>
                <a:ext uri="{FF2B5EF4-FFF2-40B4-BE49-F238E27FC236}">
                  <a16:creationId xmlns:a16="http://schemas.microsoft.com/office/drawing/2014/main" id="{35C0F274-109E-19CD-9763-60A0400AB2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3925" y="2485623"/>
              <a:ext cx="2450538" cy="18263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FE4793-732D-9F0C-6844-09B8639D3BC7}"/>
                </a:ext>
              </a:extLst>
            </p:cNvPr>
            <p:cNvSpPr txBox="1"/>
            <p:nvPr/>
          </p:nvSpPr>
          <p:spPr>
            <a:xfrm>
              <a:off x="3890012" y="1925844"/>
              <a:ext cx="10543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memory</a:t>
              </a:r>
              <a:endParaRPr lang="en-SG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496A95C-AF7E-A9DA-E3A1-EDBBA4ADB079}"/>
                </a:ext>
              </a:extLst>
            </p:cNvPr>
            <p:cNvSpPr txBox="1"/>
            <p:nvPr/>
          </p:nvSpPr>
          <p:spPr>
            <a:xfrm>
              <a:off x="2764109" y="4339154"/>
              <a:ext cx="25282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message = input()</a:t>
              </a:r>
              <a:endParaRPr lang="en-SG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5B01F66-132C-B637-E466-FB15C24C6BE4}"/>
              </a:ext>
            </a:extLst>
          </p:cNvPr>
          <p:cNvGrpSpPr/>
          <p:nvPr/>
        </p:nvGrpSpPr>
        <p:grpSpPr>
          <a:xfrm>
            <a:off x="5273294" y="1943617"/>
            <a:ext cx="2390398" cy="2743433"/>
            <a:chOff x="5273294" y="1943617"/>
            <a:chExt cx="2390398" cy="2743433"/>
          </a:xfrm>
        </p:grpSpPr>
        <p:sp>
          <p:nvSpPr>
            <p:cNvPr id="6" name="Rectangle: Folded Corner 5">
              <a:extLst>
                <a:ext uri="{FF2B5EF4-FFF2-40B4-BE49-F238E27FC236}">
                  <a16:creationId xmlns:a16="http://schemas.microsoft.com/office/drawing/2014/main" id="{B2033560-3CF0-B2AE-E024-DD75065DDC90}"/>
                </a:ext>
              </a:extLst>
            </p:cNvPr>
            <p:cNvSpPr/>
            <p:nvPr/>
          </p:nvSpPr>
          <p:spPr>
            <a:xfrm rot="10800000">
              <a:off x="5635436" y="2576944"/>
              <a:ext cx="1114354" cy="1401744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86D74E4-C288-C6B3-2449-5F47A3D031A3}"/>
                </a:ext>
              </a:extLst>
            </p:cNvPr>
            <p:cNvSpPr txBox="1"/>
            <p:nvPr/>
          </p:nvSpPr>
          <p:spPr>
            <a:xfrm>
              <a:off x="5935305" y="1943617"/>
              <a:ext cx="5146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file</a:t>
              </a:r>
              <a:endParaRPr lang="en-SG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8F2EDC8-74F6-60AD-5CED-DC7A33C3775D}"/>
                </a:ext>
              </a:extLst>
            </p:cNvPr>
            <p:cNvSpPr txBox="1"/>
            <p:nvPr/>
          </p:nvSpPr>
          <p:spPr>
            <a:xfrm>
              <a:off x="5273294" y="4317718"/>
              <a:ext cx="23903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f.write(message)</a:t>
              </a:r>
              <a:endParaRPr lang="en-SG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440CB69-B1C8-97BD-3952-A13F1CC2E5DA}"/>
              </a:ext>
            </a:extLst>
          </p:cNvPr>
          <p:cNvGrpSpPr/>
          <p:nvPr/>
        </p:nvGrpSpPr>
        <p:grpSpPr>
          <a:xfrm>
            <a:off x="7560127" y="1945445"/>
            <a:ext cx="1867764" cy="3618768"/>
            <a:chOff x="7560127" y="1945445"/>
            <a:chExt cx="1867764" cy="3618768"/>
          </a:xfrm>
        </p:grpSpPr>
        <p:sp>
          <p:nvSpPr>
            <p:cNvPr id="8" name="Cylinder 7">
              <a:extLst>
                <a:ext uri="{FF2B5EF4-FFF2-40B4-BE49-F238E27FC236}">
                  <a16:creationId xmlns:a16="http://schemas.microsoft.com/office/drawing/2014/main" id="{372E6692-B957-6635-D781-26DBA8B6BE0B}"/>
                </a:ext>
              </a:extLst>
            </p:cNvPr>
            <p:cNvSpPr/>
            <p:nvPr/>
          </p:nvSpPr>
          <p:spPr>
            <a:xfrm>
              <a:off x="7709199" y="2706151"/>
              <a:ext cx="1226513" cy="1263580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B970B35-B35D-6911-D4C3-A3D4D0274EEA}"/>
                </a:ext>
              </a:extLst>
            </p:cNvPr>
            <p:cNvSpPr txBox="1"/>
            <p:nvPr/>
          </p:nvSpPr>
          <p:spPr>
            <a:xfrm>
              <a:off x="7663692" y="1945445"/>
              <a:ext cx="1120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database</a:t>
              </a:r>
              <a:endParaRPr lang="en-SG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77B891-83A7-EC3E-8118-639BE5C6C90E}"/>
                </a:ext>
              </a:extLst>
            </p:cNvPr>
            <p:cNvSpPr txBox="1"/>
            <p:nvPr/>
          </p:nvSpPr>
          <p:spPr>
            <a:xfrm>
              <a:off x="7560127" y="4086885"/>
              <a:ext cx="1867764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con.execute(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f"INSERT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INTO DB VALUES {message}")</a:t>
              </a:r>
              <a:endParaRPr lang="en-SG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E9EFE23-C8A8-C89B-5F11-F810C57976DA}"/>
              </a:ext>
            </a:extLst>
          </p:cNvPr>
          <p:cNvGrpSpPr/>
          <p:nvPr/>
        </p:nvGrpSpPr>
        <p:grpSpPr>
          <a:xfrm>
            <a:off x="9627806" y="1989045"/>
            <a:ext cx="2497232" cy="3021170"/>
            <a:chOff x="9627806" y="1989045"/>
            <a:chExt cx="2497232" cy="3021170"/>
          </a:xfrm>
        </p:grpSpPr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7F0116FB-3C8F-C2C1-53E2-BF58738B3C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59070" y="2724948"/>
              <a:ext cx="1121640" cy="11103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B7B8B28-301A-5048-9B77-313A3CE5E06F}"/>
                </a:ext>
              </a:extLst>
            </p:cNvPr>
            <p:cNvSpPr txBox="1"/>
            <p:nvPr/>
          </p:nvSpPr>
          <p:spPr>
            <a:xfrm>
              <a:off x="9832095" y="1989045"/>
              <a:ext cx="1044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network</a:t>
              </a:r>
              <a:endParaRPr lang="en-SG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D79DC78-646A-1589-F757-D3DC29C39AE8}"/>
                </a:ext>
              </a:extLst>
            </p:cNvPr>
            <p:cNvSpPr txBox="1"/>
            <p:nvPr/>
          </p:nvSpPr>
          <p:spPr>
            <a:xfrm>
              <a:off x="9627806" y="4086885"/>
              <a:ext cx="249723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socket.send(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message.encode())</a:t>
              </a:r>
              <a:endParaRPr lang="en-SG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DAD31D6-BFE2-BA7F-EE51-BB873B9DF1B4}"/>
              </a:ext>
            </a:extLst>
          </p:cNvPr>
          <p:cNvGrpSpPr/>
          <p:nvPr/>
        </p:nvGrpSpPr>
        <p:grpSpPr>
          <a:xfrm>
            <a:off x="-97" y="2152374"/>
            <a:ext cx="3045333" cy="4199169"/>
            <a:chOff x="-97" y="2152374"/>
            <a:chExt cx="3045333" cy="4199169"/>
          </a:xfrm>
        </p:grpSpPr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759ACD89-440C-AD67-BEC8-3ED6EE65E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344" y="2723739"/>
              <a:ext cx="2832892" cy="297525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-12696" rIns="0" bIns="-12696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100" b="0" i="0" u="none" strike="noStrike" cap="none" normalizeH="0" baseline="0" dirty="0">
                  <a:ln>
                    <a:noFill/>
                  </a:ln>
                  <a:solidFill>
                    <a:srgbClr val="1F1F1F"/>
                  </a:solidFill>
                  <a:effectLst/>
                  <a:latin typeface="Arial Unicode MS"/>
                  <a:ea typeface="inherit"/>
                  <a:cs typeface="Latha" panose="020B0604020202020204" pitchFamily="34" charset="0"/>
                </a:rPr>
                <a:t>"</a:t>
              </a:r>
              <a:r>
                <a:rPr kumimoji="0" lang="ta-IN" altLang="en-US" sz="1600" b="0" i="0" u="none" strike="noStrike" cap="none" normalizeH="0" baseline="0" dirty="0">
                  <a:ln>
                    <a:noFill/>
                  </a:ln>
                  <a:solidFill>
                    <a:srgbClr val="1F1F1F"/>
                  </a:solidFill>
                  <a:effectLst/>
                  <a:latin typeface="Arial Unicode MS"/>
                  <a:ea typeface="inherit"/>
                  <a:cs typeface="Latha" panose="020B0604020202020204" pitchFamily="34" charset="0"/>
                </a:rPr>
                <a:t>வணக்கம்</a:t>
              </a:r>
              <a:r>
                <a:rPr kumimoji="0" lang="ta-IN" altLang="en-US" sz="2100" b="0" i="0" u="none" strike="noStrike" cap="none" normalizeH="0" baseline="0" dirty="0">
                  <a:ln>
                    <a:noFill/>
                  </a:ln>
                  <a:solidFill>
                    <a:srgbClr val="1F1F1F"/>
                  </a:solidFill>
                  <a:effectLst/>
                  <a:latin typeface="Arial Unicode MS"/>
                  <a:ea typeface="inherit"/>
                  <a:cs typeface="Latha" panose="020B0604020202020204" pitchFamily="34" charset="0"/>
                </a:rPr>
                <a:t> உலகம்</a:t>
              </a:r>
              <a:r>
                <a:rPr kumimoji="0" lang="en-US" altLang="en-US" sz="2100" b="0" i="0" u="none" strike="noStrike" cap="none" normalizeH="0" baseline="0" dirty="0">
                  <a:ln>
                    <a:noFill/>
                  </a:ln>
                  <a:solidFill>
                    <a:srgbClr val="1F1F1F"/>
                  </a:solidFill>
                  <a:effectLst/>
                  <a:latin typeface="Arial Unicode MS"/>
                  <a:ea typeface="inherit"/>
                  <a:cs typeface="Latha" panose="020B0604020202020204" pitchFamily="34" charset="0"/>
                </a:rPr>
                <a:t>"</a:t>
              </a:r>
              <a:r>
                <a:rPr kumimoji="0" lang="ta-IN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cs typeface="Latha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C37A9EF-DF46-D44D-5600-078F95DC9134}"/>
                </a:ext>
              </a:extLst>
            </p:cNvPr>
            <p:cNvGrpSpPr/>
            <p:nvPr/>
          </p:nvGrpSpPr>
          <p:grpSpPr>
            <a:xfrm>
              <a:off x="9843" y="2152374"/>
              <a:ext cx="2285415" cy="1260435"/>
              <a:chOff x="9843" y="2152374"/>
              <a:chExt cx="2285415" cy="1260435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745B08-6AD9-88C7-63E7-D8BB2826D59A}"/>
                  </a:ext>
                </a:extLst>
              </p:cNvPr>
              <p:cNvSpPr txBox="1"/>
              <p:nvPr/>
            </p:nvSpPr>
            <p:spPr>
              <a:xfrm>
                <a:off x="165025" y="2152374"/>
                <a:ext cx="1503979" cy="306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"Hello World"</a:t>
                </a:r>
                <a:endParaRPr lang="en-SG" dirty="0"/>
              </a:p>
            </p:txBody>
          </p:sp>
          <p:sp>
            <p:nvSpPr>
              <p:cNvPr id="9" name="Rectangle 9">
                <a:extLst>
                  <a:ext uri="{FF2B5EF4-FFF2-40B4-BE49-F238E27FC236}">
                    <a16:creationId xmlns:a16="http://schemas.microsoft.com/office/drawing/2014/main" id="{4DFEDB97-E2EA-8F20-82D5-F46394F744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3188" y="2530406"/>
                <a:ext cx="1371505" cy="220581"/>
              </a:xfrm>
              <a:prstGeom prst="rect">
                <a:avLst/>
              </a:prstGeom>
              <a:solidFill>
                <a:srgbClr val="F8F9FA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-12696" rIns="0" bIns="-12696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b="0" i="0" u="none" strike="noStrike" cap="none" normalizeH="0" baseline="0" dirty="0">
                    <a:ln>
                      <a:noFill/>
                    </a:ln>
                    <a:solidFill>
                      <a:srgbClr val="1F1F1F"/>
                    </a:solidFill>
                    <a:effectLst/>
                    <a:latin typeface="Arial Unicode MS"/>
                    <a:ea typeface="inherit"/>
                  </a:rPr>
                  <a:t>"</a:t>
                </a:r>
                <a:r>
                  <a:rPr kumimoji="0" lang="zh-CN" altLang="en-US" sz="1600" b="0" i="0" u="none" strike="noStrike" cap="none" normalizeH="0" baseline="0" dirty="0">
                    <a:ln>
                      <a:noFill/>
                    </a:ln>
                    <a:solidFill>
                      <a:srgbClr val="1F1F1F"/>
                    </a:solidFill>
                    <a:effectLst/>
                    <a:latin typeface="Arial Unicode MS"/>
                    <a:ea typeface="inherit"/>
                  </a:rPr>
                  <a:t>你好世界</a:t>
                </a:r>
                <a:r>
                  <a:rPr kumimoji="0" lang="en-US" altLang="zh-CN" sz="1600" b="0" i="0" u="none" strike="noStrike" cap="none" normalizeH="0" baseline="0" dirty="0">
                    <a:ln>
                      <a:noFill/>
                    </a:ln>
                    <a:solidFill>
                      <a:srgbClr val="1F1F1F"/>
                    </a:solidFill>
                    <a:effectLst/>
                    <a:latin typeface="Arial Unicode MS"/>
                    <a:ea typeface="inherit"/>
                  </a:rPr>
                  <a:t>"</a:t>
                </a:r>
                <a:r>
                  <a:rPr kumimoji="0" lang="zh-CN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  <a:r>
                  <a:rPr kumimoji="0" lang="en-US" altLang="zh-CN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"</a:t>
                </a:r>
                <a:endParaRPr kumimoji="0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3124FD-B064-7F3C-CF4C-941F22CA6D4D}"/>
                  </a:ext>
                </a:extLst>
              </p:cNvPr>
              <p:cNvSpPr txBox="1"/>
              <p:nvPr/>
            </p:nvSpPr>
            <p:spPr>
              <a:xfrm>
                <a:off x="9843" y="3043477"/>
                <a:ext cx="228541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SG" b="0" i="0" dirty="0">
                    <a:solidFill>
                      <a:srgbClr val="333D42"/>
                    </a:solidFill>
                    <a:effectLst/>
                    <a:latin typeface="-apple-system"/>
                  </a:rPr>
                  <a:t>😁🙏➡️➡️👥🙌</a:t>
                </a:r>
                <a:endParaRPr lang="en-SG" dirty="0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08D58ED-D8B8-C2CF-1F92-A1047D481A57}"/>
                </a:ext>
              </a:extLst>
            </p:cNvPr>
            <p:cNvSpPr txBox="1"/>
            <p:nvPr/>
          </p:nvSpPr>
          <p:spPr>
            <a:xfrm>
              <a:off x="71473" y="3552675"/>
              <a:ext cx="17549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1234</a:t>
              </a:r>
            </a:p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12.345</a:t>
              </a:r>
            </a:p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True/False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805EC21-EC21-8038-CEFF-D605B36BFB98}"/>
                </a:ext>
              </a:extLst>
            </p:cNvPr>
            <p:cNvSpPr txBox="1"/>
            <p:nvPr/>
          </p:nvSpPr>
          <p:spPr>
            <a:xfrm>
              <a:off x="-97" y="4597217"/>
              <a:ext cx="2295355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{"</a:t>
              </a:r>
              <a:r>
                <a:rPr lang="en-US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name":"John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",</a:t>
              </a:r>
            </a:p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"age": 24,</a:t>
              </a:r>
            </a:p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"hobbies": [</a:t>
              </a:r>
            </a:p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"chess"</a:t>
              </a:r>
            </a:p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]</a:t>
              </a:r>
            </a:p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0658938-C8D6-D502-01A2-4A05EDA6BB4C}"/>
              </a:ext>
            </a:extLst>
          </p:cNvPr>
          <p:cNvSpPr txBox="1"/>
          <p:nvPr/>
        </p:nvSpPr>
        <p:spPr>
          <a:xfrm>
            <a:off x="1824513" y="1594833"/>
            <a:ext cx="8971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Tx/>
              <a:buChar char="-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1010100011101010101001010101010100001010101010010</a:t>
            </a:r>
          </a:p>
        </p:txBody>
      </p:sp>
    </p:spTree>
    <p:extLst>
      <p:ext uri="{BB962C8B-B14F-4D97-AF65-F5344CB8AC3E}">
        <p14:creationId xmlns:p14="http://schemas.microsoft.com/office/powerpoint/2010/main" val="660965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3F2F3-5CD8-8318-2EA4-84E7A9A5A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dirty="0"/>
              <a:t>Encoding and Decoding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DB2558-749C-F149-853D-7C2A08930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340" y="2814639"/>
            <a:ext cx="9941169" cy="1013783"/>
          </a:xfrm>
        </p:spPr>
        <p:txBody>
          <a:bodyPr/>
          <a:lstStyle/>
          <a:p>
            <a:pPr indent="-457200" algn="l"/>
            <a:r>
              <a:rPr lang="en-US" b="1" dirty="0"/>
              <a:t>Encoding</a:t>
            </a:r>
            <a:r>
              <a:rPr lang="en-US" dirty="0"/>
              <a:t> is the process of converting data from one format to another for storage, transmission and </a:t>
            </a:r>
            <a:r>
              <a:rPr lang="en-US" b="1" dirty="0"/>
              <a:t>processing efficiency</a:t>
            </a:r>
            <a:r>
              <a:rPr lang="en-US" dirty="0"/>
              <a:t>.</a:t>
            </a:r>
            <a:endParaRPr lang="en-SG" dirty="0"/>
          </a:p>
          <a:p>
            <a:pPr indent="-457200" algn="l"/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9152FC-9648-2A9B-F061-3DC88AE637FE}"/>
              </a:ext>
            </a:extLst>
          </p:cNvPr>
          <p:cNvSpPr txBox="1"/>
          <p:nvPr/>
        </p:nvSpPr>
        <p:spPr>
          <a:xfrm>
            <a:off x="1067638" y="3868615"/>
            <a:ext cx="89405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Decoding</a:t>
            </a:r>
            <a:r>
              <a:rPr lang="en-US" sz="2400" dirty="0"/>
              <a:t> is the reverse process, converting encoded data back into its original format.</a:t>
            </a:r>
          </a:p>
          <a:p>
            <a:endParaRPr lang="en-US" sz="2400" dirty="0"/>
          </a:p>
          <a:p>
            <a:r>
              <a:rPr lang="en-US" sz="2400" dirty="0"/>
              <a:t>Please </a:t>
            </a:r>
            <a:r>
              <a:rPr lang="en-US" sz="2400" b="1" dirty="0"/>
              <a:t>do not confuse </a:t>
            </a:r>
            <a:r>
              <a:rPr lang="en-US" sz="2400" dirty="0"/>
              <a:t>these with the concepts of </a:t>
            </a:r>
            <a:r>
              <a:rPr lang="en-US" sz="2400" b="1" dirty="0"/>
              <a:t>Encrypting and Decrypting. </a:t>
            </a:r>
            <a:r>
              <a:rPr lang="en-US" sz="2400" dirty="0"/>
              <a:t>They have different objectives.</a:t>
            </a:r>
          </a:p>
          <a:p>
            <a:endParaRPr lang="en-US" sz="2400" b="1" dirty="0"/>
          </a:p>
          <a:p>
            <a:r>
              <a:rPr lang="en-US" sz="2400" dirty="0"/>
              <a:t>Encoding and Decoding is</a:t>
            </a:r>
            <a:r>
              <a:rPr lang="en-US" sz="2400" b="1" dirty="0"/>
              <a:t> NEVER </a:t>
            </a:r>
            <a:r>
              <a:rPr lang="en-US" sz="2400" dirty="0"/>
              <a:t>used for the purpose of </a:t>
            </a:r>
            <a:r>
              <a:rPr lang="en-SG" sz="2400" b="0" i="0" dirty="0">
                <a:solidFill>
                  <a:srgbClr val="1F1F1F"/>
                </a:solidFill>
                <a:effectLst/>
                <a:latin typeface="Google Sans"/>
              </a:rPr>
              <a:t>obfuscation</a:t>
            </a:r>
            <a:r>
              <a:rPr lang="en-SG" sz="2400" i="0" dirty="0">
                <a:solidFill>
                  <a:srgbClr val="1F1F1F"/>
                </a:solidFill>
                <a:effectLst/>
                <a:latin typeface="Google Sans"/>
              </a:rPr>
              <a:t>.</a:t>
            </a:r>
            <a:endParaRPr lang="en-SG" sz="2400" b="1" dirty="0"/>
          </a:p>
        </p:txBody>
      </p:sp>
    </p:spTree>
    <p:extLst>
      <p:ext uri="{BB962C8B-B14F-4D97-AF65-F5344CB8AC3E}">
        <p14:creationId xmlns:p14="http://schemas.microsoft.com/office/powerpoint/2010/main" val="1902586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F91CD-3F07-419D-9643-3BB0B59CBA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SG" sz="6600" dirty="0"/>
              <a:t>Unicode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7D396-CB09-44DC-821C-410DA223F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627940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every symbol used in human written communication is represented by a non-negative integer known as a code point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Each code point can be encoded into 3 different encoding scheme: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UTF-8 (Default in Python and most operating systems)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UTF-16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UTF-32 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3863650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B2A68EF-02C1-484A-BE45-A6B17540E228}"/>
              </a:ext>
            </a:extLst>
          </p:cNvPr>
          <p:cNvSpPr/>
          <p:nvPr/>
        </p:nvSpPr>
        <p:spPr>
          <a:xfrm>
            <a:off x="3697156" y="670121"/>
            <a:ext cx="1970843" cy="31782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Unicode</a:t>
            </a:r>
          </a:p>
          <a:p>
            <a:pPr algn="ctr"/>
            <a:r>
              <a:rPr lang="en-SG" dirty="0">
                <a:solidFill>
                  <a:schemeClr val="tx1"/>
                </a:solidFill>
              </a:rPr>
              <a:t>plane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FAC09A-1FE1-4405-8ECA-8195B56BF7EA}"/>
              </a:ext>
            </a:extLst>
          </p:cNvPr>
          <p:cNvSpPr/>
          <p:nvPr/>
        </p:nvSpPr>
        <p:spPr>
          <a:xfrm>
            <a:off x="1948223" y="497149"/>
            <a:ext cx="1970843" cy="31782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Unicode</a:t>
            </a:r>
          </a:p>
          <a:p>
            <a:pPr algn="ctr"/>
            <a:r>
              <a:rPr lang="en-SG" dirty="0">
                <a:solidFill>
                  <a:schemeClr val="tx1"/>
                </a:solidFill>
              </a:rPr>
              <a:t>plane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86D8FD-7849-47CE-8E5A-4452A0513E88}"/>
                  </a:ext>
                </a:extLst>
              </p:cNvPr>
              <p:cNvSpPr txBox="1"/>
              <p:nvPr/>
            </p:nvSpPr>
            <p:spPr>
              <a:xfrm>
                <a:off x="540303" y="1526985"/>
                <a:ext cx="91563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dirty="0"/>
                  <a:t>U+0000</a:t>
                </a:r>
              </a:p>
              <a:p>
                <a:r>
                  <a:rPr lang="en-SG" dirty="0"/>
                  <a:t>to</a:t>
                </a:r>
              </a:p>
              <a:p>
                <a:r>
                  <a:rPr lang="en-SG" dirty="0"/>
                  <a:t>U+FFFF</a:t>
                </a:r>
              </a:p>
              <a:p>
                <a:r>
                  <a:rPr lang="en-SG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SG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86D8FD-7849-47CE-8E5A-4452A0513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03" y="1526985"/>
                <a:ext cx="915635" cy="1200329"/>
              </a:xfrm>
              <a:prstGeom prst="rect">
                <a:avLst/>
              </a:prstGeom>
              <a:blipFill>
                <a:blip r:embed="rId2"/>
                <a:stretch>
                  <a:fillRect l="-6000" t="-2538" r="-4667" b="-71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>
            <a:extLst>
              <a:ext uri="{FF2B5EF4-FFF2-40B4-BE49-F238E27FC236}">
                <a16:creationId xmlns:a16="http://schemas.microsoft.com/office/drawing/2014/main" id="{8B8155EC-C9B9-4868-ADBC-A768C5780C61}"/>
              </a:ext>
            </a:extLst>
          </p:cNvPr>
          <p:cNvSpPr/>
          <p:nvPr/>
        </p:nvSpPr>
        <p:spPr>
          <a:xfrm>
            <a:off x="1455938" y="497150"/>
            <a:ext cx="506027" cy="3178205"/>
          </a:xfrm>
          <a:prstGeom prst="leftBrace">
            <a:avLst>
              <a:gd name="adj1" fmla="val 62719"/>
              <a:gd name="adj2" fmla="val 4720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164C5E-BE1F-48DF-9526-EB221E516052}"/>
              </a:ext>
            </a:extLst>
          </p:cNvPr>
          <p:cNvSpPr/>
          <p:nvPr/>
        </p:nvSpPr>
        <p:spPr>
          <a:xfrm>
            <a:off x="9331912" y="497150"/>
            <a:ext cx="1970843" cy="31782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Unicode</a:t>
            </a:r>
          </a:p>
          <a:p>
            <a:pPr algn="ctr"/>
            <a:r>
              <a:rPr lang="en-SG" dirty="0"/>
              <a:t>plane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0E24D7-B430-41DD-98AC-67EEE8B5A4E2}"/>
                  </a:ext>
                </a:extLst>
              </p:cNvPr>
              <p:cNvSpPr txBox="1"/>
              <p:nvPr/>
            </p:nvSpPr>
            <p:spPr>
              <a:xfrm>
                <a:off x="7910250" y="1526985"/>
                <a:ext cx="91563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dirty="0"/>
                  <a:t>U+0000</a:t>
                </a:r>
              </a:p>
              <a:p>
                <a:r>
                  <a:rPr lang="en-SG" dirty="0"/>
                  <a:t>to</a:t>
                </a:r>
              </a:p>
              <a:p>
                <a:r>
                  <a:rPr lang="en-SG" dirty="0"/>
                  <a:t>U+FFFF</a:t>
                </a:r>
              </a:p>
              <a:p>
                <a:r>
                  <a:rPr lang="en-SG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SG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0E24D7-B430-41DD-98AC-67EEE8B5A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250" y="1526985"/>
                <a:ext cx="915635" cy="1200329"/>
              </a:xfrm>
              <a:prstGeom prst="rect">
                <a:avLst/>
              </a:prstGeom>
              <a:blipFill>
                <a:blip r:embed="rId3"/>
                <a:stretch>
                  <a:fillRect l="-6000" t="-2538" r="-4667" b="-71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eft Brace 8">
            <a:extLst>
              <a:ext uri="{FF2B5EF4-FFF2-40B4-BE49-F238E27FC236}">
                <a16:creationId xmlns:a16="http://schemas.microsoft.com/office/drawing/2014/main" id="{885F0956-0EDF-4482-9CCC-5A54278EEB6F}"/>
              </a:ext>
            </a:extLst>
          </p:cNvPr>
          <p:cNvSpPr/>
          <p:nvPr/>
        </p:nvSpPr>
        <p:spPr>
          <a:xfrm>
            <a:off x="8825885" y="497150"/>
            <a:ext cx="506027" cy="3178205"/>
          </a:xfrm>
          <a:prstGeom prst="leftBrace">
            <a:avLst>
              <a:gd name="adj1" fmla="val 62719"/>
              <a:gd name="adj2" fmla="val 4720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882141DA-B417-412B-8B34-7997F1AF7D1F}"/>
              </a:ext>
            </a:extLst>
          </p:cNvPr>
          <p:cNvSpPr/>
          <p:nvPr/>
        </p:nvSpPr>
        <p:spPr>
          <a:xfrm rot="16200000">
            <a:off x="6187229" y="-410582"/>
            <a:ext cx="890754" cy="9340789"/>
          </a:xfrm>
          <a:prstGeom prst="leftBrace">
            <a:avLst>
              <a:gd name="adj1" fmla="val 84078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08A634-CE54-433E-9244-ECC48137004D}"/>
              </a:ext>
            </a:extLst>
          </p:cNvPr>
          <p:cNvSpPr txBox="1"/>
          <p:nvPr/>
        </p:nvSpPr>
        <p:spPr>
          <a:xfrm>
            <a:off x="6423254" y="470519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17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5027E5-4E9A-4341-8E0F-E8F77BD4D80C}"/>
              </a:ext>
            </a:extLst>
          </p:cNvPr>
          <p:cNvSpPr txBox="1"/>
          <p:nvPr/>
        </p:nvSpPr>
        <p:spPr>
          <a:xfrm>
            <a:off x="3542057" y="5808274"/>
            <a:ext cx="57898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Number of bytes to represent Unicode codepoints = 3 bytes</a:t>
            </a:r>
          </a:p>
          <a:p>
            <a:r>
              <a:rPr lang="en-SG" dirty="0"/>
              <a:t>16 bits + 5 bits(17 ) = 21 bits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3EE8F2-986C-40D7-A55A-D37821C8DEEE}"/>
              </a:ext>
            </a:extLst>
          </p:cNvPr>
          <p:cNvSpPr/>
          <p:nvPr/>
        </p:nvSpPr>
        <p:spPr>
          <a:xfrm>
            <a:off x="1961965" y="3306023"/>
            <a:ext cx="19708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1400" dirty="0">
                <a:solidFill>
                  <a:srgbClr val="FFFF00"/>
                </a:solidFill>
                <a:latin typeface="Merriweather"/>
              </a:rPr>
              <a:t>Basic Multilingual Plane</a:t>
            </a:r>
            <a:endParaRPr lang="en-SG" sz="1400" dirty="0">
              <a:solidFill>
                <a:srgbClr val="FFFF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C66171-CD25-4D35-8362-D12516634B03}"/>
              </a:ext>
            </a:extLst>
          </p:cNvPr>
          <p:cNvSpPr/>
          <p:nvPr/>
        </p:nvSpPr>
        <p:spPr>
          <a:xfrm>
            <a:off x="4668466" y="312483"/>
            <a:ext cx="3076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dirty="0">
                <a:hlinkClick r:id="rId4"/>
              </a:rPr>
              <a:t>https://unicode-table.com/en/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7D801B7-B6AD-4EE1-A5D3-C49872DE8D96}"/>
                  </a:ext>
                </a:extLst>
              </p:cNvPr>
              <p:cNvSpPr txBox="1"/>
              <p:nvPr/>
            </p:nvSpPr>
            <p:spPr>
              <a:xfrm>
                <a:off x="3542057" y="5226613"/>
                <a:ext cx="47678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dirty="0"/>
                  <a:t>Total no. of Code Points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×17=1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114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112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7D801B7-B6AD-4EE1-A5D3-C49872DE8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2057" y="5226613"/>
                <a:ext cx="4767844" cy="369332"/>
              </a:xfrm>
              <a:prstGeom prst="rect">
                <a:avLst/>
              </a:prstGeom>
              <a:blipFill>
                <a:blip r:embed="rId5"/>
                <a:stretch>
                  <a:fillRect l="-1023" t="-8197" b="-2459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5FC667D-F5F7-4069-994F-8735C08A820C}"/>
              </a:ext>
            </a:extLst>
          </p:cNvPr>
          <p:cNvSpPr txBox="1"/>
          <p:nvPr/>
        </p:nvSpPr>
        <p:spPr>
          <a:xfrm>
            <a:off x="9247169" y="3641463"/>
            <a:ext cx="214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U+110000-U+11FFFF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C200D4-401D-4DCD-903F-DB1132668035}"/>
              </a:ext>
            </a:extLst>
          </p:cNvPr>
          <p:cNvSpPr txBox="1"/>
          <p:nvPr/>
        </p:nvSpPr>
        <p:spPr>
          <a:xfrm>
            <a:off x="1993557" y="3641463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U+0000-U+FFFF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0F4AED-04A4-4674-B0A4-59941CC235B9}"/>
              </a:ext>
            </a:extLst>
          </p:cNvPr>
          <p:cNvSpPr txBox="1"/>
          <p:nvPr/>
        </p:nvSpPr>
        <p:spPr>
          <a:xfrm>
            <a:off x="3978484" y="3881836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U+10000-U+1FFFF</a:t>
            </a:r>
          </a:p>
        </p:txBody>
      </p:sp>
      <p:sp>
        <p:nvSpPr>
          <p:cNvPr id="19" name="Callout: Line 18">
            <a:extLst>
              <a:ext uri="{FF2B5EF4-FFF2-40B4-BE49-F238E27FC236}">
                <a16:creationId xmlns:a16="http://schemas.microsoft.com/office/drawing/2014/main" id="{53D255C7-39DE-4275-9CF9-0496D2689286}"/>
              </a:ext>
            </a:extLst>
          </p:cNvPr>
          <p:cNvSpPr/>
          <p:nvPr/>
        </p:nvSpPr>
        <p:spPr>
          <a:xfrm>
            <a:off x="629352" y="3678610"/>
            <a:ext cx="902551" cy="572558"/>
          </a:xfrm>
          <a:prstGeom prst="borderCallout1">
            <a:avLst>
              <a:gd name="adj1" fmla="val 36766"/>
              <a:gd name="adj2" fmla="val 49579"/>
              <a:gd name="adj3" fmla="val -163446"/>
              <a:gd name="adj4" fmla="val 210138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/>
              <a:t>字</a:t>
            </a:r>
            <a:endParaRPr lang="en-SG" sz="3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6395E2-B6FF-41AF-9A90-920BD42C540D}"/>
              </a:ext>
            </a:extLst>
          </p:cNvPr>
          <p:cNvSpPr txBox="1"/>
          <p:nvPr/>
        </p:nvSpPr>
        <p:spPr>
          <a:xfrm>
            <a:off x="2433172" y="2526685"/>
            <a:ext cx="1028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U+5B57</a:t>
            </a:r>
          </a:p>
        </p:txBody>
      </p:sp>
      <p:sp>
        <p:nvSpPr>
          <p:cNvPr id="21" name="Callout: Line 20">
            <a:extLst>
              <a:ext uri="{FF2B5EF4-FFF2-40B4-BE49-F238E27FC236}">
                <a16:creationId xmlns:a16="http://schemas.microsoft.com/office/drawing/2014/main" id="{2BF4BFF2-9426-4A34-83C8-7D9AB28B1D5D}"/>
              </a:ext>
            </a:extLst>
          </p:cNvPr>
          <p:cNvSpPr/>
          <p:nvPr/>
        </p:nvSpPr>
        <p:spPr>
          <a:xfrm>
            <a:off x="431427" y="383842"/>
            <a:ext cx="902551" cy="572558"/>
          </a:xfrm>
          <a:prstGeom prst="borderCallout1">
            <a:avLst>
              <a:gd name="adj1" fmla="val 56124"/>
              <a:gd name="adj2" fmla="val 76187"/>
              <a:gd name="adj3" fmla="val 78531"/>
              <a:gd name="adj4" fmla="val 200928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3600" dirty="0"/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50F202-2A74-4650-BD51-BF7804967596}"/>
              </a:ext>
            </a:extLst>
          </p:cNvPr>
          <p:cNvSpPr txBox="1"/>
          <p:nvPr/>
        </p:nvSpPr>
        <p:spPr>
          <a:xfrm>
            <a:off x="2152929" y="677922"/>
            <a:ext cx="1028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U+0041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9E9ABF-6FCE-4E3A-A11E-9DCC9E76E233}"/>
              </a:ext>
            </a:extLst>
          </p:cNvPr>
          <p:cNvSpPr txBox="1"/>
          <p:nvPr/>
        </p:nvSpPr>
        <p:spPr>
          <a:xfrm>
            <a:off x="550246" y="956400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glyph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3E6376-53A4-4B21-91AB-5DC1DBDC79F5}"/>
              </a:ext>
            </a:extLst>
          </p:cNvPr>
          <p:cNvSpPr txBox="1"/>
          <p:nvPr/>
        </p:nvSpPr>
        <p:spPr>
          <a:xfrm>
            <a:off x="743843" y="4251168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glyph</a:t>
            </a:r>
          </a:p>
        </p:txBody>
      </p:sp>
      <p:sp>
        <p:nvSpPr>
          <p:cNvPr id="26" name="Callout: Line 25">
            <a:extLst>
              <a:ext uri="{FF2B5EF4-FFF2-40B4-BE49-F238E27FC236}">
                <a16:creationId xmlns:a16="http://schemas.microsoft.com/office/drawing/2014/main" id="{8DBAD177-88FA-4642-A829-4C840315D989}"/>
              </a:ext>
            </a:extLst>
          </p:cNvPr>
          <p:cNvSpPr/>
          <p:nvPr/>
        </p:nvSpPr>
        <p:spPr>
          <a:xfrm>
            <a:off x="6126434" y="1462612"/>
            <a:ext cx="728608" cy="369332"/>
          </a:xfrm>
          <a:prstGeom prst="borderCallout1">
            <a:avLst>
              <a:gd name="adj1" fmla="val -16262"/>
              <a:gd name="adj2" fmla="val 22091"/>
              <a:gd name="adj3" fmla="val 64256"/>
              <a:gd name="adj4" fmla="val -12823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3200" dirty="0">
                <a:effectLst/>
                <a:latin typeface="Segoe UI Emoji" panose="020B0502040204020203" pitchFamily="34" charset="0"/>
                <a:ea typeface="DengXian" panose="02010600030101010101" pitchFamily="2" charset="-122"/>
                <a:cs typeface="Segoe UI Emoji" panose="020B0502040204020203" pitchFamily="34" charset="0"/>
              </a:rPr>
              <a:t>😀</a:t>
            </a:r>
            <a:endParaRPr lang="en-SG" sz="3200" dirty="0">
              <a:effectLst/>
              <a:latin typeface="Arial" panose="020B06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endParaRPr lang="en-SG" sz="3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7692B5-3E24-4098-A0DA-A912AE8B64D3}"/>
              </a:ext>
            </a:extLst>
          </p:cNvPr>
          <p:cNvSpPr txBox="1"/>
          <p:nvPr/>
        </p:nvSpPr>
        <p:spPr>
          <a:xfrm>
            <a:off x="4279318" y="1585767"/>
            <a:ext cx="1028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U+1F600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3C1590-E2A8-4B40-8428-722D5BC4F55E}"/>
              </a:ext>
            </a:extLst>
          </p:cNvPr>
          <p:cNvSpPr txBox="1"/>
          <p:nvPr/>
        </p:nvSpPr>
        <p:spPr>
          <a:xfrm>
            <a:off x="6143527" y="1526985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glyph</a:t>
            </a:r>
          </a:p>
        </p:txBody>
      </p:sp>
    </p:spTree>
    <p:extLst>
      <p:ext uri="{BB962C8B-B14F-4D97-AF65-F5344CB8AC3E}">
        <p14:creationId xmlns:p14="http://schemas.microsoft.com/office/powerpoint/2010/main" val="3400852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5ED65-3CBE-4433-BDD0-673DA099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Python Code Points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3B073-0D3D-490B-90E7-9D74C48C4C2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690688"/>
            <a:ext cx="10515600" cy="5136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Unicode Code Points are written as U+XXXXXX, where X is a hexadecimal  digit</a:t>
            </a:r>
          </a:p>
          <a:p>
            <a:r>
              <a:rPr lang="en-SG" dirty="0"/>
              <a:t>In Python, code points are written as "\</a:t>
            </a:r>
            <a:r>
              <a:rPr lang="en-SG" dirty="0" err="1"/>
              <a:t>uXXXX</a:t>
            </a:r>
            <a:r>
              <a:rPr lang="en-SG" dirty="0"/>
              <a:t>", if the code point is between  0000 and FFFF and "\UXXXXXXXX" if the code point value is &gt; FFFF</a:t>
            </a:r>
          </a:p>
          <a:p>
            <a:r>
              <a:rPr lang="en-SG" dirty="0"/>
              <a:t>In Python using string literals </a:t>
            </a:r>
          </a:p>
          <a:p>
            <a:pPr lvl="1"/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print("\u4e50"), print("\U0001F600")</a:t>
            </a:r>
          </a:p>
          <a:p>
            <a:r>
              <a:rPr lang="en-SG" dirty="0">
                <a:cs typeface="Courier New" panose="02070309020205020404" pitchFamily="49" charset="0"/>
              </a:rPr>
              <a:t>In Python using the chr() function</a:t>
            </a:r>
          </a:p>
          <a:p>
            <a:pPr lvl="1"/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print( chr(0x4e50) )</a:t>
            </a:r>
          </a:p>
          <a:p>
            <a:pPr marL="0" indent="0">
              <a:buNone/>
            </a:pPr>
            <a:endParaRPr lang="en-S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55599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5CB066-C140-4C9C-9AE2-43B8DCBF6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en-SG" dirty="0">
                <a:solidFill>
                  <a:schemeClr val="tx1"/>
                </a:solidFill>
              </a:rPr>
              <a:t>storing an integer ranging from 0 to 1 114 112</a:t>
            </a:r>
            <a:r>
              <a:rPr lang="en-SG" baseline="-25000" dirty="0">
                <a:solidFill>
                  <a:schemeClr val="tx1"/>
                </a:solidFill>
              </a:rPr>
              <a:t>10 </a:t>
            </a:r>
            <a:r>
              <a:rPr lang="en-SG" dirty="0">
                <a:solidFill>
                  <a:schemeClr val="tx1"/>
                </a:solidFill>
              </a:rPr>
              <a:t>in memory or file</a:t>
            </a:r>
            <a:r>
              <a:rPr lang="en-SG" baseline="-25000" dirty="0">
                <a:solidFill>
                  <a:schemeClr val="tx1"/>
                </a:solidFill>
              </a:rPr>
              <a:t> </a:t>
            </a:r>
            <a:endParaRPr lang="en-SG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en-SG" dirty="0">
                <a:solidFill>
                  <a:schemeClr val="tx1"/>
                </a:solidFill>
              </a:rPr>
              <a:t>00000000 to 00010000 11111111 11111111</a:t>
            </a:r>
            <a:r>
              <a:rPr lang="en-SG" baseline="-25000" dirty="0">
                <a:solidFill>
                  <a:schemeClr val="tx1"/>
                </a:solidFill>
              </a:rPr>
              <a:t>2</a:t>
            </a:r>
          </a:p>
          <a:p>
            <a:pPr marL="342900" indent="-342900">
              <a:buFontTx/>
              <a:buChar char="-"/>
            </a:pPr>
            <a:r>
              <a:rPr lang="en-SG" baseline="-25000" dirty="0">
                <a:solidFill>
                  <a:schemeClr val="tx1"/>
                </a:solidFill>
              </a:rPr>
              <a:t>UTF-8, UTF-16, UTF-32 can be used to encode all UNICODE Code points</a:t>
            </a:r>
            <a:endParaRPr lang="en-SG" dirty="0">
              <a:solidFill>
                <a:schemeClr val="tx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E38884F-4452-4A07-8BC6-3ECE63375E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82550" y="0"/>
            <a:ext cx="10515600" cy="2852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Encoding a Code Point</a:t>
            </a:r>
          </a:p>
        </p:txBody>
      </p:sp>
    </p:spTree>
    <p:extLst>
      <p:ext uri="{BB962C8B-B14F-4D97-AF65-F5344CB8AC3E}">
        <p14:creationId xmlns:p14="http://schemas.microsoft.com/office/powerpoint/2010/main" val="1480019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8E0DEF-AADE-43AA-80BA-937406EDC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846966"/>
              </p:ext>
            </p:extLst>
          </p:nvPr>
        </p:nvGraphicFramePr>
        <p:xfrm>
          <a:off x="1383317" y="140931"/>
          <a:ext cx="8869779" cy="63015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8249">
                  <a:extLst>
                    <a:ext uri="{9D8B030D-6E8A-4147-A177-3AD203B41FA5}">
                      <a16:colId xmlns:a16="http://schemas.microsoft.com/office/drawing/2014/main" val="3549779338"/>
                    </a:ext>
                  </a:extLst>
                </a:gridCol>
                <a:gridCol w="7581530">
                  <a:extLst>
                    <a:ext uri="{9D8B030D-6E8A-4147-A177-3AD203B41FA5}">
                      <a16:colId xmlns:a16="http://schemas.microsoft.com/office/drawing/2014/main" val="1376531179"/>
                    </a:ext>
                  </a:extLst>
                </a:gridCol>
              </a:tblGrid>
              <a:tr h="2566714">
                <a:tc>
                  <a:txBody>
                    <a:bodyPr/>
                    <a:lstStyle/>
                    <a:p>
                      <a:r>
                        <a:rPr lang="en-SG" dirty="0"/>
                        <a:t>UTF-8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875071"/>
                  </a:ext>
                </a:extLst>
              </a:tr>
              <a:tr h="1970318">
                <a:tc>
                  <a:txBody>
                    <a:bodyPr/>
                    <a:lstStyle/>
                    <a:p>
                      <a:r>
                        <a:rPr lang="en-SG" dirty="0"/>
                        <a:t>UTF-16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216026"/>
                  </a:ext>
                </a:extLst>
              </a:tr>
              <a:tr h="1764473">
                <a:tc>
                  <a:txBody>
                    <a:bodyPr/>
                    <a:lstStyle/>
                    <a:p>
                      <a:r>
                        <a:rPr lang="en-SG" dirty="0"/>
                        <a:t>UTF-32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023630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701C0A8A-D2E3-48CD-B8FE-9314B29F7A7C}"/>
              </a:ext>
            </a:extLst>
          </p:cNvPr>
          <p:cNvSpPr/>
          <p:nvPr/>
        </p:nvSpPr>
        <p:spPr>
          <a:xfrm>
            <a:off x="3053305" y="415564"/>
            <a:ext cx="1544715" cy="3195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8-bit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6C2875-CC93-4CAF-A06C-C85D6E84A979}"/>
              </a:ext>
            </a:extLst>
          </p:cNvPr>
          <p:cNvSpPr/>
          <p:nvPr/>
        </p:nvSpPr>
        <p:spPr>
          <a:xfrm>
            <a:off x="3053305" y="956527"/>
            <a:ext cx="1544715" cy="3195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8-bit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E32433-776D-4950-88A6-AFD60399245F}"/>
              </a:ext>
            </a:extLst>
          </p:cNvPr>
          <p:cNvSpPr/>
          <p:nvPr/>
        </p:nvSpPr>
        <p:spPr>
          <a:xfrm>
            <a:off x="4890983" y="956527"/>
            <a:ext cx="1544715" cy="3195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8-bit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482F0C-2CBD-48C7-88CF-F6187CA8D352}"/>
              </a:ext>
            </a:extLst>
          </p:cNvPr>
          <p:cNvSpPr/>
          <p:nvPr/>
        </p:nvSpPr>
        <p:spPr>
          <a:xfrm>
            <a:off x="3053304" y="1497490"/>
            <a:ext cx="1544715" cy="3195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8-bit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09DC53-024E-446F-A7AC-589116A82965}"/>
              </a:ext>
            </a:extLst>
          </p:cNvPr>
          <p:cNvSpPr/>
          <p:nvPr/>
        </p:nvSpPr>
        <p:spPr>
          <a:xfrm>
            <a:off x="4890983" y="1497490"/>
            <a:ext cx="1544715" cy="3195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8-bit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CB3D85-DC0F-4FD3-9569-328C7D8A347C}"/>
              </a:ext>
            </a:extLst>
          </p:cNvPr>
          <p:cNvSpPr/>
          <p:nvPr/>
        </p:nvSpPr>
        <p:spPr>
          <a:xfrm>
            <a:off x="6728662" y="1497490"/>
            <a:ext cx="1544715" cy="3195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8-bit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6664EC-8B25-47A5-B68D-C41511AC1C84}"/>
              </a:ext>
            </a:extLst>
          </p:cNvPr>
          <p:cNvSpPr/>
          <p:nvPr/>
        </p:nvSpPr>
        <p:spPr>
          <a:xfrm>
            <a:off x="3053304" y="3413183"/>
            <a:ext cx="2592281" cy="3195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16-bit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1AEB90-0F6D-44DB-94E5-EF40C130B52C}"/>
              </a:ext>
            </a:extLst>
          </p:cNvPr>
          <p:cNvSpPr/>
          <p:nvPr/>
        </p:nvSpPr>
        <p:spPr>
          <a:xfrm>
            <a:off x="3045409" y="4044688"/>
            <a:ext cx="2592281" cy="3195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16-bit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9DC5B1-0482-48F9-A94E-CCE8A42B4DB4}"/>
              </a:ext>
            </a:extLst>
          </p:cNvPr>
          <p:cNvSpPr/>
          <p:nvPr/>
        </p:nvSpPr>
        <p:spPr>
          <a:xfrm>
            <a:off x="5818206" y="4031532"/>
            <a:ext cx="2592281" cy="3195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16-bit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F9AA7F-1E52-41C4-942B-354CCE7D2253}"/>
              </a:ext>
            </a:extLst>
          </p:cNvPr>
          <p:cNvSpPr/>
          <p:nvPr/>
        </p:nvSpPr>
        <p:spPr>
          <a:xfrm>
            <a:off x="3045409" y="5312316"/>
            <a:ext cx="4643024" cy="31959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32-bit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EA3891-62EF-4C87-A5A4-99F1279DE57E}"/>
              </a:ext>
            </a:extLst>
          </p:cNvPr>
          <p:cNvSpPr/>
          <p:nvPr/>
        </p:nvSpPr>
        <p:spPr>
          <a:xfrm>
            <a:off x="3045410" y="2259820"/>
            <a:ext cx="1544715" cy="3195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8-bit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E3492D-7378-414A-AA19-BFA570983F1D}"/>
              </a:ext>
            </a:extLst>
          </p:cNvPr>
          <p:cNvSpPr/>
          <p:nvPr/>
        </p:nvSpPr>
        <p:spPr>
          <a:xfrm>
            <a:off x="4883089" y="2259820"/>
            <a:ext cx="1544715" cy="3195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8-bit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21FAE-141D-4D7A-9CDC-A0503AFDA547}"/>
              </a:ext>
            </a:extLst>
          </p:cNvPr>
          <p:cNvSpPr/>
          <p:nvPr/>
        </p:nvSpPr>
        <p:spPr>
          <a:xfrm>
            <a:off x="6720768" y="2259820"/>
            <a:ext cx="1544715" cy="3195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8-bit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257FA7-8976-4DA9-BC52-567D949CCB66}"/>
              </a:ext>
            </a:extLst>
          </p:cNvPr>
          <p:cNvSpPr/>
          <p:nvPr/>
        </p:nvSpPr>
        <p:spPr>
          <a:xfrm>
            <a:off x="8558447" y="2237689"/>
            <a:ext cx="1544715" cy="3195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8-bit</a:t>
            </a:r>
          </a:p>
        </p:txBody>
      </p:sp>
    </p:spTree>
    <p:extLst>
      <p:ext uri="{BB962C8B-B14F-4D97-AF65-F5344CB8AC3E}">
        <p14:creationId xmlns:p14="http://schemas.microsoft.com/office/powerpoint/2010/main" val="2681782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EE76C-33BF-4E54-B0ED-7ADDDA08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UTF-8 vs UTF-16 vs UTF-32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68F1A4-6029-412B-AFC5-B27F33F41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431" y="1690688"/>
            <a:ext cx="5295900" cy="24574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356AE4-B659-41F6-8874-0821F2A0BA8C}"/>
              </a:ext>
            </a:extLst>
          </p:cNvPr>
          <p:cNvSpPr txBox="1"/>
          <p:nvPr/>
        </p:nvSpPr>
        <p:spPr>
          <a:xfrm>
            <a:off x="1810326" y="2282845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ASCII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9FBD49-51E5-4583-8ECE-93DB93595DE6}"/>
              </a:ext>
            </a:extLst>
          </p:cNvPr>
          <p:cNvSpPr txBox="1"/>
          <p:nvPr/>
        </p:nvSpPr>
        <p:spPr>
          <a:xfrm>
            <a:off x="515710" y="3204867"/>
            <a:ext cx="2165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 err="1"/>
              <a:t>Thai,CJK</a:t>
            </a:r>
            <a:r>
              <a:rPr lang="en-SG" dirty="0"/>
              <a:t> </a:t>
            </a:r>
            <a:r>
              <a:rPr lang="en-SG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Ideographs</a:t>
            </a:r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77442E-78C3-44C4-970C-9981EA2F0B08}"/>
              </a:ext>
            </a:extLst>
          </p:cNvPr>
          <p:cNvSpPr txBox="1"/>
          <p:nvPr/>
        </p:nvSpPr>
        <p:spPr>
          <a:xfrm>
            <a:off x="252496" y="2755711"/>
            <a:ext cx="24289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0" i="0" dirty="0" err="1">
                <a:solidFill>
                  <a:srgbClr val="111111"/>
                </a:solidFill>
                <a:effectLst/>
                <a:latin typeface="Roboto"/>
              </a:rPr>
              <a:t>Cyrillic,Hebrew,Arabic</a:t>
            </a:r>
            <a:endParaRPr lang="en-SG" b="0" i="0" dirty="0">
              <a:solidFill>
                <a:srgbClr val="111111"/>
              </a:solidFill>
              <a:effectLst/>
              <a:latin typeface="Roboto"/>
            </a:endParaRPr>
          </a:p>
          <a:p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17AB3F-CC96-4028-9977-297941E26DEE}"/>
              </a:ext>
            </a:extLst>
          </p:cNvPr>
          <p:cNvSpPr txBox="1"/>
          <p:nvPr/>
        </p:nvSpPr>
        <p:spPr>
          <a:xfrm>
            <a:off x="1970980" y="371720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Emoji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44341F-7CB0-4B5D-81D1-639CCA701852}"/>
              </a:ext>
            </a:extLst>
          </p:cNvPr>
          <p:cNvSpPr txBox="1"/>
          <p:nvPr/>
        </p:nvSpPr>
        <p:spPr>
          <a:xfrm>
            <a:off x="2681431" y="4619619"/>
            <a:ext cx="838088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UTF-8 is compatible with ASCII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UTF-16 can be used for most languages with just 2 bytes instead of 3 bytes for UTF-8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UTF-32 seldom used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BOM, Byte Order Marker is used for UTF-16 and UTF-32 to indicate </a:t>
            </a:r>
            <a:r>
              <a:rPr lang="en-SG" b="1" dirty="0"/>
              <a:t>Endianness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b="1" dirty="0"/>
              <a:t>0xFF 0xFE ,Little Endian ( Least Significant Byte First)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b="1" dirty="0"/>
              <a:t>0xFE 0xFF ,Big Endian (Most Significant Byte First)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420A81-E2DE-F4C8-79A5-E56451EBCD1F}"/>
              </a:ext>
            </a:extLst>
          </p:cNvPr>
          <p:cNvSpPr/>
          <p:nvPr/>
        </p:nvSpPr>
        <p:spPr>
          <a:xfrm>
            <a:off x="5918479" y="1690688"/>
            <a:ext cx="974690" cy="1883511"/>
          </a:xfrm>
          <a:prstGeom prst="rect">
            <a:avLst/>
          </a:prstGeom>
          <a:solidFill>
            <a:srgbClr val="8C8B8B">
              <a:alpha val="30000"/>
            </a:srgb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B0063B-CCB5-48DE-2281-96D005DA6EA5}"/>
              </a:ext>
            </a:extLst>
          </p:cNvPr>
          <p:cNvSpPr/>
          <p:nvPr/>
        </p:nvSpPr>
        <p:spPr>
          <a:xfrm>
            <a:off x="5918479" y="3574199"/>
            <a:ext cx="974690" cy="573939"/>
          </a:xfrm>
          <a:prstGeom prst="rect">
            <a:avLst/>
          </a:prstGeom>
          <a:solidFill>
            <a:srgbClr val="8C8B8B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D6CDF2-3C3E-038C-49BE-F6226D9D2BDE}"/>
              </a:ext>
            </a:extLst>
          </p:cNvPr>
          <p:cNvSpPr/>
          <p:nvPr/>
        </p:nvSpPr>
        <p:spPr>
          <a:xfrm>
            <a:off x="6893169" y="1690688"/>
            <a:ext cx="1084162" cy="2457450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1634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5A2944-567D-4F78-883D-982EB53C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Integer Representation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F01C90-B9DD-4F10-B08E-F91066CE7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62190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611B612-5651-4B58-BF11-CE2BA64B8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49717"/>
              </p:ext>
            </p:extLst>
          </p:nvPr>
        </p:nvGraphicFramePr>
        <p:xfrm>
          <a:off x="784030" y="1447435"/>
          <a:ext cx="5246253" cy="360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5234">
                  <a:extLst>
                    <a:ext uri="{9D8B030D-6E8A-4147-A177-3AD203B41FA5}">
                      <a16:colId xmlns:a16="http://schemas.microsoft.com/office/drawing/2014/main" val="3191259569"/>
                    </a:ext>
                  </a:extLst>
                </a:gridCol>
                <a:gridCol w="1376219">
                  <a:extLst>
                    <a:ext uri="{9D8B030D-6E8A-4147-A177-3AD203B41FA5}">
                      <a16:colId xmlns:a16="http://schemas.microsoft.com/office/drawing/2014/main" val="3666311277"/>
                    </a:ext>
                  </a:extLst>
                </a:gridCol>
                <a:gridCol w="1376219">
                  <a:extLst>
                    <a:ext uri="{9D8B030D-6E8A-4147-A177-3AD203B41FA5}">
                      <a16:colId xmlns:a16="http://schemas.microsoft.com/office/drawing/2014/main" val="3792132973"/>
                    </a:ext>
                  </a:extLst>
                </a:gridCol>
                <a:gridCol w="1468581">
                  <a:extLst>
                    <a:ext uri="{9D8B030D-6E8A-4147-A177-3AD203B41FA5}">
                      <a16:colId xmlns:a16="http://schemas.microsoft.com/office/drawing/2014/main" val="4032865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 Bit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Sign</a:t>
                      </a:r>
                    </a:p>
                    <a:p>
                      <a:pPr algn="ctr"/>
                      <a:r>
                        <a:rPr lang="en-SG" dirty="0"/>
                        <a:t>Magnitude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1's complement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2's </a:t>
                      </a:r>
                    </a:p>
                    <a:p>
                      <a:pPr algn="ctr"/>
                      <a:r>
                        <a:rPr lang="en-SG" dirty="0"/>
                        <a:t>complement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777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623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408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870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82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48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61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253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63466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08F8B33-6976-4D98-9095-D78DC979EE50}"/>
              </a:ext>
            </a:extLst>
          </p:cNvPr>
          <p:cNvSpPr txBox="1"/>
          <p:nvPr/>
        </p:nvSpPr>
        <p:spPr>
          <a:xfrm>
            <a:off x="1516889" y="549862"/>
            <a:ext cx="39119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4000" dirty="0"/>
              <a:t>3-BIT COMPUTER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31BB2-99F9-4B28-820E-DA92798A4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892" y="117206"/>
            <a:ext cx="3717872" cy="2281084"/>
          </a:xfrm>
          <a:prstGeom prst="rect">
            <a:avLst/>
          </a:prstGeom>
        </p:spPr>
      </p:pic>
      <p:sp>
        <p:nvSpPr>
          <p:cNvPr id="5" name="Arrow: Curved Up 4">
            <a:extLst>
              <a:ext uri="{FF2B5EF4-FFF2-40B4-BE49-F238E27FC236}">
                <a16:creationId xmlns:a16="http://schemas.microsoft.com/office/drawing/2014/main" id="{994EDDE7-FF41-4DEA-A704-17E52B1BFC3E}"/>
              </a:ext>
            </a:extLst>
          </p:cNvPr>
          <p:cNvSpPr/>
          <p:nvPr/>
        </p:nvSpPr>
        <p:spPr>
          <a:xfrm>
            <a:off x="1164675" y="5145845"/>
            <a:ext cx="2828629" cy="1034473"/>
          </a:xfrm>
          <a:prstGeom prst="curvedUpArrow">
            <a:avLst>
              <a:gd name="adj1" fmla="val 25000"/>
              <a:gd name="adj2" fmla="val 29881"/>
              <a:gd name="adj3" fmla="val 154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SG" sz="1200" b="1" dirty="0">
                <a:solidFill>
                  <a:schemeClr val="tx1"/>
                </a:solidFill>
              </a:rPr>
              <a:t>When the </a:t>
            </a:r>
            <a:r>
              <a:rPr lang="en-SG" sz="1200" b="1" dirty="0" err="1">
                <a:solidFill>
                  <a:schemeClr val="tx1"/>
                </a:solidFill>
              </a:rPr>
              <a:t>msb</a:t>
            </a:r>
            <a:r>
              <a:rPr lang="en-SG" sz="1200" b="1" dirty="0">
                <a:solidFill>
                  <a:schemeClr val="tx1"/>
                </a:solidFill>
              </a:rPr>
              <a:t> is 1, it means –</a:t>
            </a:r>
            <a:r>
              <a:rPr lang="en-SG" sz="1200" b="1" dirty="0" err="1">
                <a:solidFill>
                  <a:schemeClr val="tx1"/>
                </a:solidFill>
              </a:rPr>
              <a:t>ve</a:t>
            </a:r>
            <a:r>
              <a:rPr lang="en-SG" sz="1200" b="1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en-SG" sz="1200" b="1" dirty="0">
                <a:solidFill>
                  <a:schemeClr val="tx1"/>
                </a:solidFill>
              </a:rPr>
              <a:t>flip the bits to get its abs value</a:t>
            </a:r>
          </a:p>
        </p:txBody>
      </p:sp>
      <p:sp>
        <p:nvSpPr>
          <p:cNvPr id="6" name="Arrow: Curved Up 5">
            <a:extLst>
              <a:ext uri="{FF2B5EF4-FFF2-40B4-BE49-F238E27FC236}">
                <a16:creationId xmlns:a16="http://schemas.microsoft.com/office/drawing/2014/main" id="{5B936664-FB6F-4CDF-A4B5-0FEB1A00FF93}"/>
              </a:ext>
            </a:extLst>
          </p:cNvPr>
          <p:cNvSpPr/>
          <p:nvPr/>
        </p:nvSpPr>
        <p:spPr>
          <a:xfrm>
            <a:off x="1164675" y="5145845"/>
            <a:ext cx="4656318" cy="112102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A684B5-8814-4280-A5B7-27FEA6199D4F}"/>
              </a:ext>
            </a:extLst>
          </p:cNvPr>
          <p:cNvSpPr txBox="1"/>
          <p:nvPr/>
        </p:nvSpPr>
        <p:spPr>
          <a:xfrm>
            <a:off x="5714245" y="5145845"/>
            <a:ext cx="219416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b="1" dirty="0">
                <a:solidFill>
                  <a:schemeClr val="tx1"/>
                </a:solidFill>
              </a:rPr>
              <a:t>When the </a:t>
            </a:r>
            <a:r>
              <a:rPr lang="en-SG" sz="1100" b="1" dirty="0" err="1">
                <a:solidFill>
                  <a:schemeClr val="tx1"/>
                </a:solidFill>
              </a:rPr>
              <a:t>msb</a:t>
            </a:r>
            <a:r>
              <a:rPr lang="en-SG" sz="1100" b="1" dirty="0">
                <a:solidFill>
                  <a:schemeClr val="tx1"/>
                </a:solidFill>
              </a:rPr>
              <a:t> is 1, it means –</a:t>
            </a:r>
            <a:r>
              <a:rPr lang="en-SG" sz="1100" b="1" dirty="0" err="1">
                <a:solidFill>
                  <a:schemeClr val="tx1"/>
                </a:solidFill>
              </a:rPr>
              <a:t>ve</a:t>
            </a:r>
            <a:r>
              <a:rPr lang="en-SG" sz="1100" b="1" dirty="0">
                <a:solidFill>
                  <a:schemeClr val="tx1"/>
                </a:solidFill>
              </a:rPr>
              <a:t>,</a:t>
            </a:r>
          </a:p>
          <a:p>
            <a:r>
              <a:rPr lang="en-SG" sz="1100" b="1" dirty="0">
                <a:solidFill>
                  <a:schemeClr val="tx1"/>
                </a:solidFill>
              </a:rPr>
              <a:t>flip the bits and </a:t>
            </a:r>
            <a:r>
              <a:rPr lang="en-SG" sz="1100" b="1" dirty="0"/>
              <a:t>+ 1 </a:t>
            </a:r>
            <a:r>
              <a:rPr lang="en-SG" sz="1100" b="1" dirty="0">
                <a:solidFill>
                  <a:schemeClr val="tx1"/>
                </a:solidFill>
              </a:rPr>
              <a:t>to get its abs 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70BB41-4A12-984C-2CF9-21A9AB6E1EBE}"/>
              </a:ext>
            </a:extLst>
          </p:cNvPr>
          <p:cNvSpPr txBox="1"/>
          <p:nvPr/>
        </p:nvSpPr>
        <p:spPr>
          <a:xfrm>
            <a:off x="7019875" y="2489900"/>
            <a:ext cx="52462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in 2's complement Overflow occurs when</a:t>
            </a:r>
            <a:r>
              <a:rPr lang="en-SG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both operands with same sign results in different 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carry-in to the most significant bit is different from the carry out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812C78-FA6D-A88A-E9F3-8A4BDB38743D}"/>
                  </a:ext>
                </a:extLst>
              </p:cNvPr>
              <p:cNvSpPr txBox="1"/>
              <p:nvPr/>
            </p:nvSpPr>
            <p:spPr>
              <a:xfrm>
                <a:off x="7019875" y="4301816"/>
                <a:ext cx="379450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b="1" dirty="0"/>
                  <a:t>Range of integers for a n bit register </a:t>
                </a:r>
                <a:r>
                  <a:rPr lang="en-SG" dirty="0"/>
                  <a:t>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SG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812C78-FA6D-A88A-E9F3-8A4BDB387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875" y="4301816"/>
                <a:ext cx="3794500" cy="646331"/>
              </a:xfrm>
              <a:prstGeom prst="rect">
                <a:avLst/>
              </a:prstGeom>
              <a:blipFill>
                <a:blip r:embed="rId3"/>
                <a:stretch>
                  <a:fillRect l="-1447" t="-5660" r="-48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2470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611B612-5651-4B58-BF11-CE2BA64B8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962849"/>
              </p:ext>
            </p:extLst>
          </p:nvPr>
        </p:nvGraphicFramePr>
        <p:xfrm>
          <a:off x="784030" y="1447435"/>
          <a:ext cx="2493815" cy="360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5234">
                  <a:extLst>
                    <a:ext uri="{9D8B030D-6E8A-4147-A177-3AD203B41FA5}">
                      <a16:colId xmlns:a16="http://schemas.microsoft.com/office/drawing/2014/main" val="3191259569"/>
                    </a:ext>
                  </a:extLst>
                </a:gridCol>
                <a:gridCol w="1468581">
                  <a:extLst>
                    <a:ext uri="{9D8B030D-6E8A-4147-A177-3AD203B41FA5}">
                      <a16:colId xmlns:a16="http://schemas.microsoft.com/office/drawing/2014/main" val="4032865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 Bit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2's </a:t>
                      </a:r>
                    </a:p>
                    <a:p>
                      <a:pPr algn="ctr"/>
                      <a:r>
                        <a:rPr lang="en-SG" dirty="0"/>
                        <a:t>complement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777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623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408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870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82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48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61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253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63466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08F8B33-6976-4D98-9095-D78DC979EE50}"/>
              </a:ext>
            </a:extLst>
          </p:cNvPr>
          <p:cNvSpPr txBox="1"/>
          <p:nvPr/>
        </p:nvSpPr>
        <p:spPr>
          <a:xfrm>
            <a:off x="784030" y="237091"/>
            <a:ext cx="96181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4000" dirty="0"/>
              <a:t>3-BIT COMPUTER 2's complement arithmetic </a:t>
            </a: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3B6C50A7-AB37-49CF-60F8-83F2C0D4F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616807"/>
              </p:ext>
            </p:extLst>
          </p:nvPr>
        </p:nvGraphicFramePr>
        <p:xfrm>
          <a:off x="5126182" y="1447435"/>
          <a:ext cx="1385454" cy="11183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1818">
                  <a:extLst>
                    <a:ext uri="{9D8B030D-6E8A-4147-A177-3AD203B41FA5}">
                      <a16:colId xmlns:a16="http://schemas.microsoft.com/office/drawing/2014/main" val="2037392951"/>
                    </a:ext>
                  </a:extLst>
                </a:gridCol>
                <a:gridCol w="461818">
                  <a:extLst>
                    <a:ext uri="{9D8B030D-6E8A-4147-A177-3AD203B41FA5}">
                      <a16:colId xmlns:a16="http://schemas.microsoft.com/office/drawing/2014/main" val="727096597"/>
                    </a:ext>
                  </a:extLst>
                </a:gridCol>
                <a:gridCol w="461818">
                  <a:extLst>
                    <a:ext uri="{9D8B030D-6E8A-4147-A177-3AD203B41FA5}">
                      <a16:colId xmlns:a16="http://schemas.microsoft.com/office/drawing/2014/main" val="623038582"/>
                    </a:ext>
                  </a:extLst>
                </a:gridCol>
              </a:tblGrid>
              <a:tr h="37279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655389"/>
                  </a:ext>
                </a:extLst>
              </a:tr>
              <a:tr h="37279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059905"/>
                  </a:ext>
                </a:extLst>
              </a:tr>
              <a:tr h="37279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569530"/>
                  </a:ext>
                </a:extLst>
              </a:tr>
            </a:tbl>
          </a:graphicData>
        </a:graphic>
      </p:graphicFrame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F4209CD5-6449-C526-FECE-19D7DFD3D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402"/>
              </p:ext>
            </p:extLst>
          </p:nvPr>
        </p:nvGraphicFramePr>
        <p:xfrm>
          <a:off x="4331855" y="1454361"/>
          <a:ext cx="79432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4327">
                  <a:extLst>
                    <a:ext uri="{9D8B030D-6E8A-4147-A177-3AD203B41FA5}">
                      <a16:colId xmlns:a16="http://schemas.microsoft.com/office/drawing/2014/main" val="2483823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602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-1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772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15645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30B932B-2D66-BB96-E7DE-35274F35E262}"/>
              </a:ext>
            </a:extLst>
          </p:cNvPr>
          <p:cNvSpPr txBox="1"/>
          <p:nvPr/>
        </p:nvSpPr>
        <p:spPr>
          <a:xfrm>
            <a:off x="784030" y="5061161"/>
            <a:ext cx="52462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in 2's complement Overflow occurs when</a:t>
            </a:r>
            <a:r>
              <a:rPr lang="en-SG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both operands with same sign results in different 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carry-in to the most significant bit is different from the carry out</a:t>
            </a:r>
          </a:p>
        </p:txBody>
      </p:sp>
      <p:graphicFrame>
        <p:nvGraphicFramePr>
          <p:cNvPr id="15" name="Table 12">
            <a:extLst>
              <a:ext uri="{FF2B5EF4-FFF2-40B4-BE49-F238E27FC236}">
                <a16:creationId xmlns:a16="http://schemas.microsoft.com/office/drawing/2014/main" id="{F32EB5D4-EA4C-CAFB-60C1-70D0CA892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06003"/>
              </p:ext>
            </p:extLst>
          </p:nvPr>
        </p:nvGraphicFramePr>
        <p:xfrm>
          <a:off x="8622145" y="1454361"/>
          <a:ext cx="1385454" cy="11183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1818">
                  <a:extLst>
                    <a:ext uri="{9D8B030D-6E8A-4147-A177-3AD203B41FA5}">
                      <a16:colId xmlns:a16="http://schemas.microsoft.com/office/drawing/2014/main" val="2037392951"/>
                    </a:ext>
                  </a:extLst>
                </a:gridCol>
                <a:gridCol w="461818">
                  <a:extLst>
                    <a:ext uri="{9D8B030D-6E8A-4147-A177-3AD203B41FA5}">
                      <a16:colId xmlns:a16="http://schemas.microsoft.com/office/drawing/2014/main" val="727096597"/>
                    </a:ext>
                  </a:extLst>
                </a:gridCol>
                <a:gridCol w="461818">
                  <a:extLst>
                    <a:ext uri="{9D8B030D-6E8A-4147-A177-3AD203B41FA5}">
                      <a16:colId xmlns:a16="http://schemas.microsoft.com/office/drawing/2014/main" val="623038582"/>
                    </a:ext>
                  </a:extLst>
                </a:gridCol>
              </a:tblGrid>
              <a:tr h="37279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655389"/>
                  </a:ext>
                </a:extLst>
              </a:tr>
              <a:tr h="37279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059905"/>
                  </a:ext>
                </a:extLst>
              </a:tr>
              <a:tr h="37279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569530"/>
                  </a:ext>
                </a:extLst>
              </a:tr>
            </a:tbl>
          </a:graphicData>
        </a:graphic>
      </p:graphicFrame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972606D7-6C02-D5BF-7223-4CC8DE27E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69374"/>
              </p:ext>
            </p:extLst>
          </p:nvPr>
        </p:nvGraphicFramePr>
        <p:xfrm>
          <a:off x="7827818" y="1461287"/>
          <a:ext cx="79432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4327">
                  <a:extLst>
                    <a:ext uri="{9D8B030D-6E8A-4147-A177-3AD203B41FA5}">
                      <a16:colId xmlns:a16="http://schemas.microsoft.com/office/drawing/2014/main" val="2483823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602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-4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772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-2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156459"/>
                  </a:ext>
                </a:extLst>
              </a:tr>
            </a:tbl>
          </a:graphicData>
        </a:graphic>
      </p:graphicFrame>
      <p:sp>
        <p:nvSpPr>
          <p:cNvPr id="18" name="Arrow: Curved Down 17">
            <a:extLst>
              <a:ext uri="{FF2B5EF4-FFF2-40B4-BE49-F238E27FC236}">
                <a16:creationId xmlns:a16="http://schemas.microsoft.com/office/drawing/2014/main" id="{E7614AC1-C66C-51E1-9336-7D412929ED8A}"/>
              </a:ext>
            </a:extLst>
          </p:cNvPr>
          <p:cNvSpPr/>
          <p:nvPr/>
        </p:nvSpPr>
        <p:spPr>
          <a:xfrm rot="10800000" flipV="1">
            <a:off x="5845556" y="1226918"/>
            <a:ext cx="369454" cy="157018"/>
          </a:xfrm>
          <a:prstGeom prst="curved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19" name="Arrow: Curved Down 18">
            <a:extLst>
              <a:ext uri="{FF2B5EF4-FFF2-40B4-BE49-F238E27FC236}">
                <a16:creationId xmlns:a16="http://schemas.microsoft.com/office/drawing/2014/main" id="{C97B7ADF-FB38-BC76-F7A3-C4F0411CDB9A}"/>
              </a:ext>
            </a:extLst>
          </p:cNvPr>
          <p:cNvSpPr/>
          <p:nvPr/>
        </p:nvSpPr>
        <p:spPr>
          <a:xfrm rot="10800000" flipV="1">
            <a:off x="5332938" y="1242333"/>
            <a:ext cx="369454" cy="157018"/>
          </a:xfrm>
          <a:prstGeom prst="curved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20" name="Arrow: Curved Down 19">
            <a:extLst>
              <a:ext uri="{FF2B5EF4-FFF2-40B4-BE49-F238E27FC236}">
                <a16:creationId xmlns:a16="http://schemas.microsoft.com/office/drawing/2014/main" id="{2D3E7CCE-07E1-F0E1-8FBE-C01E7E5174CE}"/>
              </a:ext>
            </a:extLst>
          </p:cNvPr>
          <p:cNvSpPr/>
          <p:nvPr/>
        </p:nvSpPr>
        <p:spPr>
          <a:xfrm rot="10800000" flipV="1">
            <a:off x="4941455" y="1250041"/>
            <a:ext cx="369454" cy="157018"/>
          </a:xfrm>
          <a:prstGeom prst="curved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graphicFrame>
        <p:nvGraphicFramePr>
          <p:cNvPr id="21" name="Table 12">
            <a:extLst>
              <a:ext uri="{FF2B5EF4-FFF2-40B4-BE49-F238E27FC236}">
                <a16:creationId xmlns:a16="http://schemas.microsoft.com/office/drawing/2014/main" id="{73169CD0-0247-752A-4B22-FDA697D01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639915"/>
              </p:ext>
            </p:extLst>
          </p:nvPr>
        </p:nvGraphicFramePr>
        <p:xfrm>
          <a:off x="5126182" y="3564871"/>
          <a:ext cx="1385454" cy="11183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1818">
                  <a:extLst>
                    <a:ext uri="{9D8B030D-6E8A-4147-A177-3AD203B41FA5}">
                      <a16:colId xmlns:a16="http://schemas.microsoft.com/office/drawing/2014/main" val="2037392951"/>
                    </a:ext>
                  </a:extLst>
                </a:gridCol>
                <a:gridCol w="461818">
                  <a:extLst>
                    <a:ext uri="{9D8B030D-6E8A-4147-A177-3AD203B41FA5}">
                      <a16:colId xmlns:a16="http://schemas.microsoft.com/office/drawing/2014/main" val="727096597"/>
                    </a:ext>
                  </a:extLst>
                </a:gridCol>
                <a:gridCol w="461818">
                  <a:extLst>
                    <a:ext uri="{9D8B030D-6E8A-4147-A177-3AD203B41FA5}">
                      <a16:colId xmlns:a16="http://schemas.microsoft.com/office/drawing/2014/main" val="623038582"/>
                    </a:ext>
                  </a:extLst>
                </a:gridCol>
              </a:tblGrid>
              <a:tr h="37279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655389"/>
                  </a:ext>
                </a:extLst>
              </a:tr>
              <a:tr h="37279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059905"/>
                  </a:ext>
                </a:extLst>
              </a:tr>
              <a:tr h="37279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569530"/>
                  </a:ext>
                </a:extLst>
              </a:tr>
            </a:tbl>
          </a:graphicData>
        </a:graphic>
      </p:graphicFrame>
      <p:graphicFrame>
        <p:nvGraphicFramePr>
          <p:cNvPr id="22" name="Table 13">
            <a:extLst>
              <a:ext uri="{FF2B5EF4-FFF2-40B4-BE49-F238E27FC236}">
                <a16:creationId xmlns:a16="http://schemas.microsoft.com/office/drawing/2014/main" id="{78F15AE7-E3BD-035D-7588-B7675BEC4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046816"/>
              </p:ext>
            </p:extLst>
          </p:nvPr>
        </p:nvGraphicFramePr>
        <p:xfrm>
          <a:off x="4331855" y="3571797"/>
          <a:ext cx="79432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4327">
                  <a:extLst>
                    <a:ext uri="{9D8B030D-6E8A-4147-A177-3AD203B41FA5}">
                      <a16:colId xmlns:a16="http://schemas.microsoft.com/office/drawing/2014/main" val="2483823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-1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602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-4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772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-5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156459"/>
                  </a:ext>
                </a:extLst>
              </a:tr>
            </a:tbl>
          </a:graphicData>
        </a:graphic>
      </p:graphicFrame>
      <p:sp>
        <p:nvSpPr>
          <p:cNvPr id="24" name="Arrow: Curved Down 23">
            <a:extLst>
              <a:ext uri="{FF2B5EF4-FFF2-40B4-BE49-F238E27FC236}">
                <a16:creationId xmlns:a16="http://schemas.microsoft.com/office/drawing/2014/main" id="{77B723B4-EF35-FEB4-F1F9-AC69E27CD10B}"/>
              </a:ext>
            </a:extLst>
          </p:cNvPr>
          <p:cNvSpPr/>
          <p:nvPr/>
        </p:nvSpPr>
        <p:spPr>
          <a:xfrm rot="10800000" flipV="1">
            <a:off x="4941455" y="3353451"/>
            <a:ext cx="369454" cy="157018"/>
          </a:xfrm>
          <a:prstGeom prst="curved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25" name="&quot;Not Allowed&quot; Symbol 24">
            <a:extLst>
              <a:ext uri="{FF2B5EF4-FFF2-40B4-BE49-F238E27FC236}">
                <a16:creationId xmlns:a16="http://schemas.microsoft.com/office/drawing/2014/main" id="{D7B35A15-32D2-4C3C-FACA-9C644D95E8A3}"/>
              </a:ext>
            </a:extLst>
          </p:cNvPr>
          <p:cNvSpPr/>
          <p:nvPr/>
        </p:nvSpPr>
        <p:spPr>
          <a:xfrm>
            <a:off x="6406482" y="4439985"/>
            <a:ext cx="378691" cy="379096"/>
          </a:xfrm>
          <a:prstGeom prst="noSmoking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graphicFrame>
        <p:nvGraphicFramePr>
          <p:cNvPr id="26" name="Table 12">
            <a:extLst>
              <a:ext uri="{FF2B5EF4-FFF2-40B4-BE49-F238E27FC236}">
                <a16:creationId xmlns:a16="http://schemas.microsoft.com/office/drawing/2014/main" id="{BFD9087F-391B-29AB-004D-4F3DC1FF9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28756"/>
              </p:ext>
            </p:extLst>
          </p:nvPr>
        </p:nvGraphicFramePr>
        <p:xfrm>
          <a:off x="8622145" y="3510470"/>
          <a:ext cx="1385454" cy="11183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1818">
                  <a:extLst>
                    <a:ext uri="{9D8B030D-6E8A-4147-A177-3AD203B41FA5}">
                      <a16:colId xmlns:a16="http://schemas.microsoft.com/office/drawing/2014/main" val="2037392951"/>
                    </a:ext>
                  </a:extLst>
                </a:gridCol>
                <a:gridCol w="461818">
                  <a:extLst>
                    <a:ext uri="{9D8B030D-6E8A-4147-A177-3AD203B41FA5}">
                      <a16:colId xmlns:a16="http://schemas.microsoft.com/office/drawing/2014/main" val="727096597"/>
                    </a:ext>
                  </a:extLst>
                </a:gridCol>
                <a:gridCol w="461818">
                  <a:extLst>
                    <a:ext uri="{9D8B030D-6E8A-4147-A177-3AD203B41FA5}">
                      <a16:colId xmlns:a16="http://schemas.microsoft.com/office/drawing/2014/main" val="623038582"/>
                    </a:ext>
                  </a:extLst>
                </a:gridCol>
              </a:tblGrid>
              <a:tr h="37279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655389"/>
                  </a:ext>
                </a:extLst>
              </a:tr>
              <a:tr h="37279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059905"/>
                  </a:ext>
                </a:extLst>
              </a:tr>
              <a:tr h="37279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569530"/>
                  </a:ext>
                </a:extLst>
              </a:tr>
            </a:tbl>
          </a:graphicData>
        </a:graphic>
      </p:graphicFrame>
      <p:graphicFrame>
        <p:nvGraphicFramePr>
          <p:cNvPr id="27" name="Table 13">
            <a:extLst>
              <a:ext uri="{FF2B5EF4-FFF2-40B4-BE49-F238E27FC236}">
                <a16:creationId xmlns:a16="http://schemas.microsoft.com/office/drawing/2014/main" id="{69B41C38-E007-3FF9-93F1-26F57577E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743074"/>
              </p:ext>
            </p:extLst>
          </p:nvPr>
        </p:nvGraphicFramePr>
        <p:xfrm>
          <a:off x="7827818" y="3517396"/>
          <a:ext cx="79432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4327">
                  <a:extLst>
                    <a:ext uri="{9D8B030D-6E8A-4147-A177-3AD203B41FA5}">
                      <a16:colId xmlns:a16="http://schemas.microsoft.com/office/drawing/2014/main" val="2483823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602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772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156459"/>
                  </a:ext>
                </a:extLst>
              </a:tr>
            </a:tbl>
          </a:graphicData>
        </a:graphic>
      </p:graphicFrame>
      <p:sp>
        <p:nvSpPr>
          <p:cNvPr id="28" name="Arrow: Curved Down 27">
            <a:extLst>
              <a:ext uri="{FF2B5EF4-FFF2-40B4-BE49-F238E27FC236}">
                <a16:creationId xmlns:a16="http://schemas.microsoft.com/office/drawing/2014/main" id="{4FEF6460-3EC8-A3C9-E3F7-9332280E8B31}"/>
              </a:ext>
            </a:extLst>
          </p:cNvPr>
          <p:cNvSpPr/>
          <p:nvPr/>
        </p:nvSpPr>
        <p:spPr>
          <a:xfrm rot="10800000" flipV="1">
            <a:off x="9314872" y="3263397"/>
            <a:ext cx="369454" cy="157018"/>
          </a:xfrm>
          <a:prstGeom prst="curved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29" name="&quot;Not Allowed&quot; Symbol 28">
            <a:extLst>
              <a:ext uri="{FF2B5EF4-FFF2-40B4-BE49-F238E27FC236}">
                <a16:creationId xmlns:a16="http://schemas.microsoft.com/office/drawing/2014/main" id="{1DB5239C-4D7D-A8D8-10AA-63C904F92871}"/>
              </a:ext>
            </a:extLst>
          </p:cNvPr>
          <p:cNvSpPr/>
          <p:nvPr/>
        </p:nvSpPr>
        <p:spPr>
          <a:xfrm>
            <a:off x="9845806" y="4439292"/>
            <a:ext cx="378691" cy="379096"/>
          </a:xfrm>
          <a:prstGeom prst="noSmoking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30" name="Arrow: Curved Down 29">
            <a:extLst>
              <a:ext uri="{FF2B5EF4-FFF2-40B4-BE49-F238E27FC236}">
                <a16:creationId xmlns:a16="http://schemas.microsoft.com/office/drawing/2014/main" id="{135D2506-BB07-FB59-3503-DCC5BA91877B}"/>
              </a:ext>
            </a:extLst>
          </p:cNvPr>
          <p:cNvSpPr/>
          <p:nvPr/>
        </p:nvSpPr>
        <p:spPr>
          <a:xfrm rot="10800000" flipV="1">
            <a:off x="8802253" y="3271982"/>
            <a:ext cx="369454" cy="157018"/>
          </a:xfrm>
          <a:prstGeom prst="curved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61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5A2944-567D-4F78-883D-982EB53C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Real Number Representation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F01C90-B9DD-4F10-B08E-F91066CE7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7487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17D55-CD2F-4D6A-B814-0315B857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IEEE 754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11164-2C00-46DE-8115-A060F7AF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32 bit  single precision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r>
              <a:rPr lang="en-SG" dirty="0"/>
              <a:t>64 bit double precision</a:t>
            </a:r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8A4C6C-27C1-4349-B125-96C46C6A9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707" y="2337377"/>
            <a:ext cx="9134475" cy="133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A7B77B-0D63-4994-9A03-E122B1F5A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707" y="4368800"/>
            <a:ext cx="8991600" cy="194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9E1D94-35EF-4B43-B6CC-8DB863D4E648}"/>
              </a:ext>
            </a:extLst>
          </p:cNvPr>
          <p:cNvSpPr txBox="1"/>
          <p:nvPr/>
        </p:nvSpPr>
        <p:spPr>
          <a:xfrm>
            <a:off x="4793672" y="2366531"/>
            <a:ext cx="1080656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SG" dirty="0"/>
              <a:t>significand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72252E-31F4-44E3-A406-5F2A3AF4A24E}"/>
              </a:ext>
            </a:extLst>
          </p:cNvPr>
          <p:cNvSpPr txBox="1"/>
          <p:nvPr/>
        </p:nvSpPr>
        <p:spPr>
          <a:xfrm>
            <a:off x="5952836" y="4368800"/>
            <a:ext cx="1080656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SG" dirty="0"/>
              <a:t>significand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56CBE2-1F8A-9182-B290-79F292DD6DD9}"/>
              </a:ext>
            </a:extLst>
          </p:cNvPr>
          <p:cNvSpPr txBox="1"/>
          <p:nvPr/>
        </p:nvSpPr>
        <p:spPr>
          <a:xfrm>
            <a:off x="4716379" y="2263678"/>
            <a:ext cx="1187116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SG" dirty="0"/>
              <a:t>mantissa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9591D9-23D3-C2D5-08F1-303A4B531E5E}"/>
              </a:ext>
            </a:extLst>
          </p:cNvPr>
          <p:cNvSpPr txBox="1"/>
          <p:nvPr/>
        </p:nvSpPr>
        <p:spPr>
          <a:xfrm>
            <a:off x="5874328" y="4276467"/>
            <a:ext cx="1187116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SG" dirty="0"/>
              <a:t>mantissa</a:t>
            </a:r>
          </a:p>
        </p:txBody>
      </p:sp>
    </p:spTree>
    <p:extLst>
      <p:ext uri="{BB962C8B-B14F-4D97-AF65-F5344CB8AC3E}">
        <p14:creationId xmlns:p14="http://schemas.microsoft.com/office/powerpoint/2010/main" val="732778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6A1748-C8F9-4677-A1A3-681B29CC1CAC}"/>
              </a:ext>
            </a:extLst>
          </p:cNvPr>
          <p:cNvSpPr/>
          <p:nvPr/>
        </p:nvSpPr>
        <p:spPr>
          <a:xfrm>
            <a:off x="2479966" y="4276836"/>
            <a:ext cx="655782" cy="36576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7BFBB1-E9D5-49D1-8B59-E5FFB6623B94}"/>
              </a:ext>
            </a:extLst>
          </p:cNvPr>
          <p:cNvSpPr txBox="1"/>
          <p:nvPr/>
        </p:nvSpPr>
        <p:spPr>
          <a:xfrm>
            <a:off x="5454135" y="905075"/>
            <a:ext cx="1928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Denary </a:t>
            </a:r>
          </a:p>
          <a:p>
            <a:r>
              <a:rPr lang="en-SG" dirty="0"/>
              <a:t>EXPONENT RANGE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Arrow: Left 10">
                <a:extLst>
                  <a:ext uri="{FF2B5EF4-FFF2-40B4-BE49-F238E27FC236}">
                    <a16:creationId xmlns:a16="http://schemas.microsoft.com/office/drawing/2014/main" id="{5109B6F8-E599-4BD1-BC99-C8A8D5B6E365}"/>
                  </a:ext>
                </a:extLst>
              </p:cNvPr>
              <p:cNvSpPr/>
              <p:nvPr/>
            </p:nvSpPr>
            <p:spPr>
              <a:xfrm>
                <a:off x="3238091" y="2032353"/>
                <a:ext cx="2623130" cy="1043709"/>
              </a:xfrm>
              <a:prstGeom prst="leftArrow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SG" dirty="0"/>
                  <a:t>TO IEEE 754 Exponent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1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SG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1" i="1" smtClean="0">
                              <a:latin typeface="Cambria Math" panose="02040503050406030204" pitchFamily="18" charset="0"/>
                            </a:rPr>
                            <m:t>𝟏𝟐𝟕</m:t>
                          </m:r>
                        </m:e>
                        <m:sub>
                          <m:r>
                            <a:rPr lang="en-SG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 xmlns="">
          <p:sp>
            <p:nvSpPr>
              <p:cNvPr id="11" name="Arrow: Left 10">
                <a:extLst>
                  <a:ext uri="{FF2B5EF4-FFF2-40B4-BE49-F238E27FC236}">
                    <a16:creationId xmlns:a16="http://schemas.microsoft.com/office/drawing/2014/main" id="{5109B6F8-E599-4BD1-BC99-C8A8D5B6E3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091" y="2032353"/>
                <a:ext cx="2623130" cy="1043709"/>
              </a:xfrm>
              <a:prstGeom prst="leftArrow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Arrow: Right 11">
                <a:extLst>
                  <a:ext uri="{FF2B5EF4-FFF2-40B4-BE49-F238E27FC236}">
                    <a16:creationId xmlns:a16="http://schemas.microsoft.com/office/drawing/2014/main" id="{C474C4B0-1822-4336-B50D-365CA7E8D2F6}"/>
                  </a:ext>
                </a:extLst>
              </p:cNvPr>
              <p:cNvSpPr/>
              <p:nvPr/>
            </p:nvSpPr>
            <p:spPr>
              <a:xfrm>
                <a:off x="3345117" y="3260084"/>
                <a:ext cx="2623131" cy="1043709"/>
              </a:xfrm>
              <a:prstGeom prst="rightArrow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SG" dirty="0"/>
                  <a:t>To Denary Exponent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SG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1" i="1" smtClean="0">
                              <a:latin typeface="Cambria Math" panose="02040503050406030204" pitchFamily="18" charset="0"/>
                            </a:rPr>
                            <m:t>𝟏𝟐𝟕</m:t>
                          </m:r>
                        </m:e>
                        <m:sub>
                          <m:r>
                            <a:rPr lang="en-SG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 xmlns="">
          <p:sp>
            <p:nvSpPr>
              <p:cNvPr id="12" name="Arrow: Right 11">
                <a:extLst>
                  <a:ext uri="{FF2B5EF4-FFF2-40B4-BE49-F238E27FC236}">
                    <a16:creationId xmlns:a16="http://schemas.microsoft.com/office/drawing/2014/main" id="{C474C4B0-1822-4336-B50D-365CA7E8D2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117" y="3260084"/>
                <a:ext cx="2623131" cy="1043709"/>
              </a:xfrm>
              <a:prstGeom prst="rightArrow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7E1A8D7-FB61-42ED-A112-6EC54725C01E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2807857" y="1977201"/>
            <a:ext cx="20021" cy="22996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54AED51-AF02-4758-BC1A-B31FFAF3D506}"/>
              </a:ext>
            </a:extLst>
          </p:cNvPr>
          <p:cNvSpPr txBox="1"/>
          <p:nvPr/>
        </p:nvSpPr>
        <p:spPr>
          <a:xfrm>
            <a:off x="812800" y="227730"/>
            <a:ext cx="10411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dirty="0"/>
              <a:t>Exponent Bias: mapping a range of signed integers to unsigned integer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9C4B1A-A3C0-038B-1AA2-F346E94D0EA7}"/>
              </a:ext>
            </a:extLst>
          </p:cNvPr>
          <p:cNvSpPr/>
          <p:nvPr/>
        </p:nvSpPr>
        <p:spPr>
          <a:xfrm>
            <a:off x="2572327" y="1560485"/>
            <a:ext cx="563421" cy="36576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255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9752C-A224-D659-6E5B-EA9426C2AF91}"/>
              </a:ext>
            </a:extLst>
          </p:cNvPr>
          <p:cNvSpPr/>
          <p:nvPr/>
        </p:nvSpPr>
        <p:spPr>
          <a:xfrm>
            <a:off x="6002096" y="4275050"/>
            <a:ext cx="655782" cy="36576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-127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001B0B-907B-4178-50DD-FF42E8DA6241}"/>
              </a:ext>
            </a:extLst>
          </p:cNvPr>
          <p:cNvSpPr/>
          <p:nvPr/>
        </p:nvSpPr>
        <p:spPr>
          <a:xfrm>
            <a:off x="6050569" y="1560485"/>
            <a:ext cx="655782" cy="36576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128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A644209-BA23-A492-D010-BCB2EF889FB2}"/>
              </a:ext>
            </a:extLst>
          </p:cNvPr>
          <p:cNvCxnSpPr>
            <a:cxnSpLocks/>
          </p:cNvCxnSpPr>
          <p:nvPr/>
        </p:nvCxnSpPr>
        <p:spPr>
          <a:xfrm flipH="1">
            <a:off x="6378460" y="1926245"/>
            <a:ext cx="20021" cy="22996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2E2A238-9357-1285-A920-20FDBA792AC6}"/>
              </a:ext>
            </a:extLst>
          </p:cNvPr>
          <p:cNvSpPr txBox="1"/>
          <p:nvPr/>
        </p:nvSpPr>
        <p:spPr>
          <a:xfrm>
            <a:off x="946687" y="965110"/>
            <a:ext cx="38146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IEEE 754 32 BIT</a:t>
            </a:r>
          </a:p>
          <a:p>
            <a:r>
              <a:rPr lang="en-SG" dirty="0"/>
              <a:t>EXPONENT RANGE with 8 bit exponent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B55769-EA82-6B6A-BBA3-B5254F895638}"/>
              </a:ext>
            </a:extLst>
          </p:cNvPr>
          <p:cNvSpPr txBox="1"/>
          <p:nvPr/>
        </p:nvSpPr>
        <p:spPr>
          <a:xfrm>
            <a:off x="812800" y="5610518"/>
            <a:ext cx="10647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* in actual implementation 255 (11111111</a:t>
            </a:r>
            <a:r>
              <a:rPr lang="en-SG" baseline="-25000" dirty="0"/>
              <a:t>2</a:t>
            </a:r>
            <a:r>
              <a:rPr lang="en-SG" dirty="0"/>
              <a:t>) is used to represent infinity, so denary range is actually -127 to 127 </a:t>
            </a:r>
          </a:p>
        </p:txBody>
      </p:sp>
    </p:spTree>
    <p:extLst>
      <p:ext uri="{BB962C8B-B14F-4D97-AF65-F5344CB8AC3E}">
        <p14:creationId xmlns:p14="http://schemas.microsoft.com/office/powerpoint/2010/main" val="803042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F09B3-B5C4-4C5F-AB8E-ED9072CB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882" y="106508"/>
            <a:ext cx="9221354" cy="419965"/>
          </a:xfrm>
        </p:spPr>
        <p:txBody>
          <a:bodyPr>
            <a:normAutofit fontScale="90000"/>
          </a:bodyPr>
          <a:lstStyle/>
          <a:p>
            <a:r>
              <a:rPr lang="en-SG" dirty="0"/>
              <a:t>Convert Decimal to IEEE 754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29BE4-B8A9-41D8-A18E-EB9404806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882" y="716971"/>
            <a:ext cx="11058236" cy="603452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Convert 8.625 to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Convert the integer part and the fractional part separately, such that 8.625 = 8 + 0.625.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integer part can be directly converted to binary using base conversion: 8</a:t>
            </a:r>
            <a:r>
              <a:rPr lang="en-US" baseline="-25000" dirty="0"/>
              <a:t>10</a:t>
            </a:r>
            <a:r>
              <a:rPr lang="en-US" dirty="0"/>
              <a:t> = 1000</a:t>
            </a:r>
            <a:r>
              <a:rPr lang="en-US" baseline="-25000" dirty="0"/>
              <a:t>2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Convert the fractional part as follows:</a:t>
            </a:r>
            <a:endParaRPr lang="en-US" dirty="0">
              <a:solidFill>
                <a:srgbClr val="FFFFFF"/>
              </a:solidFill>
              <a:latin typeface="-apple-system"/>
            </a:endParaRP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multiply the fraction by 2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take the integer part, as the binary digit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repeat step </a:t>
            </a:r>
            <a:r>
              <a:rPr lang="en-US" dirty="0" err="1"/>
              <a:t>i</a:t>
            </a:r>
            <a:r>
              <a:rPr lang="en-US" dirty="0"/>
              <a:t>) but without the integer part, until the fraction is zero or 23 fraction digits have been found</a:t>
            </a:r>
          </a:p>
          <a:p>
            <a:pPr marL="914400" lvl="2" indent="0">
              <a:buNone/>
            </a:pPr>
            <a:r>
              <a:rPr lang="en-US" dirty="0"/>
              <a:t>Example:</a:t>
            </a:r>
          </a:p>
          <a:p>
            <a:pPr marL="914400" lvl="2" indent="0">
              <a:buNone/>
            </a:pPr>
            <a:r>
              <a:rPr lang="en-US" dirty="0"/>
              <a:t>0.625 × 2 = 1.25 (1) leftmost binary digit after the </a:t>
            </a:r>
            <a:r>
              <a:rPr lang="en-US" dirty="0" err="1"/>
              <a:t>bicimal</a:t>
            </a:r>
            <a:r>
              <a:rPr lang="en-US" dirty="0"/>
              <a:t> point</a:t>
            </a:r>
          </a:p>
          <a:p>
            <a:pPr marL="914400" lvl="2" indent="0">
              <a:buNone/>
            </a:pPr>
            <a:r>
              <a:rPr lang="en-US" dirty="0"/>
              <a:t>0.25  × 2 = 0.5  (0)</a:t>
            </a:r>
          </a:p>
          <a:p>
            <a:pPr marL="914400" lvl="2" indent="0">
              <a:buNone/>
            </a:pPr>
            <a:r>
              <a:rPr lang="en-US" dirty="0"/>
              <a:t>0.5   × 2 = 1.0  (1)</a:t>
            </a:r>
          </a:p>
          <a:p>
            <a:pPr marL="914400" lvl="2" indent="0">
              <a:buNone/>
            </a:pPr>
            <a:r>
              <a:rPr lang="en-US" dirty="0"/>
              <a:t>Since the fractional part of 1.0 is 0, the process is terminated, and we reach a value of 101. Hence, 0.625</a:t>
            </a:r>
            <a:r>
              <a:rPr lang="en-US" baseline="-25000" dirty="0"/>
              <a:t>10</a:t>
            </a:r>
            <a:r>
              <a:rPr lang="en-US" dirty="0"/>
              <a:t> = 0.101</a:t>
            </a:r>
            <a:r>
              <a:rPr lang="en-US" baseline="-25000" dirty="0"/>
              <a:t>2</a:t>
            </a:r>
            <a:r>
              <a:rPr lang="en-US" dirty="0"/>
              <a:t>.</a:t>
            </a:r>
          </a:p>
          <a:p>
            <a:pPr marL="914400" lvl="2" indent="0">
              <a:buNone/>
            </a:pPr>
            <a:r>
              <a:rPr lang="en-US" dirty="0"/>
              <a:t>Summing the two parts, 8.62510 = 1000</a:t>
            </a:r>
            <a:r>
              <a:rPr lang="en-US" baseline="-25000" dirty="0"/>
              <a:t>2</a:t>
            </a:r>
            <a:r>
              <a:rPr lang="en-US" dirty="0"/>
              <a:t> + 0.101</a:t>
            </a:r>
            <a:r>
              <a:rPr lang="en-US" baseline="-25000" dirty="0"/>
              <a:t>2</a:t>
            </a:r>
            <a:r>
              <a:rPr lang="en-US" dirty="0"/>
              <a:t> = 1000.101</a:t>
            </a:r>
            <a:r>
              <a:rPr lang="en-US" baseline="-25000" dirty="0"/>
              <a:t>2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Normalise the sum such that the only integer before the binary point is 1. </a:t>
            </a:r>
          </a:p>
          <a:p>
            <a:pPr marL="0" indent="0">
              <a:buNone/>
            </a:pPr>
            <a:r>
              <a:rPr lang="en-US" dirty="0"/>
              <a:t>	Normalising 111.101</a:t>
            </a:r>
            <a:r>
              <a:rPr lang="en-US" baseline="-25000" dirty="0"/>
              <a:t>2</a:t>
            </a:r>
            <a:r>
              <a:rPr lang="en-US" dirty="0"/>
              <a:t>, we get </a:t>
            </a:r>
            <a:r>
              <a:rPr lang="en-US" dirty="0">
                <a:solidFill>
                  <a:srgbClr val="FF0000"/>
                </a:solidFill>
              </a:rPr>
              <a:t>1.000101</a:t>
            </a:r>
            <a:r>
              <a:rPr lang="en-US" dirty="0"/>
              <a:t> × 2</a:t>
            </a:r>
            <a:r>
              <a:rPr lang="en-US" baseline="30000" dirty="0">
                <a:solidFill>
                  <a:srgbClr val="002060"/>
                </a:solidFill>
              </a:rPr>
              <a:t>3</a:t>
            </a:r>
            <a:r>
              <a:rPr lang="en-US" dirty="0"/>
              <a:t>. [</a:t>
            </a:r>
            <a:r>
              <a:rPr lang="en-US" dirty="0">
                <a:solidFill>
                  <a:srgbClr val="FF0000"/>
                </a:solidFill>
              </a:rPr>
              <a:t>mantissa </a:t>
            </a:r>
            <a:r>
              <a:rPr lang="en-US" dirty="0"/>
              <a:t>× 2 </a:t>
            </a:r>
            <a:r>
              <a:rPr lang="en-US" baseline="30000" dirty="0">
                <a:solidFill>
                  <a:srgbClr val="002060"/>
                </a:solidFill>
              </a:rPr>
              <a:t>exponent.</a:t>
            </a:r>
            <a:r>
              <a:rPr lang="en-US" dirty="0">
                <a:solidFill>
                  <a:srgbClr val="002060"/>
                </a:solidFill>
              </a:rPr>
              <a:t>]</a:t>
            </a:r>
            <a:endParaRPr lang="en-US" baseline="30000" dirty="0">
              <a:solidFill>
                <a:srgbClr val="00206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Sign bit = 0, since 8.625 is a positive number</a:t>
            </a:r>
          </a:p>
          <a:p>
            <a:pPr marL="457200" lvl="1" indent="0">
              <a:buNone/>
            </a:pPr>
            <a:r>
              <a:rPr lang="en-US" dirty="0"/>
              <a:t>Biased exponent = 3 + 127 = 130 = </a:t>
            </a:r>
            <a:r>
              <a:rPr lang="en-US" dirty="0">
                <a:solidFill>
                  <a:schemeClr val="accent1"/>
                </a:solidFill>
              </a:rPr>
              <a:t>10000010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</a:p>
          <a:p>
            <a:pPr marL="457200" lvl="1" indent="0">
              <a:buNone/>
            </a:pPr>
            <a:r>
              <a:rPr lang="en-US" dirty="0"/>
              <a:t>Dropping the 1, fractional part of mantissa= </a:t>
            </a:r>
            <a:r>
              <a:rPr lang="en-US" dirty="0">
                <a:solidFill>
                  <a:srgbClr val="FF0000"/>
                </a:solidFill>
              </a:rPr>
              <a:t>000101</a:t>
            </a:r>
            <a:r>
              <a:rPr lang="en-US" baseline="-25000" dirty="0">
                <a:solidFill>
                  <a:srgbClr val="FF0000"/>
                </a:solidFill>
              </a:rPr>
              <a:t>2, 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0 </a:t>
            </a:r>
            <a:r>
              <a:rPr lang="en-US" dirty="0">
                <a:solidFill>
                  <a:srgbClr val="002060"/>
                </a:solidFill>
              </a:rPr>
              <a:t>1000001 0</a:t>
            </a:r>
            <a:r>
              <a:rPr lang="en-US" dirty="0">
                <a:solidFill>
                  <a:srgbClr val="FF0000"/>
                </a:solidFill>
              </a:rPr>
              <a:t>0001010 00000000 00000000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96D543D-4982-4055-9C50-BFCBD63C5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892216"/>
              </p:ext>
            </p:extLst>
          </p:nvPr>
        </p:nvGraphicFramePr>
        <p:xfrm>
          <a:off x="2780145" y="604673"/>
          <a:ext cx="3639128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599">
                  <a:extLst>
                    <a:ext uri="{9D8B030D-6E8A-4147-A177-3AD203B41FA5}">
                      <a16:colId xmlns:a16="http://schemas.microsoft.com/office/drawing/2014/main" val="4030315813"/>
                    </a:ext>
                  </a:extLst>
                </a:gridCol>
                <a:gridCol w="1091739">
                  <a:extLst>
                    <a:ext uri="{9D8B030D-6E8A-4147-A177-3AD203B41FA5}">
                      <a16:colId xmlns:a16="http://schemas.microsoft.com/office/drawing/2014/main" val="3252328110"/>
                    </a:ext>
                  </a:extLst>
                </a:gridCol>
                <a:gridCol w="1972790">
                  <a:extLst>
                    <a:ext uri="{9D8B030D-6E8A-4147-A177-3AD203B41FA5}">
                      <a16:colId xmlns:a16="http://schemas.microsoft.com/office/drawing/2014/main" val="1297571563"/>
                    </a:ext>
                  </a:extLst>
                </a:gridCol>
              </a:tblGrid>
              <a:tr h="272781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exponent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mantissa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160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581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1948</TotalTime>
  <Words>1094</Words>
  <Application>Microsoft Office PowerPoint</Application>
  <PresentationFormat>Widescreen</PresentationFormat>
  <Paragraphs>278</Paragraphs>
  <Slides>15</Slides>
  <Notes>0</Notes>
  <HiddenSlides>7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-apple-system</vt:lpstr>
      <vt:lpstr>Arial Unicode MS</vt:lpstr>
      <vt:lpstr>Google Sans</vt:lpstr>
      <vt:lpstr>Arial</vt:lpstr>
      <vt:lpstr>Arial</vt:lpstr>
      <vt:lpstr>Calibri</vt:lpstr>
      <vt:lpstr>Calibri Light</vt:lpstr>
      <vt:lpstr>Cambria Math</vt:lpstr>
      <vt:lpstr>Courier New</vt:lpstr>
      <vt:lpstr>Latha</vt:lpstr>
      <vt:lpstr>Merriweather</vt:lpstr>
      <vt:lpstr>Roboto</vt:lpstr>
      <vt:lpstr>Segoe UI Emoji</vt:lpstr>
      <vt:lpstr>Office Theme</vt:lpstr>
      <vt:lpstr>Data Representation</vt:lpstr>
      <vt:lpstr>Encoding and Decoding</vt:lpstr>
      <vt:lpstr>Unicode</vt:lpstr>
      <vt:lpstr>PowerPoint Presentation</vt:lpstr>
      <vt:lpstr>Python Code Points</vt:lpstr>
      <vt:lpstr>Encoding a Code Point</vt:lpstr>
      <vt:lpstr>PowerPoint Presentation</vt:lpstr>
      <vt:lpstr>UTF-8 vs UTF-16 vs UTF-32</vt:lpstr>
      <vt:lpstr>Integer Representation</vt:lpstr>
      <vt:lpstr>PowerPoint Presentation</vt:lpstr>
      <vt:lpstr>PowerPoint Presentation</vt:lpstr>
      <vt:lpstr>Real Number Representation</vt:lpstr>
      <vt:lpstr>IEEE 754</vt:lpstr>
      <vt:lpstr>PowerPoint Presentation</vt:lpstr>
      <vt:lpstr>Convert Decimal to IEEE 754 representation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khar woh leong</dc:creator>
  <cp:lastModifiedBy>khar woh leong</cp:lastModifiedBy>
  <cp:revision>60</cp:revision>
  <dcterms:created xsi:type="dcterms:W3CDTF">2018-11-30T07:57:54Z</dcterms:created>
  <dcterms:modified xsi:type="dcterms:W3CDTF">2025-03-07T03:29:08Z</dcterms:modified>
</cp:coreProperties>
</file>