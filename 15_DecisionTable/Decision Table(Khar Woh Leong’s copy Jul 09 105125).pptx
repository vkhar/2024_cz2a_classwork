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5" r:id="rId2"/>
    <p:sldId id="257" r:id="rId3"/>
    <p:sldId id="263" r:id="rId4"/>
    <p:sldId id="260" r:id="rId5"/>
    <p:sldId id="256" r:id="rId6"/>
    <p:sldId id="258" r:id="rId7"/>
    <p:sldId id="259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317" autoAdjust="0"/>
    <p:restoredTop sz="94758" autoAdjust="0"/>
  </p:normalViewPr>
  <p:slideViewPr>
    <p:cSldViewPr snapToGrid="0">
      <p:cViewPr>
        <p:scale>
          <a:sx n="70" d="100"/>
          <a:sy n="70" d="100"/>
        </p:scale>
        <p:origin x="2136" y="2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155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17216-2875-4BC9-A124-DE4DEFC6FB7B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C3FFB-4556-4F36-A54C-D16C4076511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887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C3FFB-4556-4F36-A54C-D16C40765114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567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6893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213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649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463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092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025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542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924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012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0932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D848E-5E26-4369-80FD-26C3361BBF9C}" type="datetimeFigureOut">
              <a:rPr lang="en-SG" smtClean="0"/>
              <a:t>9/7/2025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C5C8F-2BD6-4FA8-8417-64C0A7DFD11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9821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3ED49-1F56-9D20-1D30-D0EDF6274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3758" y="2571580"/>
            <a:ext cx="3886200" cy="3403600"/>
          </a:xfrm>
        </p:spPr>
        <p:txBody>
          <a:bodyPr/>
          <a:lstStyle/>
          <a:p>
            <a:r>
              <a:rPr lang="en-US" sz="2400" dirty="0"/>
              <a:t>But Real-world problems are often </a:t>
            </a:r>
          </a:p>
          <a:p>
            <a:pPr lvl="1"/>
            <a:r>
              <a:rPr lang="en-US" sz="2000" dirty="0"/>
              <a:t>complex, ambiguous, or incomplete.</a:t>
            </a:r>
          </a:p>
          <a:p>
            <a:pPr lvl="1"/>
            <a:r>
              <a:rPr lang="en-US" sz="2000" dirty="0"/>
              <a:t>Natural language requirements can be vague or contradictory.</a:t>
            </a:r>
          </a:p>
          <a:p>
            <a:pPr lvl="1"/>
            <a:r>
              <a:rPr lang="en-US" sz="2000" dirty="0"/>
              <a:t>Hidden or implicit conditions can lead to missed scenarios.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AB94C-F55E-E6D4-FF8A-F7E5183CF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2425700"/>
            <a:ext cx="4391025" cy="4351338"/>
          </a:xfrm>
        </p:spPr>
        <p:txBody>
          <a:bodyPr/>
          <a:lstStyle/>
          <a:p>
            <a:r>
              <a:rPr lang="en-US" sz="2400" dirty="0"/>
              <a:t>A Decision Table is a tool that helps to:</a:t>
            </a:r>
          </a:p>
          <a:p>
            <a:pPr lvl="1"/>
            <a:r>
              <a:rPr lang="en-US" sz="2000" dirty="0"/>
              <a:t>Clarifies complex logic: Breaks down multiple conditions and actions systematically.</a:t>
            </a:r>
          </a:p>
          <a:p>
            <a:pPr lvl="1"/>
            <a:r>
              <a:rPr lang="en-US" sz="2000" dirty="0"/>
              <a:t>Ensures completeness: Identifies all possible combinations of conditions</a:t>
            </a:r>
          </a:p>
          <a:p>
            <a:pPr lvl="1"/>
            <a:r>
              <a:rPr lang="en-US" sz="2000" dirty="0"/>
              <a:t>Avoids ambiguity: Provides an unambiguous, visual representation of decision rules.</a:t>
            </a:r>
          </a:p>
          <a:p>
            <a:endParaRPr lang="en-SG" dirty="0"/>
          </a:p>
        </p:txBody>
      </p:sp>
      <p:sp>
        <p:nvSpPr>
          <p:cNvPr id="5" name="Google Shape;278;p5">
            <a:extLst>
              <a:ext uri="{FF2B5EF4-FFF2-40B4-BE49-F238E27FC236}">
                <a16:creationId xmlns:a16="http://schemas.microsoft.com/office/drawing/2014/main" id="{8B0D94BC-CA47-05F1-8020-AD836FA95826}"/>
              </a:ext>
            </a:extLst>
          </p:cNvPr>
          <p:cNvSpPr/>
          <p:nvPr/>
        </p:nvSpPr>
        <p:spPr>
          <a:xfrm>
            <a:off x="243758" y="882820"/>
            <a:ext cx="2222636" cy="1120438"/>
          </a:xfrm>
          <a:prstGeom prst="flowChartTerminator">
            <a:avLst/>
          </a:prstGeom>
          <a:solidFill>
            <a:schemeClr val="dk1"/>
          </a:solidFill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lang="en-SG"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82;p5">
            <a:extLst>
              <a:ext uri="{FF2B5EF4-FFF2-40B4-BE49-F238E27FC236}">
                <a16:creationId xmlns:a16="http://schemas.microsoft.com/office/drawing/2014/main" id="{5CCFB8BD-834C-C273-D9DB-24EE7A7F69D7}"/>
              </a:ext>
            </a:extLst>
          </p:cNvPr>
          <p:cNvSpPr/>
          <p:nvPr/>
        </p:nvSpPr>
        <p:spPr>
          <a:xfrm>
            <a:off x="6422528" y="1112161"/>
            <a:ext cx="2277581" cy="661754"/>
          </a:xfrm>
          <a:prstGeom prst="flowChartTerminator">
            <a:avLst/>
          </a:prstGeom>
          <a:solidFill>
            <a:schemeClr val="dk1"/>
          </a:solidFill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lang="en-SG"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COMPUTER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94;p6">
            <a:extLst>
              <a:ext uri="{FF2B5EF4-FFF2-40B4-BE49-F238E27FC236}">
                <a16:creationId xmlns:a16="http://schemas.microsoft.com/office/drawing/2014/main" id="{0CFAEFB8-AF5C-D0EF-814A-AFC3DAA2014C}"/>
              </a:ext>
            </a:extLst>
          </p:cNvPr>
          <p:cNvSpPr/>
          <p:nvPr/>
        </p:nvSpPr>
        <p:spPr>
          <a:xfrm>
            <a:off x="2789954" y="828820"/>
            <a:ext cx="3449791" cy="1228437"/>
          </a:xfrm>
          <a:prstGeom prst="flowChartProcess">
            <a:avLst/>
          </a:prstGeom>
          <a:solidFill>
            <a:schemeClr val="dk1"/>
          </a:solidFill>
          <a:ln w="158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lang="en-SG"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the Problem: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wentieth Century"/>
              <a:buNone/>
            </a:pPr>
            <a:r>
              <a:rPr lang="en-SG" sz="1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Representation of the Problem that can be solved Algorithmically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itle 14">
            <a:extLst>
              <a:ext uri="{FF2B5EF4-FFF2-40B4-BE49-F238E27FC236}">
                <a16:creationId xmlns:a16="http://schemas.microsoft.com/office/drawing/2014/main" id="{793BA281-751F-B878-8760-D97BB98A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3" y="133322"/>
            <a:ext cx="6842842" cy="529745"/>
          </a:xfrm>
        </p:spPr>
        <p:txBody>
          <a:bodyPr>
            <a:normAutofit/>
          </a:bodyPr>
          <a:lstStyle/>
          <a:p>
            <a:r>
              <a:rPr lang="en-US" sz="2800" dirty="0"/>
              <a:t>Why Decision Table ?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5907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BDA7-56A7-46F3-B9C2-C156B651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A07C-7AFD-4F11-82B8-08C445870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Consider an online company that charges $5 for delivery of packages. </a:t>
            </a:r>
          </a:p>
          <a:p>
            <a:r>
              <a:rPr lang="en-SG" dirty="0"/>
              <a:t>If the order value is over $50 and the package is small and the customer has a promotion code, the delivery is free. </a:t>
            </a:r>
          </a:p>
          <a:p>
            <a:r>
              <a:rPr lang="en-SG" dirty="0"/>
              <a:t>If the order is over $50 and the package is small, the delivery charge is $1. </a:t>
            </a:r>
          </a:p>
          <a:p>
            <a:r>
              <a:rPr lang="en-SG" dirty="0"/>
              <a:t>if the order value is over $50 and the customer has a promotion code, the delivery charge is $1.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2588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992919"/>
              </p:ext>
            </p:extLst>
          </p:nvPr>
        </p:nvGraphicFramePr>
        <p:xfrm>
          <a:off x="865239" y="1504334"/>
          <a:ext cx="7561005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51946964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94926869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3654165929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/>
                          <a:ea typeface="Arial" panose="020B0604020202020204" pitchFamily="34" charset="0"/>
                          <a:cs typeface="Latha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/>
                          <a:ea typeface="Arial" panose="020B0604020202020204" pitchFamily="34" charset="0"/>
                          <a:cs typeface="Latha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/>
                          <a:ea typeface="Arial" panose="020B0604020202020204" pitchFamily="34" charset="0"/>
                          <a:cs typeface="Latha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/>
                          <a:ea typeface="Arial" panose="020B0604020202020204" pitchFamily="34" charset="0"/>
                          <a:cs typeface="Latha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/>
                          <a:ea typeface="Arial" panose="020B0604020202020204" pitchFamily="34" charset="0"/>
                          <a:cs typeface="Latha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/>
                          <a:ea typeface="Arial" panose="020B0604020202020204" pitchFamily="34" charset="0"/>
                          <a:cs typeface="Latha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SG" sz="1600" dirty="0">
                        <a:effectLst/>
                        <a:latin typeface="Arial"/>
                        <a:ea typeface="Arial" panose="020B0604020202020204" pitchFamily="34" charset="0"/>
                        <a:cs typeface="Latha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61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53988"/>
              </p:ext>
            </p:extLst>
          </p:nvPr>
        </p:nvGraphicFramePr>
        <p:xfrm>
          <a:off x="865239" y="1504334"/>
          <a:ext cx="7561005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51946964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94926869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3654165929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59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104569"/>
              </p:ext>
            </p:extLst>
          </p:nvPr>
        </p:nvGraphicFramePr>
        <p:xfrm>
          <a:off x="865239" y="1504334"/>
          <a:ext cx="7561005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051946964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94926869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3654165929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18072B3-B2D0-42F6-953A-F4FE6A7C86DA}"/>
              </a:ext>
            </a:extLst>
          </p:cNvPr>
          <p:cNvSpPr/>
          <p:nvPr/>
        </p:nvSpPr>
        <p:spPr>
          <a:xfrm>
            <a:off x="6489290" y="1504334"/>
            <a:ext cx="993058" cy="3677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958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651663"/>
              </p:ext>
            </p:extLst>
          </p:nvPr>
        </p:nvGraphicFramePr>
        <p:xfrm>
          <a:off x="865239" y="1504334"/>
          <a:ext cx="7084223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94926869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3654165929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-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8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/>
        </p:nvGraphicFramePr>
        <p:xfrm>
          <a:off x="865239" y="1504334"/>
          <a:ext cx="7084223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94926869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3654165929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-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A7F66FF-C7C5-4275-952F-6A3D7AD10619}"/>
              </a:ext>
            </a:extLst>
          </p:cNvPr>
          <p:cNvSpPr/>
          <p:nvPr/>
        </p:nvSpPr>
        <p:spPr>
          <a:xfrm>
            <a:off x="7010400" y="1504334"/>
            <a:ext cx="939062" cy="3677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1690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56194"/>
              </p:ext>
            </p:extLst>
          </p:nvPr>
        </p:nvGraphicFramePr>
        <p:xfrm>
          <a:off x="865239" y="1504334"/>
          <a:ext cx="6607441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949268696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-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-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44A0FF4-A038-474E-9E32-F41E75AAFD7C}"/>
              </a:ext>
            </a:extLst>
          </p:cNvPr>
          <p:cNvSpPr/>
          <p:nvPr/>
        </p:nvSpPr>
        <p:spPr>
          <a:xfrm>
            <a:off x="6533618" y="1494500"/>
            <a:ext cx="939062" cy="36772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713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47187C-7852-41C1-97BE-A384E7992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742506"/>
              </p:ext>
            </p:extLst>
          </p:nvPr>
        </p:nvGraphicFramePr>
        <p:xfrm>
          <a:off x="865239" y="1504334"/>
          <a:ext cx="6130659" cy="3677268"/>
        </p:xfrm>
        <a:graphic>
          <a:graphicData uri="http://schemas.openxmlformats.org/drawingml/2006/table">
            <a:tbl>
              <a:tblPr/>
              <a:tblGrid>
                <a:gridCol w="1541455">
                  <a:extLst>
                    <a:ext uri="{9D8B030D-6E8A-4147-A177-3AD203B41FA5}">
                      <a16:colId xmlns:a16="http://schemas.microsoft.com/office/drawing/2014/main" val="148398471"/>
                    </a:ext>
                  </a:extLst>
                </a:gridCol>
                <a:gridCol w="2205294">
                  <a:extLst>
                    <a:ext uri="{9D8B030D-6E8A-4147-A177-3AD203B41FA5}">
                      <a16:colId xmlns:a16="http://schemas.microsoft.com/office/drawing/2014/main" val="39902272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12072377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414297686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2197092359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677177231"/>
                    </a:ext>
                  </a:extLst>
                </a:gridCol>
                <a:gridCol w="476782">
                  <a:extLst>
                    <a:ext uri="{9D8B030D-6E8A-4147-A177-3AD203B41FA5}">
                      <a16:colId xmlns:a16="http://schemas.microsoft.com/office/drawing/2014/main" val="1651617306"/>
                    </a:ext>
                  </a:extLst>
                </a:gridCol>
              </a:tblGrid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Conditions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Order Value &gt; $50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554257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Small Package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-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96506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Promotion Code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N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-</a:t>
                      </a:r>
                      <a:endParaRPr lang="en-SG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Latha" panose="020B0604020202020204" pitchFamily="34" charset="0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200759"/>
                  </a:ext>
                </a:extLst>
              </a:tr>
              <a:tr h="612878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Actions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Free Delivery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087813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$1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061254"/>
                  </a:ext>
                </a:extLst>
              </a:tr>
              <a:tr h="612878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$5 Charge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 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SG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Latha" panose="020B0604020202020204" pitchFamily="34" charset="0"/>
                        </a:rPr>
                        <a:t>X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308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219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</TotalTime>
  <Words>563</Words>
  <Application>Microsoft Office PowerPoint</Application>
  <PresentationFormat>On-screen Show (4:3)</PresentationFormat>
  <Paragraphs>321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Myriad Pro</vt:lpstr>
      <vt:lpstr>Twentieth Century</vt:lpstr>
      <vt:lpstr>Aptos</vt:lpstr>
      <vt:lpstr>Arial</vt:lpstr>
      <vt:lpstr>Office Theme</vt:lpstr>
      <vt:lpstr>Why Decision Table ?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khar woh leong</dc:creator>
  <cp:lastModifiedBy>khar woh leong</cp:lastModifiedBy>
  <cp:revision>11</cp:revision>
  <dcterms:created xsi:type="dcterms:W3CDTF">2019-05-29T00:08:15Z</dcterms:created>
  <dcterms:modified xsi:type="dcterms:W3CDTF">2025-07-09T06:16:16Z</dcterms:modified>
</cp:coreProperties>
</file>